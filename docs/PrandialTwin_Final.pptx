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9" r:id="rId30"/>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17736895-25E0-B69D-24E4-DBD4AA3E0369}">
          <p14:sldIdLst>
            <p14:sldId id="256"/>
            <p14:sldId id="257"/>
            <p14:sldId id="258"/>
            <p14:sldId id="259"/>
            <p14:sldId id="260"/>
          </p14:sldIdLst>
        </p14:section>
        <p14:section name="What we built" id="{E449FAF3-319F-BC76-9ACD-9C68E98BA5BD}">
          <p14:sldIdLst>
            <p14:sldId id="261"/>
            <p14:sldId id="262"/>
            <p14:sldId id="263"/>
          </p14:sldIdLst>
        </p14:section>
        <p14:section name="How it works" id="{A50428D4-A8DC-176A-39C1-E88C124CC0F8}">
          <p14:sldIdLst>
            <p14:sldId id="264"/>
            <p14:sldId id="265"/>
            <p14:sldId id="266"/>
            <p14:sldId id="267"/>
            <p14:sldId id="268"/>
          </p14:sldIdLst>
        </p14:section>
        <p14:section name="Does it work" id="{EB336745-4937-F85C-DF6D-DECF9D9EC211}">
          <p14:sldIdLst>
            <p14:sldId id="269"/>
            <p14:sldId id="270"/>
            <p14:sldId id="271"/>
            <p14:sldId id="272"/>
            <p14:sldId id="273"/>
          </p14:sldIdLst>
        </p14:section>
        <p14:section name="Built for India" id="{40B81BA1-DEF8-A697-C11D-DBC0FE2C243A}">
          <p14:sldIdLst>
            <p14:sldId id="274"/>
            <p14:sldId id="275"/>
          </p14:sldIdLst>
        </p14:section>
        <p14:section name="Next" id="{52FDA917-B603-7EB2-B33D-397BDA09DD1D}">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8" autoAdjust="0"/>
  </p:normalViewPr>
  <p:slideViewPr>
    <p:cSldViewPr snapToGrid="0" snapToObjects="1">
      <p:cViewPr varScale="1">
        <p:scale>
          <a:sx n="78" d="100"/>
          <a:sy n="78" d="100"/>
        </p:scale>
        <p:origin x="8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F5F7FA"/>
                </a:solidFill>
                <a:latin typeface="+mn-lt"/>
              </a:defRPr>
            </a:pPr>
            <a:r>
              <a:rPr lang="en-US" sz="1400" b="1" i="0" u="none" strike="noStrike">
                <a:solidFill>
                  <a:srgbClr val="F5F7FA"/>
                </a:solidFill>
                <a:latin typeface="+mn-lt"/>
              </a:rPr>
              <a:t>One simulated South Indian day, glucose in mg/dL</a:t>
            </a:r>
          </a:p>
        </c:rich>
      </c:tx>
      <c:overlay val="0"/>
    </c:title>
    <c:autoTitleDeleted val="0"/>
    <c:plotArea>
      <c:layout/>
      <c:lineChart>
        <c:grouping val="standard"/>
        <c:varyColors val="0"/>
        <c:ser>
          <c:idx val="0"/>
          <c:order val="0"/>
          <c:tx>
            <c:strRef>
              <c:f>Sheet1!$B$1</c:f>
              <c:strCache>
                <c:ptCount val="1"/>
                <c:pt idx="0">
                  <c:v>Glucose (mg/dL)</c:v>
                </c:pt>
              </c:strCache>
            </c:strRef>
          </c:tx>
          <c:spPr>
            <a:ln w="31750" cap="flat">
              <a:solidFill>
                <a:srgbClr val="3D8BFF"/>
              </a:solidFill>
              <a:prstDash val="solid"/>
              <a:round/>
            </a:ln>
            <a:effectLst/>
          </c:spPr>
          <c:marker>
            <c:symbol val="none"/>
          </c:marker>
          <c:cat>
            <c:strRef>
              <c:f>Sheet1!$A$2:$A$97</c:f>
              <c:strCache>
                <c:ptCount val="96"/>
                <c:pt idx="0">
                  <c:v>00:00</c:v>
                </c:pt>
                <c:pt idx="1">
                  <c:v>00:15</c:v>
                </c:pt>
                <c:pt idx="2">
                  <c:v>00:30</c:v>
                </c:pt>
                <c:pt idx="3">
                  <c:v>00:45</c:v>
                </c:pt>
                <c:pt idx="4">
                  <c:v>01:00</c:v>
                </c:pt>
                <c:pt idx="5">
                  <c:v>01:15</c:v>
                </c:pt>
                <c:pt idx="6">
                  <c:v>01:30</c:v>
                </c:pt>
                <c:pt idx="7">
                  <c:v>01:45</c:v>
                </c:pt>
                <c:pt idx="8">
                  <c:v>02:00</c:v>
                </c:pt>
                <c:pt idx="9">
                  <c:v>02:15</c:v>
                </c:pt>
                <c:pt idx="10">
                  <c:v>02:30</c:v>
                </c:pt>
                <c:pt idx="11">
                  <c:v>02:45</c:v>
                </c:pt>
                <c:pt idx="12">
                  <c:v>03:00</c:v>
                </c:pt>
                <c:pt idx="13">
                  <c:v>03:15</c:v>
                </c:pt>
                <c:pt idx="14">
                  <c:v>03:30</c:v>
                </c:pt>
                <c:pt idx="15">
                  <c:v>03:45</c:v>
                </c:pt>
                <c:pt idx="16">
                  <c:v>04:00</c:v>
                </c:pt>
                <c:pt idx="17">
                  <c:v>04:15</c:v>
                </c:pt>
                <c:pt idx="18">
                  <c:v>04:30</c:v>
                </c:pt>
                <c:pt idx="19">
                  <c:v>04:45</c:v>
                </c:pt>
                <c:pt idx="20">
                  <c:v>05:00</c:v>
                </c:pt>
                <c:pt idx="21">
                  <c:v>05:15</c:v>
                </c:pt>
                <c:pt idx="22">
                  <c:v>05:30</c:v>
                </c:pt>
                <c:pt idx="23">
                  <c:v>05:45</c:v>
                </c:pt>
                <c:pt idx="24">
                  <c:v>06:00</c:v>
                </c:pt>
                <c:pt idx="25">
                  <c:v>06:15</c:v>
                </c:pt>
                <c:pt idx="26">
                  <c:v>06:30</c:v>
                </c:pt>
                <c:pt idx="27">
                  <c:v>06:45</c:v>
                </c:pt>
                <c:pt idx="28">
                  <c:v>07:00</c:v>
                </c:pt>
                <c:pt idx="29">
                  <c:v>07:15</c:v>
                </c:pt>
                <c:pt idx="30">
                  <c:v>07:30</c:v>
                </c:pt>
                <c:pt idx="31">
                  <c:v>07:45</c:v>
                </c:pt>
                <c:pt idx="32">
                  <c:v>08:00</c:v>
                </c:pt>
                <c:pt idx="33">
                  <c:v>08:15</c:v>
                </c:pt>
                <c:pt idx="34">
                  <c:v>08:30</c:v>
                </c:pt>
                <c:pt idx="35">
                  <c:v>08:45</c:v>
                </c:pt>
                <c:pt idx="36">
                  <c:v>09:00</c:v>
                </c:pt>
                <c:pt idx="37">
                  <c:v>09:15</c:v>
                </c:pt>
                <c:pt idx="38">
                  <c:v>09:30</c:v>
                </c:pt>
                <c:pt idx="39">
                  <c:v>09:45</c:v>
                </c:pt>
                <c:pt idx="40">
                  <c:v>10:00</c:v>
                </c:pt>
                <c:pt idx="41">
                  <c:v>10:15</c:v>
                </c:pt>
                <c:pt idx="42">
                  <c:v>10:30</c:v>
                </c:pt>
                <c:pt idx="43">
                  <c:v>10:45</c:v>
                </c:pt>
                <c:pt idx="44">
                  <c:v>11:00</c:v>
                </c:pt>
                <c:pt idx="45">
                  <c:v>11:15</c:v>
                </c:pt>
                <c:pt idx="46">
                  <c:v>11:30</c:v>
                </c:pt>
                <c:pt idx="47">
                  <c:v>11:45</c:v>
                </c:pt>
                <c:pt idx="48">
                  <c:v>12:00</c:v>
                </c:pt>
                <c:pt idx="49">
                  <c:v>12:15</c:v>
                </c:pt>
                <c:pt idx="50">
                  <c:v>12:30</c:v>
                </c:pt>
                <c:pt idx="51">
                  <c:v>12:45</c:v>
                </c:pt>
                <c:pt idx="52">
                  <c:v>13:00</c:v>
                </c:pt>
                <c:pt idx="53">
                  <c:v>13:15</c:v>
                </c:pt>
                <c:pt idx="54">
                  <c:v>13:30</c:v>
                </c:pt>
                <c:pt idx="55">
                  <c:v>13:45</c:v>
                </c:pt>
                <c:pt idx="56">
                  <c:v>14:00</c:v>
                </c:pt>
                <c:pt idx="57">
                  <c:v>14:15</c:v>
                </c:pt>
                <c:pt idx="58">
                  <c:v>14:30</c:v>
                </c:pt>
                <c:pt idx="59">
                  <c:v>14:45</c:v>
                </c:pt>
                <c:pt idx="60">
                  <c:v>15:00</c:v>
                </c:pt>
                <c:pt idx="61">
                  <c:v>15:15</c:v>
                </c:pt>
                <c:pt idx="62">
                  <c:v>15:30</c:v>
                </c:pt>
                <c:pt idx="63">
                  <c:v>15:45</c:v>
                </c:pt>
                <c:pt idx="64">
                  <c:v>16:00</c:v>
                </c:pt>
                <c:pt idx="65">
                  <c:v>16:15</c:v>
                </c:pt>
                <c:pt idx="66">
                  <c:v>16:30</c:v>
                </c:pt>
                <c:pt idx="67">
                  <c:v>16:45</c:v>
                </c:pt>
                <c:pt idx="68">
                  <c:v>17:00</c:v>
                </c:pt>
                <c:pt idx="69">
                  <c:v>17:15</c:v>
                </c:pt>
                <c:pt idx="70">
                  <c:v>17:30</c:v>
                </c:pt>
                <c:pt idx="71">
                  <c:v>17:45</c:v>
                </c:pt>
                <c:pt idx="72">
                  <c:v>18:00</c:v>
                </c:pt>
                <c:pt idx="73">
                  <c:v>18:15</c:v>
                </c:pt>
                <c:pt idx="74">
                  <c:v>18:30</c:v>
                </c:pt>
                <c:pt idx="75">
                  <c:v>18:45</c:v>
                </c:pt>
                <c:pt idx="76">
                  <c:v>19:00</c:v>
                </c:pt>
                <c:pt idx="77">
                  <c:v>19:15</c:v>
                </c:pt>
                <c:pt idx="78">
                  <c:v>19:30</c:v>
                </c:pt>
                <c:pt idx="79">
                  <c:v>19:45</c:v>
                </c:pt>
                <c:pt idx="80">
                  <c:v>20:00</c:v>
                </c:pt>
                <c:pt idx="81">
                  <c:v>20:15</c:v>
                </c:pt>
                <c:pt idx="82">
                  <c:v>20:30</c:v>
                </c:pt>
                <c:pt idx="83">
                  <c:v>20:45</c:v>
                </c:pt>
                <c:pt idx="84">
                  <c:v>21:00</c:v>
                </c:pt>
                <c:pt idx="85">
                  <c:v>21:15</c:v>
                </c:pt>
                <c:pt idx="86">
                  <c:v>21:30</c:v>
                </c:pt>
                <c:pt idx="87">
                  <c:v>21:45</c:v>
                </c:pt>
                <c:pt idx="88">
                  <c:v>22:00</c:v>
                </c:pt>
                <c:pt idx="89">
                  <c:v>22:15</c:v>
                </c:pt>
                <c:pt idx="90">
                  <c:v>22:30</c:v>
                </c:pt>
                <c:pt idx="91">
                  <c:v>22:45</c:v>
                </c:pt>
                <c:pt idx="92">
                  <c:v>23:00</c:v>
                </c:pt>
                <c:pt idx="93">
                  <c:v>23:15</c:v>
                </c:pt>
                <c:pt idx="94">
                  <c:v>23:30</c:v>
                </c:pt>
                <c:pt idx="95">
                  <c:v>23:45</c:v>
                </c:pt>
              </c:strCache>
            </c:strRef>
          </c:cat>
          <c:val>
            <c:numRef>
              <c:f>Sheet1!$B$2:$B$97</c:f>
              <c:numCache>
                <c:formatCode>General</c:formatCode>
                <c:ptCount val="96"/>
                <c:pt idx="0">
                  <c:v>133.1</c:v>
                </c:pt>
                <c:pt idx="1">
                  <c:v>121.9</c:v>
                </c:pt>
                <c:pt idx="2">
                  <c:v>117.5</c:v>
                </c:pt>
                <c:pt idx="3">
                  <c:v>113.6</c:v>
                </c:pt>
                <c:pt idx="4">
                  <c:v>110.2</c:v>
                </c:pt>
                <c:pt idx="5">
                  <c:v>111.2</c:v>
                </c:pt>
                <c:pt idx="6">
                  <c:v>108.2</c:v>
                </c:pt>
                <c:pt idx="7">
                  <c:v>104.5</c:v>
                </c:pt>
                <c:pt idx="8">
                  <c:v>105.2</c:v>
                </c:pt>
                <c:pt idx="9">
                  <c:v>104.7</c:v>
                </c:pt>
                <c:pt idx="10">
                  <c:v>102.6</c:v>
                </c:pt>
                <c:pt idx="11">
                  <c:v>107.4</c:v>
                </c:pt>
                <c:pt idx="12">
                  <c:v>112.1</c:v>
                </c:pt>
                <c:pt idx="13">
                  <c:v>113.6</c:v>
                </c:pt>
                <c:pt idx="14">
                  <c:v>109.5</c:v>
                </c:pt>
                <c:pt idx="15">
                  <c:v>105.9</c:v>
                </c:pt>
                <c:pt idx="16">
                  <c:v>110</c:v>
                </c:pt>
                <c:pt idx="17">
                  <c:v>113.2</c:v>
                </c:pt>
                <c:pt idx="18">
                  <c:v>112</c:v>
                </c:pt>
                <c:pt idx="19">
                  <c:v>112.3</c:v>
                </c:pt>
                <c:pt idx="20">
                  <c:v>114.6</c:v>
                </c:pt>
                <c:pt idx="21">
                  <c:v>114.1</c:v>
                </c:pt>
                <c:pt idx="22">
                  <c:v>111.5</c:v>
                </c:pt>
                <c:pt idx="23">
                  <c:v>115.7</c:v>
                </c:pt>
                <c:pt idx="24">
                  <c:v>118.4</c:v>
                </c:pt>
                <c:pt idx="25">
                  <c:v>118.5</c:v>
                </c:pt>
                <c:pt idx="26">
                  <c:v>117.5</c:v>
                </c:pt>
                <c:pt idx="27">
                  <c:v>114.8</c:v>
                </c:pt>
                <c:pt idx="28">
                  <c:v>111.4</c:v>
                </c:pt>
                <c:pt idx="29">
                  <c:v>116.6</c:v>
                </c:pt>
                <c:pt idx="30">
                  <c:v>112.6</c:v>
                </c:pt>
                <c:pt idx="31">
                  <c:v>112.1</c:v>
                </c:pt>
                <c:pt idx="32">
                  <c:v>112.8</c:v>
                </c:pt>
                <c:pt idx="33">
                  <c:v>115.4</c:v>
                </c:pt>
                <c:pt idx="34">
                  <c:v>118.4</c:v>
                </c:pt>
                <c:pt idx="35">
                  <c:v>138.9</c:v>
                </c:pt>
                <c:pt idx="36">
                  <c:v>159.6</c:v>
                </c:pt>
                <c:pt idx="37">
                  <c:v>173.7</c:v>
                </c:pt>
                <c:pt idx="38">
                  <c:v>169.5</c:v>
                </c:pt>
                <c:pt idx="39">
                  <c:v>153.4</c:v>
                </c:pt>
                <c:pt idx="40">
                  <c:v>140.9</c:v>
                </c:pt>
                <c:pt idx="41">
                  <c:v>129.19999999999999</c:v>
                </c:pt>
                <c:pt idx="42">
                  <c:v>116</c:v>
                </c:pt>
                <c:pt idx="43">
                  <c:v>112.2</c:v>
                </c:pt>
                <c:pt idx="44">
                  <c:v>110.6</c:v>
                </c:pt>
                <c:pt idx="45">
                  <c:v>112</c:v>
                </c:pt>
                <c:pt idx="46">
                  <c:v>109.7</c:v>
                </c:pt>
                <c:pt idx="47">
                  <c:v>110.4</c:v>
                </c:pt>
                <c:pt idx="48">
                  <c:v>110.4</c:v>
                </c:pt>
                <c:pt idx="49">
                  <c:v>114.5</c:v>
                </c:pt>
                <c:pt idx="50">
                  <c:v>150.30000000000001</c:v>
                </c:pt>
                <c:pt idx="51">
                  <c:v>190.4</c:v>
                </c:pt>
                <c:pt idx="52">
                  <c:v>213.4</c:v>
                </c:pt>
                <c:pt idx="53">
                  <c:v>216.6</c:v>
                </c:pt>
                <c:pt idx="54">
                  <c:v>204</c:v>
                </c:pt>
                <c:pt idx="55">
                  <c:v>176.6</c:v>
                </c:pt>
                <c:pt idx="56">
                  <c:v>145.5</c:v>
                </c:pt>
                <c:pt idx="57">
                  <c:v>126.3</c:v>
                </c:pt>
                <c:pt idx="58">
                  <c:v>114.1</c:v>
                </c:pt>
                <c:pt idx="59">
                  <c:v>109.4</c:v>
                </c:pt>
                <c:pt idx="60">
                  <c:v>108.5</c:v>
                </c:pt>
                <c:pt idx="61">
                  <c:v>104.1</c:v>
                </c:pt>
                <c:pt idx="62">
                  <c:v>102.6</c:v>
                </c:pt>
                <c:pt idx="63">
                  <c:v>104.5</c:v>
                </c:pt>
                <c:pt idx="64">
                  <c:v>104.3</c:v>
                </c:pt>
                <c:pt idx="65">
                  <c:v>105.1</c:v>
                </c:pt>
                <c:pt idx="66">
                  <c:v>104.2</c:v>
                </c:pt>
                <c:pt idx="67">
                  <c:v>111.1</c:v>
                </c:pt>
                <c:pt idx="68">
                  <c:v>112.2</c:v>
                </c:pt>
                <c:pt idx="69">
                  <c:v>110.4</c:v>
                </c:pt>
                <c:pt idx="70">
                  <c:v>114.3</c:v>
                </c:pt>
                <c:pt idx="71">
                  <c:v>123.2</c:v>
                </c:pt>
                <c:pt idx="72">
                  <c:v>127.5</c:v>
                </c:pt>
                <c:pt idx="73">
                  <c:v>135.4</c:v>
                </c:pt>
                <c:pt idx="74">
                  <c:v>131.80000000000001</c:v>
                </c:pt>
                <c:pt idx="75">
                  <c:v>136.6</c:v>
                </c:pt>
                <c:pt idx="76">
                  <c:v>129.4</c:v>
                </c:pt>
                <c:pt idx="77">
                  <c:v>124.5</c:v>
                </c:pt>
                <c:pt idx="78">
                  <c:v>121.4</c:v>
                </c:pt>
                <c:pt idx="79">
                  <c:v>120.5</c:v>
                </c:pt>
                <c:pt idx="80">
                  <c:v>116.3</c:v>
                </c:pt>
                <c:pt idx="81">
                  <c:v>120.2</c:v>
                </c:pt>
                <c:pt idx="82">
                  <c:v>113.7</c:v>
                </c:pt>
                <c:pt idx="83">
                  <c:v>113.8</c:v>
                </c:pt>
                <c:pt idx="84">
                  <c:v>117.5</c:v>
                </c:pt>
                <c:pt idx="85">
                  <c:v>124.2</c:v>
                </c:pt>
                <c:pt idx="86">
                  <c:v>155.6</c:v>
                </c:pt>
                <c:pt idx="87">
                  <c:v>191.8</c:v>
                </c:pt>
                <c:pt idx="88">
                  <c:v>216.1</c:v>
                </c:pt>
                <c:pt idx="89">
                  <c:v>216.9</c:v>
                </c:pt>
                <c:pt idx="90">
                  <c:v>206.7</c:v>
                </c:pt>
                <c:pt idx="91">
                  <c:v>187</c:v>
                </c:pt>
                <c:pt idx="92">
                  <c:v>163.9</c:v>
                </c:pt>
                <c:pt idx="93">
                  <c:v>144</c:v>
                </c:pt>
                <c:pt idx="94">
                  <c:v>126.5</c:v>
                </c:pt>
                <c:pt idx="95">
                  <c:v>110.7</c:v>
                </c:pt>
              </c:numCache>
            </c:numRef>
          </c:val>
          <c:smooth val="0"/>
          <c:extLst>
            <c:ext xmlns:c16="http://schemas.microsoft.com/office/drawing/2014/chart" uri="{C3380CC4-5D6E-409C-BE32-E72D297353CC}">
              <c16:uniqueId val="{00000000-8D04-4EA9-9EB6-7C2E44F74018}"/>
            </c:ext>
          </c:extLst>
        </c:ser>
        <c:ser>
          <c:idx val="1"/>
          <c:order val="1"/>
          <c:tx>
            <c:strRef>
              <c:f>Sheet1!$C$1</c:f>
              <c:strCache>
                <c:ptCount val="1"/>
                <c:pt idx="0">
                  <c:v>180 mg/dL</c:v>
                </c:pt>
              </c:strCache>
            </c:strRef>
          </c:tx>
          <c:spPr>
            <a:ln w="31750" cap="flat">
              <a:solidFill>
                <a:srgbClr val="F5A623"/>
              </a:solidFill>
              <a:prstDash val="solid"/>
              <a:round/>
            </a:ln>
            <a:effectLst/>
          </c:spPr>
          <c:marker>
            <c:symbol val="none"/>
          </c:marker>
          <c:cat>
            <c:strRef>
              <c:f>Sheet1!$A$2:$A$97</c:f>
              <c:strCache>
                <c:ptCount val="96"/>
                <c:pt idx="0">
                  <c:v>00:00</c:v>
                </c:pt>
                <c:pt idx="1">
                  <c:v>00:15</c:v>
                </c:pt>
                <c:pt idx="2">
                  <c:v>00:30</c:v>
                </c:pt>
                <c:pt idx="3">
                  <c:v>00:45</c:v>
                </c:pt>
                <c:pt idx="4">
                  <c:v>01:00</c:v>
                </c:pt>
                <c:pt idx="5">
                  <c:v>01:15</c:v>
                </c:pt>
                <c:pt idx="6">
                  <c:v>01:30</c:v>
                </c:pt>
                <c:pt idx="7">
                  <c:v>01:45</c:v>
                </c:pt>
                <c:pt idx="8">
                  <c:v>02:00</c:v>
                </c:pt>
                <c:pt idx="9">
                  <c:v>02:15</c:v>
                </c:pt>
                <c:pt idx="10">
                  <c:v>02:30</c:v>
                </c:pt>
                <c:pt idx="11">
                  <c:v>02:45</c:v>
                </c:pt>
                <c:pt idx="12">
                  <c:v>03:00</c:v>
                </c:pt>
                <c:pt idx="13">
                  <c:v>03:15</c:v>
                </c:pt>
                <c:pt idx="14">
                  <c:v>03:30</c:v>
                </c:pt>
                <c:pt idx="15">
                  <c:v>03:45</c:v>
                </c:pt>
                <c:pt idx="16">
                  <c:v>04:00</c:v>
                </c:pt>
                <c:pt idx="17">
                  <c:v>04:15</c:v>
                </c:pt>
                <c:pt idx="18">
                  <c:v>04:30</c:v>
                </c:pt>
                <c:pt idx="19">
                  <c:v>04:45</c:v>
                </c:pt>
                <c:pt idx="20">
                  <c:v>05:00</c:v>
                </c:pt>
                <c:pt idx="21">
                  <c:v>05:15</c:v>
                </c:pt>
                <c:pt idx="22">
                  <c:v>05:30</c:v>
                </c:pt>
                <c:pt idx="23">
                  <c:v>05:45</c:v>
                </c:pt>
                <c:pt idx="24">
                  <c:v>06:00</c:v>
                </c:pt>
                <c:pt idx="25">
                  <c:v>06:15</c:v>
                </c:pt>
                <c:pt idx="26">
                  <c:v>06:30</c:v>
                </c:pt>
                <c:pt idx="27">
                  <c:v>06:45</c:v>
                </c:pt>
                <c:pt idx="28">
                  <c:v>07:00</c:v>
                </c:pt>
                <c:pt idx="29">
                  <c:v>07:15</c:v>
                </c:pt>
                <c:pt idx="30">
                  <c:v>07:30</c:v>
                </c:pt>
                <c:pt idx="31">
                  <c:v>07:45</c:v>
                </c:pt>
                <c:pt idx="32">
                  <c:v>08:00</c:v>
                </c:pt>
                <c:pt idx="33">
                  <c:v>08:15</c:v>
                </c:pt>
                <c:pt idx="34">
                  <c:v>08:30</c:v>
                </c:pt>
                <c:pt idx="35">
                  <c:v>08:45</c:v>
                </c:pt>
                <c:pt idx="36">
                  <c:v>09:00</c:v>
                </c:pt>
                <c:pt idx="37">
                  <c:v>09:15</c:v>
                </c:pt>
                <c:pt idx="38">
                  <c:v>09:30</c:v>
                </c:pt>
                <c:pt idx="39">
                  <c:v>09:45</c:v>
                </c:pt>
                <c:pt idx="40">
                  <c:v>10:00</c:v>
                </c:pt>
                <c:pt idx="41">
                  <c:v>10:15</c:v>
                </c:pt>
                <c:pt idx="42">
                  <c:v>10:30</c:v>
                </c:pt>
                <c:pt idx="43">
                  <c:v>10:45</c:v>
                </c:pt>
                <c:pt idx="44">
                  <c:v>11:00</c:v>
                </c:pt>
                <c:pt idx="45">
                  <c:v>11:15</c:v>
                </c:pt>
                <c:pt idx="46">
                  <c:v>11:30</c:v>
                </c:pt>
                <c:pt idx="47">
                  <c:v>11:45</c:v>
                </c:pt>
                <c:pt idx="48">
                  <c:v>12:00</c:v>
                </c:pt>
                <c:pt idx="49">
                  <c:v>12:15</c:v>
                </c:pt>
                <c:pt idx="50">
                  <c:v>12:30</c:v>
                </c:pt>
                <c:pt idx="51">
                  <c:v>12:45</c:v>
                </c:pt>
                <c:pt idx="52">
                  <c:v>13:00</c:v>
                </c:pt>
                <c:pt idx="53">
                  <c:v>13:15</c:v>
                </c:pt>
                <c:pt idx="54">
                  <c:v>13:30</c:v>
                </c:pt>
                <c:pt idx="55">
                  <c:v>13:45</c:v>
                </c:pt>
                <c:pt idx="56">
                  <c:v>14:00</c:v>
                </c:pt>
                <c:pt idx="57">
                  <c:v>14:15</c:v>
                </c:pt>
                <c:pt idx="58">
                  <c:v>14:30</c:v>
                </c:pt>
                <c:pt idx="59">
                  <c:v>14:45</c:v>
                </c:pt>
                <c:pt idx="60">
                  <c:v>15:00</c:v>
                </c:pt>
                <c:pt idx="61">
                  <c:v>15:15</c:v>
                </c:pt>
                <c:pt idx="62">
                  <c:v>15:30</c:v>
                </c:pt>
                <c:pt idx="63">
                  <c:v>15:45</c:v>
                </c:pt>
                <c:pt idx="64">
                  <c:v>16:00</c:v>
                </c:pt>
                <c:pt idx="65">
                  <c:v>16:15</c:v>
                </c:pt>
                <c:pt idx="66">
                  <c:v>16:30</c:v>
                </c:pt>
                <c:pt idx="67">
                  <c:v>16:45</c:v>
                </c:pt>
                <c:pt idx="68">
                  <c:v>17:00</c:v>
                </c:pt>
                <c:pt idx="69">
                  <c:v>17:15</c:v>
                </c:pt>
                <c:pt idx="70">
                  <c:v>17:30</c:v>
                </c:pt>
                <c:pt idx="71">
                  <c:v>17:45</c:v>
                </c:pt>
                <c:pt idx="72">
                  <c:v>18:00</c:v>
                </c:pt>
                <c:pt idx="73">
                  <c:v>18:15</c:v>
                </c:pt>
                <c:pt idx="74">
                  <c:v>18:30</c:v>
                </c:pt>
                <c:pt idx="75">
                  <c:v>18:45</c:v>
                </c:pt>
                <c:pt idx="76">
                  <c:v>19:00</c:v>
                </c:pt>
                <c:pt idx="77">
                  <c:v>19:15</c:v>
                </c:pt>
                <c:pt idx="78">
                  <c:v>19:30</c:v>
                </c:pt>
                <c:pt idx="79">
                  <c:v>19:45</c:v>
                </c:pt>
                <c:pt idx="80">
                  <c:v>20:00</c:v>
                </c:pt>
                <c:pt idx="81">
                  <c:v>20:15</c:v>
                </c:pt>
                <c:pt idx="82">
                  <c:v>20:30</c:v>
                </c:pt>
                <c:pt idx="83">
                  <c:v>20:45</c:v>
                </c:pt>
                <c:pt idx="84">
                  <c:v>21:00</c:v>
                </c:pt>
                <c:pt idx="85">
                  <c:v>21:15</c:v>
                </c:pt>
                <c:pt idx="86">
                  <c:v>21:30</c:v>
                </c:pt>
                <c:pt idx="87">
                  <c:v>21:45</c:v>
                </c:pt>
                <c:pt idx="88">
                  <c:v>22:00</c:v>
                </c:pt>
                <c:pt idx="89">
                  <c:v>22:15</c:v>
                </c:pt>
                <c:pt idx="90">
                  <c:v>22:30</c:v>
                </c:pt>
                <c:pt idx="91">
                  <c:v>22:45</c:v>
                </c:pt>
                <c:pt idx="92">
                  <c:v>23:00</c:v>
                </c:pt>
                <c:pt idx="93">
                  <c:v>23:15</c:v>
                </c:pt>
                <c:pt idx="94">
                  <c:v>23:30</c:v>
                </c:pt>
                <c:pt idx="95">
                  <c:v>23:45</c:v>
                </c:pt>
              </c:strCache>
            </c:strRef>
          </c:cat>
          <c:val>
            <c:numRef>
              <c:f>Sheet1!$C$2:$C$97</c:f>
              <c:numCache>
                <c:formatCode>General</c:formatCode>
                <c:ptCount val="96"/>
                <c:pt idx="0">
                  <c:v>180</c:v>
                </c:pt>
                <c:pt idx="1">
                  <c:v>180</c:v>
                </c:pt>
                <c:pt idx="2">
                  <c:v>180</c:v>
                </c:pt>
                <c:pt idx="3">
                  <c:v>180</c:v>
                </c:pt>
                <c:pt idx="4">
                  <c:v>180</c:v>
                </c:pt>
                <c:pt idx="5">
                  <c:v>180</c:v>
                </c:pt>
                <c:pt idx="6">
                  <c:v>180</c:v>
                </c:pt>
                <c:pt idx="7">
                  <c:v>180</c:v>
                </c:pt>
                <c:pt idx="8">
                  <c:v>180</c:v>
                </c:pt>
                <c:pt idx="9">
                  <c:v>180</c:v>
                </c:pt>
                <c:pt idx="10">
                  <c:v>180</c:v>
                </c:pt>
                <c:pt idx="11">
                  <c:v>180</c:v>
                </c:pt>
                <c:pt idx="12">
                  <c:v>180</c:v>
                </c:pt>
                <c:pt idx="13">
                  <c:v>180</c:v>
                </c:pt>
                <c:pt idx="14">
                  <c:v>180</c:v>
                </c:pt>
                <c:pt idx="15">
                  <c:v>180</c:v>
                </c:pt>
                <c:pt idx="16">
                  <c:v>180</c:v>
                </c:pt>
                <c:pt idx="17">
                  <c:v>180</c:v>
                </c:pt>
                <c:pt idx="18">
                  <c:v>180</c:v>
                </c:pt>
                <c:pt idx="19">
                  <c:v>180</c:v>
                </c:pt>
                <c:pt idx="20">
                  <c:v>180</c:v>
                </c:pt>
                <c:pt idx="21">
                  <c:v>180</c:v>
                </c:pt>
                <c:pt idx="22">
                  <c:v>180</c:v>
                </c:pt>
                <c:pt idx="23">
                  <c:v>180</c:v>
                </c:pt>
                <c:pt idx="24">
                  <c:v>180</c:v>
                </c:pt>
                <c:pt idx="25">
                  <c:v>180</c:v>
                </c:pt>
                <c:pt idx="26">
                  <c:v>180</c:v>
                </c:pt>
                <c:pt idx="27">
                  <c:v>180</c:v>
                </c:pt>
                <c:pt idx="28">
                  <c:v>180</c:v>
                </c:pt>
                <c:pt idx="29">
                  <c:v>180</c:v>
                </c:pt>
                <c:pt idx="30">
                  <c:v>180</c:v>
                </c:pt>
                <c:pt idx="31">
                  <c:v>180</c:v>
                </c:pt>
                <c:pt idx="32">
                  <c:v>180</c:v>
                </c:pt>
                <c:pt idx="33">
                  <c:v>180</c:v>
                </c:pt>
                <c:pt idx="34">
                  <c:v>180</c:v>
                </c:pt>
                <c:pt idx="35">
                  <c:v>180</c:v>
                </c:pt>
                <c:pt idx="36">
                  <c:v>180</c:v>
                </c:pt>
                <c:pt idx="37">
                  <c:v>180</c:v>
                </c:pt>
                <c:pt idx="38">
                  <c:v>180</c:v>
                </c:pt>
                <c:pt idx="39">
                  <c:v>180</c:v>
                </c:pt>
                <c:pt idx="40">
                  <c:v>180</c:v>
                </c:pt>
                <c:pt idx="41">
                  <c:v>180</c:v>
                </c:pt>
                <c:pt idx="42">
                  <c:v>180</c:v>
                </c:pt>
                <c:pt idx="43">
                  <c:v>180</c:v>
                </c:pt>
                <c:pt idx="44">
                  <c:v>180</c:v>
                </c:pt>
                <c:pt idx="45">
                  <c:v>180</c:v>
                </c:pt>
                <c:pt idx="46">
                  <c:v>180</c:v>
                </c:pt>
                <c:pt idx="47">
                  <c:v>180</c:v>
                </c:pt>
                <c:pt idx="48">
                  <c:v>180</c:v>
                </c:pt>
                <c:pt idx="49">
                  <c:v>180</c:v>
                </c:pt>
                <c:pt idx="50">
                  <c:v>180</c:v>
                </c:pt>
                <c:pt idx="51">
                  <c:v>180</c:v>
                </c:pt>
                <c:pt idx="52">
                  <c:v>180</c:v>
                </c:pt>
                <c:pt idx="53">
                  <c:v>180</c:v>
                </c:pt>
                <c:pt idx="54">
                  <c:v>180</c:v>
                </c:pt>
                <c:pt idx="55">
                  <c:v>180</c:v>
                </c:pt>
                <c:pt idx="56">
                  <c:v>180</c:v>
                </c:pt>
                <c:pt idx="57">
                  <c:v>180</c:v>
                </c:pt>
                <c:pt idx="58">
                  <c:v>180</c:v>
                </c:pt>
                <c:pt idx="59">
                  <c:v>180</c:v>
                </c:pt>
                <c:pt idx="60">
                  <c:v>180</c:v>
                </c:pt>
                <c:pt idx="61">
                  <c:v>180</c:v>
                </c:pt>
                <c:pt idx="62">
                  <c:v>180</c:v>
                </c:pt>
                <c:pt idx="63">
                  <c:v>180</c:v>
                </c:pt>
                <c:pt idx="64">
                  <c:v>180</c:v>
                </c:pt>
                <c:pt idx="65">
                  <c:v>180</c:v>
                </c:pt>
                <c:pt idx="66">
                  <c:v>180</c:v>
                </c:pt>
                <c:pt idx="67">
                  <c:v>180</c:v>
                </c:pt>
                <c:pt idx="68">
                  <c:v>180</c:v>
                </c:pt>
                <c:pt idx="69">
                  <c:v>180</c:v>
                </c:pt>
                <c:pt idx="70">
                  <c:v>180</c:v>
                </c:pt>
                <c:pt idx="71">
                  <c:v>180</c:v>
                </c:pt>
                <c:pt idx="72">
                  <c:v>180</c:v>
                </c:pt>
                <c:pt idx="73">
                  <c:v>180</c:v>
                </c:pt>
                <c:pt idx="74">
                  <c:v>180</c:v>
                </c:pt>
                <c:pt idx="75">
                  <c:v>180</c:v>
                </c:pt>
                <c:pt idx="76">
                  <c:v>180</c:v>
                </c:pt>
                <c:pt idx="77">
                  <c:v>180</c:v>
                </c:pt>
                <c:pt idx="78">
                  <c:v>180</c:v>
                </c:pt>
                <c:pt idx="79">
                  <c:v>180</c:v>
                </c:pt>
                <c:pt idx="80">
                  <c:v>180</c:v>
                </c:pt>
                <c:pt idx="81">
                  <c:v>180</c:v>
                </c:pt>
                <c:pt idx="82">
                  <c:v>180</c:v>
                </c:pt>
                <c:pt idx="83">
                  <c:v>180</c:v>
                </c:pt>
                <c:pt idx="84">
                  <c:v>180</c:v>
                </c:pt>
                <c:pt idx="85">
                  <c:v>180</c:v>
                </c:pt>
                <c:pt idx="86">
                  <c:v>180</c:v>
                </c:pt>
                <c:pt idx="87">
                  <c:v>180</c:v>
                </c:pt>
                <c:pt idx="88">
                  <c:v>180</c:v>
                </c:pt>
                <c:pt idx="89">
                  <c:v>180</c:v>
                </c:pt>
                <c:pt idx="90">
                  <c:v>180</c:v>
                </c:pt>
                <c:pt idx="91">
                  <c:v>180</c:v>
                </c:pt>
                <c:pt idx="92">
                  <c:v>180</c:v>
                </c:pt>
                <c:pt idx="93">
                  <c:v>180</c:v>
                </c:pt>
                <c:pt idx="94">
                  <c:v>180</c:v>
                </c:pt>
                <c:pt idx="95">
                  <c:v>180</c:v>
                </c:pt>
              </c:numCache>
            </c:numRef>
          </c:val>
          <c:smooth val="0"/>
          <c:extLst>
            <c:ext xmlns:c16="http://schemas.microsoft.com/office/drawing/2014/chart" uri="{C3380CC4-5D6E-409C-BE32-E72D297353CC}">
              <c16:uniqueId val="{00000001-8D04-4EA9-9EB6-7C2E44F74018}"/>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B7C0CC"/>
                </a:solidFill>
                <a:latin typeface="+mn-lt"/>
              </a:defRPr>
            </a:pPr>
            <a:endParaRPr lang="en-US"/>
          </a:p>
        </c:txPr>
        <c:crossAx val="2094734552"/>
        <c:crosses val="autoZero"/>
        <c:auto val="1"/>
        <c:lblAlgn val="ctr"/>
        <c:lblOffset val="100"/>
        <c:tickLblSkip val="16"/>
        <c:noMultiLvlLbl val="1"/>
      </c:catAx>
      <c:valAx>
        <c:axId val="2094734552"/>
        <c:scaling>
          <c:orientation val="minMax"/>
          <c:max val="240"/>
          <c:min val="60"/>
        </c:scaling>
        <c:delete val="0"/>
        <c:axPos val="l"/>
        <c:majorGridlines>
          <c:spPr>
            <a:ln w="9525" cap="flat">
              <a:solidFill>
                <a:srgbClr val="2A303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B7C0CC"/>
                </a:solidFill>
                <a:latin typeface="+mn-lt"/>
              </a:defRPr>
            </a:pPr>
            <a:endParaRPr lang="en-US"/>
          </a:p>
        </c:txPr>
        <c:crossAx val="2094734554"/>
        <c:crosses val="autoZero"/>
        <c:crossBetween val="between"/>
        <c:majorUnit val="60"/>
      </c:valAx>
      <c:spPr>
        <a:solidFill>
          <a:srgbClr val="000000">
            <a:alpha val="0"/>
          </a:srgbClr>
        </a:solidFill>
        <a:ln>
          <a:noFill/>
        </a:ln>
        <a:effectLst/>
      </c:spPr>
    </c:plotArea>
    <c:legend>
      <c:legendPos val="b"/>
      <c:overlay val="0"/>
      <c:txPr>
        <a:bodyPr/>
        <a:lstStyle/>
        <a:p>
          <a:pPr>
            <a:defRPr sz="1200">
              <a:solidFill>
                <a:srgbClr val="B7C0CC"/>
              </a:solidFill>
              <a:latin typeface="+mn-lt"/>
              <a:cs typeface="+mn-lt"/>
            </a:defRPr>
          </a:pPr>
          <a:endParaRPr lang="en-US"/>
        </a:p>
      </c:txPr>
    </c:legend>
    <c:plotVisOnly val="1"/>
    <c:dispBlanksAs val="span"/>
    <c:showDLblsOverMax val="1"/>
  </c:chart>
  <c:spPr>
    <a:solidFill>
      <a:srgbClr val="000000">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F5F7FA"/>
                </a:solidFill>
                <a:latin typeface="+mn-lt"/>
              </a:defRPr>
            </a:pPr>
            <a:r>
              <a:rPr sz="1400" b="1" i="0" u="none" strike="noStrike">
                <a:solidFill>
                  <a:srgbClr val="F5F7FA"/>
                </a:solidFill>
                <a:latin typeface="+mn-lt"/>
              </a:rPr>
              <a:t>Twin averaged with each partner: 60-min error at home</a:t>
            </a:r>
          </a:p>
        </c:rich>
      </c:tx>
      <c:overlay val="0"/>
    </c:title>
    <c:autoTitleDeleted val="0"/>
    <c:plotArea>
      <c:layout/>
      <c:barChart>
        <c:barDir val="bar"/>
        <c:grouping val="clustered"/>
        <c:varyColors val="0"/>
        <c:ser>
          <c:idx val="0"/>
          <c:order val="0"/>
          <c:tx>
            <c:strRef>
              <c:f>Sheet1!$B$1</c:f>
              <c:strCache>
                <c:ptCount val="1"/>
                <c:pt idx="0">
                  <c:v>Averaged with the twin</c:v>
                </c:pt>
              </c:strCache>
            </c:strRef>
          </c:tx>
          <c:spPr>
            <a:solidFill>
              <a:srgbClr val="2ECC8F"/>
            </a:solidFill>
            <a:effectLst/>
          </c:spPr>
          <c:invertIfNegative val="0"/>
          <c:dPt>
            <c:idx val="0"/>
            <c:invertIfNegative val="0"/>
            <c:bubble3D val="0"/>
            <c:extLst>
              <c:ext xmlns:c16="http://schemas.microsoft.com/office/drawing/2014/chart" uri="{C3380CC4-5D6E-409C-BE32-E72D297353CC}">
                <c16:uniqueId val="{00000001-EDB9-496B-8931-97A061EC6696}"/>
              </c:ext>
            </c:extLst>
          </c:dPt>
          <c:dPt>
            <c:idx val="1"/>
            <c:invertIfNegative val="0"/>
            <c:bubble3D val="0"/>
            <c:spPr>
              <a:solidFill>
                <a:srgbClr val="6B7480"/>
              </a:solidFill>
              <a:effectLst/>
            </c:spPr>
            <c:extLst>
              <c:ext xmlns:c16="http://schemas.microsoft.com/office/drawing/2014/chart" uri="{C3380CC4-5D6E-409C-BE32-E72D297353CC}">
                <c16:uniqueId val="{00000003-EDB9-496B-8931-97A061EC6696}"/>
              </c:ext>
            </c:extLst>
          </c:dPt>
          <c:dPt>
            <c:idx val="2"/>
            <c:invertIfNegative val="0"/>
            <c:bubble3D val="0"/>
            <c:spPr>
              <a:solidFill>
                <a:srgbClr val="6B7480"/>
              </a:solidFill>
              <a:effectLst/>
            </c:spPr>
            <c:extLst>
              <c:ext xmlns:c16="http://schemas.microsoft.com/office/drawing/2014/chart" uri="{C3380CC4-5D6E-409C-BE32-E72D297353CC}">
                <c16:uniqueId val="{00000005-EDB9-496B-8931-97A061EC6696}"/>
              </c:ext>
            </c:extLst>
          </c:dPt>
          <c:dPt>
            <c:idx val="3"/>
            <c:invertIfNegative val="0"/>
            <c:bubble3D val="0"/>
            <c:spPr>
              <a:solidFill>
                <a:srgbClr val="6B7480"/>
              </a:solidFill>
              <a:effectLst/>
            </c:spPr>
            <c:extLst>
              <c:ext xmlns:c16="http://schemas.microsoft.com/office/drawing/2014/chart" uri="{C3380CC4-5D6E-409C-BE32-E72D297353CC}">
                <c16:uniqueId val="{00000007-EDB9-496B-8931-97A061EC6696}"/>
              </c:ext>
            </c:extLst>
          </c:dPt>
          <c:dLbls>
            <c:numFmt formatCode="0.0" sourceLinked="0"/>
            <c:spPr>
              <a:noFill/>
              <a:ln>
                <a:noFill/>
              </a:ln>
              <a:effectLst/>
            </c:spPr>
            <c:txPr>
              <a:bodyPr/>
              <a:lstStyle/>
              <a:p>
                <a:pPr>
                  <a:defRPr sz="1200" b="0" i="0" u="none" strike="noStrike">
                    <a:solidFill>
                      <a:srgbClr val="F5F7F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Chronos-2 (alone 24.4, ρ 0.84)</c:v>
                </c:pt>
                <c:pt idx="1">
                  <c:v>LightGBM (alone 25.0, ρ 0.92)</c:v>
                </c:pt>
                <c:pt idx="2">
                  <c:v>MOMENT (alone 26.8, ρ 0.79)</c:v>
                </c:pt>
                <c:pt idx="3">
                  <c:v>TS2Vec (alone 25.9, ρ 0.86)</c:v>
                </c:pt>
              </c:strCache>
            </c:strRef>
          </c:cat>
          <c:val>
            <c:numRef>
              <c:f>Sheet1!$B$2:$B$5</c:f>
              <c:numCache>
                <c:formatCode>General</c:formatCode>
                <c:ptCount val="4"/>
                <c:pt idx="0">
                  <c:v>23.62</c:v>
                </c:pt>
                <c:pt idx="1">
                  <c:v>24.42</c:v>
                </c:pt>
                <c:pt idx="2">
                  <c:v>24.48</c:v>
                </c:pt>
                <c:pt idx="3">
                  <c:v>24.51</c:v>
                </c:pt>
              </c:numCache>
            </c:numRef>
          </c:val>
          <c:extLst>
            <c:ext xmlns:c16="http://schemas.microsoft.com/office/drawing/2014/chart" uri="{C3380CC4-5D6E-409C-BE32-E72D297353CC}">
              <c16:uniqueId val="{00000008-EDB9-496B-8931-97A061EC6696}"/>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B7C0CC"/>
                </a:solidFill>
                <a:latin typeface="+mn-lt"/>
              </a:defRPr>
            </a:pPr>
            <a:endParaRPr lang="en-US"/>
          </a:p>
        </c:txPr>
        <c:crossAx val="2094734552"/>
        <c:crosses val="autoZero"/>
        <c:auto val="1"/>
        <c:lblAlgn val="ctr"/>
        <c:lblOffset val="100"/>
        <c:noMultiLvlLbl val="1"/>
      </c:catAx>
      <c:valAx>
        <c:axId val="2094734552"/>
        <c:scaling>
          <c:orientation val="minMax"/>
          <c:max val="25.2"/>
          <c:min val="22"/>
        </c:scaling>
        <c:delete val="1"/>
        <c:axPos val="t"/>
        <c:numFmt formatCode="General" sourceLinked="0"/>
        <c:majorTickMark val="out"/>
        <c:minorTickMark val="none"/>
        <c:tickLblPos val="low"/>
        <c:crossAx val="2094734554"/>
        <c:crosses val="autoZero"/>
        <c:crossBetween val="between"/>
      </c:valAx>
      <c:spPr>
        <a:solidFill>
          <a:srgbClr val="000000">
            <a:alpha val="0"/>
          </a:srgbClr>
        </a:solidFill>
        <a:ln>
          <a:noFill/>
        </a:ln>
        <a:effectLst/>
      </c:spPr>
    </c:plotArea>
    <c:plotVisOnly val="1"/>
    <c:dispBlanksAs val="span"/>
    <c:showDLblsOverMax val="1"/>
  </c:chart>
  <c:spPr>
    <a:solidFill>
      <a:srgbClr val="000000">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F5F7FA"/>
                </a:solidFill>
                <a:latin typeface="+mn-lt"/>
              </a:defRPr>
            </a:pPr>
            <a:r>
              <a:rPr sz="1400" b="1" i="0" u="none" strike="noStrike">
                <a:solidFill>
                  <a:srgbClr val="F5F7FA"/>
                </a:solidFill>
                <a:latin typeface="+mn-lt"/>
              </a:rPr>
              <a:t>Error 60 minutes ahead, mg/dL, 180 simulated adults</a:t>
            </a:r>
          </a:p>
        </c:rich>
      </c:tx>
      <c:overlay val="0"/>
    </c:title>
    <c:autoTitleDeleted val="0"/>
    <c:plotArea>
      <c:layout/>
      <c:barChart>
        <c:barDir val="bar"/>
        <c:grouping val="clustered"/>
        <c:varyColors val="0"/>
        <c:ser>
          <c:idx val="0"/>
          <c:order val="0"/>
          <c:tx>
            <c:strRef>
              <c:f>Sheet1!$B$1</c:f>
              <c:strCache>
                <c:ptCount val="1"/>
                <c:pt idx="0">
                  <c:v>60-min error</c:v>
                </c:pt>
              </c:strCache>
            </c:strRef>
          </c:tx>
          <c:spPr>
            <a:solidFill>
              <a:srgbClr val="3D8BFF"/>
            </a:solidFill>
            <a:effectLst/>
          </c:spPr>
          <c:invertIfNegative val="0"/>
          <c:dPt>
            <c:idx val="0"/>
            <c:invertIfNegative val="0"/>
            <c:bubble3D val="0"/>
            <c:extLst>
              <c:ext xmlns:c16="http://schemas.microsoft.com/office/drawing/2014/chart" uri="{C3380CC4-5D6E-409C-BE32-E72D297353CC}">
                <c16:uniqueId val="{00000001-AE41-4F75-92A6-F5B776F1CCED}"/>
              </c:ext>
            </c:extLst>
          </c:dPt>
          <c:dPt>
            <c:idx val="1"/>
            <c:invertIfNegative val="0"/>
            <c:bubble3D val="0"/>
            <c:spPr>
              <a:solidFill>
                <a:srgbClr val="1F5FBF"/>
              </a:solidFill>
              <a:effectLst/>
            </c:spPr>
            <c:extLst>
              <c:ext xmlns:c16="http://schemas.microsoft.com/office/drawing/2014/chart" uri="{C3380CC4-5D6E-409C-BE32-E72D297353CC}">
                <c16:uniqueId val="{00000003-AE41-4F75-92A6-F5B776F1CCED}"/>
              </c:ext>
            </c:extLst>
          </c:dPt>
          <c:dPt>
            <c:idx val="2"/>
            <c:invertIfNegative val="0"/>
            <c:bubble3D val="0"/>
            <c:spPr>
              <a:solidFill>
                <a:srgbClr val="6B7480"/>
              </a:solidFill>
              <a:effectLst/>
            </c:spPr>
            <c:extLst>
              <c:ext xmlns:c16="http://schemas.microsoft.com/office/drawing/2014/chart" uri="{C3380CC4-5D6E-409C-BE32-E72D297353CC}">
                <c16:uniqueId val="{00000005-AE41-4F75-92A6-F5B776F1CCED}"/>
              </c:ext>
            </c:extLst>
          </c:dPt>
          <c:dPt>
            <c:idx val="3"/>
            <c:invertIfNegative val="0"/>
            <c:bubble3D val="0"/>
            <c:spPr>
              <a:solidFill>
                <a:srgbClr val="6B7480"/>
              </a:solidFill>
              <a:effectLst/>
            </c:spPr>
            <c:extLst>
              <c:ext xmlns:c16="http://schemas.microsoft.com/office/drawing/2014/chart" uri="{C3380CC4-5D6E-409C-BE32-E72D297353CC}">
                <c16:uniqueId val="{00000007-AE41-4F75-92A6-F5B776F1CCED}"/>
              </c:ext>
            </c:extLst>
          </c:dPt>
          <c:dPt>
            <c:idx val="4"/>
            <c:invertIfNegative val="0"/>
            <c:bubble3D val="0"/>
            <c:spPr>
              <a:solidFill>
                <a:srgbClr val="6B7480"/>
              </a:solidFill>
              <a:effectLst/>
            </c:spPr>
            <c:extLst>
              <c:ext xmlns:c16="http://schemas.microsoft.com/office/drawing/2014/chart" uri="{C3380CC4-5D6E-409C-BE32-E72D297353CC}">
                <c16:uniqueId val="{00000009-AE41-4F75-92A6-F5B776F1CCED}"/>
              </c:ext>
            </c:extLst>
          </c:dPt>
          <c:dPt>
            <c:idx val="5"/>
            <c:invertIfNegative val="0"/>
            <c:bubble3D val="0"/>
            <c:spPr>
              <a:solidFill>
                <a:srgbClr val="6B7480"/>
              </a:solidFill>
              <a:effectLst/>
            </c:spPr>
            <c:extLst>
              <c:ext xmlns:c16="http://schemas.microsoft.com/office/drawing/2014/chart" uri="{C3380CC4-5D6E-409C-BE32-E72D297353CC}">
                <c16:uniqueId val="{0000000B-AE41-4F75-92A6-F5B776F1CCED}"/>
              </c:ext>
            </c:extLst>
          </c:dPt>
          <c:dPt>
            <c:idx val="6"/>
            <c:invertIfNegative val="0"/>
            <c:bubble3D val="0"/>
            <c:spPr>
              <a:solidFill>
                <a:srgbClr val="6B7480"/>
              </a:solidFill>
              <a:effectLst/>
            </c:spPr>
            <c:extLst>
              <c:ext xmlns:c16="http://schemas.microsoft.com/office/drawing/2014/chart" uri="{C3380CC4-5D6E-409C-BE32-E72D297353CC}">
                <c16:uniqueId val="{0000000D-AE41-4F75-92A6-F5B776F1CCED}"/>
              </c:ext>
            </c:extLst>
          </c:dPt>
          <c:dPt>
            <c:idx val="7"/>
            <c:invertIfNegative val="0"/>
            <c:bubble3D val="0"/>
            <c:spPr>
              <a:solidFill>
                <a:srgbClr val="3A414C"/>
              </a:solidFill>
              <a:effectLst/>
            </c:spPr>
            <c:extLst>
              <c:ext xmlns:c16="http://schemas.microsoft.com/office/drawing/2014/chart" uri="{C3380CC4-5D6E-409C-BE32-E72D297353CC}">
                <c16:uniqueId val="{0000000F-AE41-4F75-92A6-F5B776F1CCED}"/>
              </c:ext>
            </c:extLst>
          </c:dPt>
          <c:dLbls>
            <c:numFmt formatCode="0.0" sourceLinked="0"/>
            <c:spPr>
              <a:noFill/>
              <a:ln>
                <a:noFill/>
              </a:ln>
              <a:effectLst/>
            </c:spPr>
            <c:txPr>
              <a:bodyPr/>
              <a:lstStyle/>
              <a:p>
                <a:pPr>
                  <a:defRPr sz="1200" b="0" i="0" u="none" strike="noStrike">
                    <a:solidFill>
                      <a:srgbClr val="F5F7F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Hybrid twin</c:v>
                </c:pt>
                <c:pt idx="1">
                  <c:v>Twin + Chronos-2</c:v>
                </c:pt>
                <c:pt idx="2">
                  <c:v>LightGBM</c:v>
                </c:pt>
                <c:pt idx="3">
                  <c:v>Chronos-2</c:v>
                </c:pt>
                <c:pt idx="4">
                  <c:v>MOMENT</c:v>
                </c:pt>
                <c:pt idx="5">
                  <c:v>Physics twin alone</c:v>
                </c:pt>
                <c:pt idx="6">
                  <c:v>TS2Vec</c:v>
                </c:pt>
                <c:pt idx="7">
                  <c:v>Repeat last reading</c:v>
                </c:pt>
              </c:strCache>
            </c:strRef>
          </c:cat>
          <c:val>
            <c:numRef>
              <c:f>Sheet1!$B$2:$B$9</c:f>
              <c:numCache>
                <c:formatCode>General</c:formatCode>
                <c:ptCount val="8"/>
                <c:pt idx="0">
                  <c:v>15.26</c:v>
                </c:pt>
                <c:pt idx="1">
                  <c:v>15.51</c:v>
                </c:pt>
                <c:pt idx="2">
                  <c:v>15.74</c:v>
                </c:pt>
                <c:pt idx="3">
                  <c:v>17.63</c:v>
                </c:pt>
                <c:pt idx="4">
                  <c:v>18.559999999999999</c:v>
                </c:pt>
                <c:pt idx="5">
                  <c:v>20.36</c:v>
                </c:pt>
                <c:pt idx="6">
                  <c:v>20.97</c:v>
                </c:pt>
                <c:pt idx="7">
                  <c:v>31.5</c:v>
                </c:pt>
              </c:numCache>
            </c:numRef>
          </c:val>
          <c:extLst>
            <c:ext xmlns:c16="http://schemas.microsoft.com/office/drawing/2014/chart" uri="{C3380CC4-5D6E-409C-BE32-E72D297353CC}">
              <c16:uniqueId val="{00000010-AE41-4F75-92A6-F5B776F1CCED}"/>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B7C0CC"/>
                </a:solidFill>
                <a:latin typeface="+mn-lt"/>
              </a:defRPr>
            </a:pPr>
            <a:endParaRPr lang="en-US"/>
          </a:p>
        </c:txPr>
        <c:crossAx val="2094734552"/>
        <c:crosses val="autoZero"/>
        <c:auto val="1"/>
        <c:lblAlgn val="ctr"/>
        <c:lblOffset val="100"/>
        <c:noMultiLvlLbl val="1"/>
      </c:catAx>
      <c:valAx>
        <c:axId val="2094734552"/>
        <c:scaling>
          <c:orientation val="minMax"/>
          <c:max val="36"/>
          <c:min val="0"/>
        </c:scaling>
        <c:delete val="1"/>
        <c:axPos val="t"/>
        <c:numFmt formatCode="General" sourceLinked="0"/>
        <c:majorTickMark val="out"/>
        <c:minorTickMark val="none"/>
        <c:tickLblPos val="low"/>
        <c:crossAx val="2094734554"/>
        <c:crosses val="autoZero"/>
        <c:crossBetween val="between"/>
      </c:valAx>
      <c:spPr>
        <a:solidFill>
          <a:srgbClr val="000000">
            <a:alpha val="0"/>
          </a:srgbClr>
        </a:solidFill>
        <a:ln>
          <a:noFill/>
        </a:ln>
        <a:effectLst/>
      </c:spPr>
    </c:plotArea>
    <c:plotVisOnly val="1"/>
    <c:dispBlanksAs val="span"/>
    <c:showDLblsOverMax val="1"/>
  </c:chart>
  <c:spPr>
    <a:solidFill>
      <a:srgbClr val="000000">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0326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S01-L1-T  THARUN</a:t>
            </a:r>
          </a:p>
          <a:p>
            <a:r>
              <a:t>Hi, I'm Tharun, from VIT Vellore.</a:t>
            </a:r>
          </a:p>
          <a:p/>
          <a:p>
            <a:r>
              <a:t>S01-L2-G  GARGI</a:t>
            </a:r>
          </a:p>
          <a:p>
            <a:r>
              <a:t>And I'm Gargi, from ABES Institute of Technology in Ghaziabad. We're team Adorable.</a:t>
            </a:r>
          </a:p>
          <a:p/>
          <a:p>
            <a:r>
              <a:t>S01-L3-T  THARUN</a:t>
            </a:r>
          </a:p>
          <a:p>
            <a:r>
              <a:t>Our project is PrandialTwin, a digital twin for type 2 diabetes. It sees a sugar spike coming after a meal, early enough that you can still change the meal. We'll show you the problem, how it works, how well it does, and four live demos.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S02-L1-G  GARGI</a:t>
            </a:r>
          </a:p>
          <a:p>
            <a:r>
              <a:t>Let's start with where India stands. None of these numbers are ours, they come straight from published studies. The ICMR found 101 million people in India living with diabetes. And a Lancet study from 2024 found that the share of adults with diabetes has doubled since 1990. Today that's over 800 million adults worldwide, and more than half of them aren't being treated.</a:t>
            </a:r>
          </a:p>
          <a:p/>
          <a:p>
            <a:r>
              <a:t>S02-L2-T  THARUN</a:t>
            </a:r>
          </a:p>
          <a:p>
            <a:r>
              <a:t>The WHO says diabetes directly caused 1.6 million deaths in 2021, and almost half of those people were under seventy. And the International Diabetes Federation expects India's 89.8 million adults with diabetes to grow to 156.7 million by 2050.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S03-L1-T  THARUN</a:t>
            </a:r>
          </a:p>
          <a:p>
            <a:r>
              <a:t>Put simply, one adult in four in India has diabetes or prediabetes. That's 101 million with diabetes and another 136 million with prediabetes, the stage just before. Most of them feel fine. The damage builds up quietly, and a lot of it happens after meals.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S04-L1-G  GARGI</a:t>
            </a:r>
          </a:p>
          <a:p>
            <a:r>
              <a:t>So why after meals? Look at the plate. About 62 percent of the energy in the average Indian diet comes from carbohydrate. And when 649 Indian patients with type 2 diabetes wore a glucose sensor for the first time, they spent 53.5 percent of their time above the healthy range. That's more than half the 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S05-L1-T  THARUN</a:t>
            </a:r>
          </a:p>
          <a:p>
            <a:r>
              <a:t>This is one day for a simulated person from South India. Upma in the morning, vangi bhat at lunch, sundal in the evening, biryani at night. Two of those meals push his sugar above 180, which is the usual line for too high. And care today doesn't catch it in time. An HbA1c test is an average over three months, so the spikes get lost in it. A sensor report does show them, but two weeks later, when the meal is long gone.</a:t>
            </a:r>
          </a:p>
          <a:p/>
          <a:p>
            <a:r>
              <a:t>S05-L2-G  GARGI</a:t>
            </a:r>
          </a:p>
          <a:p>
            <a:r>
              <a:t>What's missing is a warning before the meal, while a smaller portion or a short walk can still help. That's why we picked type 2 diabetes. A sensor reads sugar all day, a spike plays out within a few hours, the person can act straight away, and every single meal tells us whether the twin got it right.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S06-L1-T  THARUN</a:t>
            </a:r>
          </a:p>
          <a:p>
            <a:r>
              <a:t>So what is a digital twin? It's a virtual copy of one patient that stays in step with them. To count as a twin it has to do three things. It updates itself from the person's own data, it predicts what happens next with an honest range, and it helps someone make a decision. A 2025 review of 149 health twins found that only 12 percent do all three. Ours does, and we test each part.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S07-L1-T  THARUN</a:t>
            </a:r>
          </a:p>
          <a:p>
            <a:r>
              <a:t>A twin is only as good as its data, so we started with real people. CGMacros has 45 adults in the USA, with lab tests, two glucose sensors worn at the same time, a Fitbit, and every meal logged. It was published in Scientific Data, with ethics approval and written consent. ShanghaiT2DM has 109 recordings from China, with a different sensor and about half the patients on insulin. We never trained anything on it. It's our exam abroad.</a:t>
            </a:r>
          </a:p>
          <a:p/>
          <a:p>
            <a:r>
              <a:t>S07-L2-G  GARGI</a:t>
            </a:r>
          </a:p>
          <a:p>
            <a:r>
              <a:t>In both, the health record and the sensor stream belong to the same person over the same weeks, and that's exactly the fusion the brief asks for. We checksum every file, we only use the sensor's own readings, and we split by patient, so nobody we test on was ever seen in training.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S08-L1-G  GARGI</a:t>
            </a:r>
          </a:p>
          <a:p>
            <a:r>
              <a:t>Real data has a gap though. It shows what someone ate, but never what would have happened if they'd eaten less. So we also made synthetic patients, where we know the right answer. Each one starts from a hidden severity, anywhere from healthy to advanced diabetes. That sets how well their insulin works and how much they release, a little less for each TCF7L2 risk gene. Their health record, HbA1c, fasting glucose, diagnoses and medicines, is worked out from that same body. Then come days of real regional Indian meals, walks and sleep, run through a simulator that's deliberately richer than our twin.</a:t>
            </a:r>
          </a:p>
          <a:p/>
          <a:p>
            <a:r>
              <a:t>S08-L2-T  THARUN</a:t>
            </a:r>
          </a:p>
          <a:p>
            <a:r>
              <a:t>And they look like India. Every regional diet is within 4.5 points of the national survey, and the share with prediabetes and diabetes is within one point. Let's open the files.</a:t>
            </a:r>
          </a:p>
          <a:p/>
          <a:p>
            <a:r>
              <a:t>[Do not press → yet. Demo A starts from this slide.]</a:t>
            </a:r>
          </a:p>
          <a:p/>
          <a:p>
            <a:r>
              <a:t>DEMO A</a:t>
            </a:r>
          </a:p>
          <a:p/>
          <a:p>
            <a:r>
              <a:t>[GARGI drives. Press Alt+Tab until the File Explorer window showing the folder 'synthetic' is in front.]</a:t>
            </a:r>
          </a:p>
          <a:p/>
          <a:p>
            <a:r>
              <a:t>[Double-click 'patients.csv'. Excel opens. Point at row 2: SYN-001, 1971, F, TCF7L2 risk alleles 0, family history FALSE.]</a:t>
            </a:r>
          </a:p>
          <a:p/>
          <a:p>
            <a:r>
              <a:t>DA-L1-G  GARGI</a:t>
            </a:r>
          </a:p>
          <a:p>
            <a:r>
              <a:t>This is the synthetic health record, laid out like Synthea, a standard open source patient generator. Patient SYN-001, born 1971, female. She has no copies of the TCF7L2 risk gene and no diabetes in her family.</a:t>
            </a:r>
          </a:p>
          <a:p/>
          <a:p>
            <a:r>
              <a:t>[Alt+Tab back to the folder, double-click 'conditions.csv' and point at SYN-001, 'Type 2 diabetes mellitus', code 44054006. Then double-click 'observations.csv' and point at the first three rows (HbA1c 6.5 %, fasting glucose 105, insulin 7.7).]</a:t>
            </a:r>
          </a:p>
          <a:p/>
          <a:p>
            <a:r>
              <a:t>DA-L2-T  THARUN</a:t>
            </a:r>
          </a:p>
          <a:p>
            <a:r>
              <a:t>Her diagnosis is type 2 diabetes, with its standard SNOMED code. Then her labs, with their LOINC codes. HbA1c 6.5 percent, fasting glucose 105. Each one uses the code a hospital system would expect.</a:t>
            </a:r>
          </a:p>
          <a:p/>
          <a:p>
            <a:r>
              <a:t>[In the folder, double-click the folder 'wearables', then 'SYN-001.csv'. Point at the column headings: cgm_mgdl, heart_rate_bpm, steps, mets, sleep_stage.]</a:t>
            </a:r>
          </a:p>
          <a:p/>
          <a:p>
            <a:r>
              <a:t>DA-L3-G  GARGI</a:t>
            </a:r>
          </a:p>
          <a:p>
            <a:r>
              <a:t>And this is her wearable stream. Every five minutes, a glucose reading, her heart rate, steps, activity level and sleep stage.</a:t>
            </a:r>
          </a:p>
          <a:p/>
          <a:p>
            <a:r>
              <a:t>[Go back up one level, open 'india_south', double-click 'patients.csv' and point at the columns REGION and STATE (INS-001, Karnataka).]</a:t>
            </a:r>
          </a:p>
          <a:p/>
          <a:p>
            <a:r>
              <a:t>DA-L4-G  GARGI</a:t>
            </a:r>
          </a:p>
          <a:p>
            <a:r>
              <a:t>The Indian cohorts add each person's region and home state. This one, INS-001, is from Karnataka.</a:t>
            </a:r>
          </a:p>
          <a:p/>
          <a:p>
            <a:r>
              <a:t>[GARGI: close the Excel windows (Alt+F4 each; if asked, click 'Don't Save'). Press Alt+Tab until the slideshow is in front, then press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S09-L1-T  THARUN</a:t>
            </a:r>
          </a:p>
          <a:p>
            <a:r>
              <a:t>So how does it work? This is the whole system, in four steps from left to right. Step one is what we know about one person. The health record is the slow part. Age, HbA1c, fasting glucose, diagnoses, medicines and a genetic marker. The live streams are the fast part. A glucose reading every five minutes, the meals they log, and steps, heart rate and sleep from a watch.</a:t>
            </a:r>
          </a:p>
          <a:p/>
          <a:p>
            <a:r>
              <a:t>[Press → once. Step 2 (the twin) appears.]</a:t>
            </a:r>
          </a:p>
          <a:p/>
          <a:p>
            <a:r>
              <a:t>S09-L2-G  GARGI</a:t>
            </a:r>
          </a:p>
          <a:p>
            <a:r>
              <a:t>Step two is the twin itself. The labs give us a first guess of how this person's body handles sugar, and that sets up a small body model with four moving parts and five personal dials. Then it corrects itself. We keep 128 slightly different copies of the twin, and every time a reading comes in, we nudge all of them toward it. Then we run all 128 forward three hours. That's 128 possible futures.</a:t>
            </a:r>
          </a:p>
          <a:p/>
          <a:p>
            <a:r>
              <a:t>[Press →. Step 3 (the forecast) appears.]</a:t>
            </a:r>
          </a:p>
          <a:p/>
          <a:p>
            <a:r>
              <a:t>S09-L3-T  THARUN</a:t>
            </a:r>
          </a:p>
          <a:p>
            <a:r>
              <a:t>Step three turns those futures into one forecast. The hybrid twin is the physics plus a small, capped correction learned from data. Chronos-2 is an AI forecaster, pretrained on huge collections of time series, and we fine-tuned it on glucose. We average the two half and half, and draw a 90 percent range around the result that adapts to each patient.</a:t>
            </a:r>
          </a:p>
          <a:p/>
          <a:p>
            <a:r>
              <a:t>[Press →. Step 4 (what the doctor gets) appears.]</a:t>
            </a:r>
          </a:p>
          <a:p/>
          <a:p>
            <a:r>
              <a:t>S09-L4-G  GARGI</a:t>
            </a:r>
          </a:p>
          <a:p>
            <a:r>
              <a:t>Step four is what a doctor actually needs. An alert when a spike is likely in the next two hours. The reasons behind it. A what-if, where you change the plan and replay the same twin. And a suggestion, the easiest change that keeps the risk under 30 percent.</a:t>
            </a:r>
          </a:p>
          <a:p/>
          <a:p>
            <a:r>
              <a:t>[Press →. The dashboard bar appears.]</a:t>
            </a:r>
          </a:p>
          <a:p/>
          <a:p>
            <a:r>
              <a:t>S09-L5-T  THARUN</a:t>
            </a:r>
          </a:p>
          <a:p>
            <a:r>
              <a:t>All of it lands on one dashboard. And the loop closes, because the advice changes what the person does, and that comes back to the twin as new data. Everything the twin learns from other people comes from training patients only. Now let's open up step two.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S10-L1-T  THARUN</a:t>
            </a:r>
          </a:p>
          <a:p>
            <a:r>
              <a:t>Now the maths, kept simple. Each line starts with d over dt, which just means how fast something is changing. The third line is the main one. The change in blood sugar is what comes in, from the liver and from food, minus what goes out, through the body, insulin and activity.</a:t>
            </a:r>
          </a:p>
          <a:p/>
          <a:p>
            <a:r>
              <a:t>S10-L2-G  GARGI</a:t>
            </a:r>
          </a:p>
          <a:p>
            <a:r>
              <a:t>The first line says that when sugar rises above this person's normal level, the pancreas releases insulin, and phi is how strongly. The second line says insulin takes about half an hour to start working. That delay is why spikes happen at all, because food gets in faster than insulin can react. The last line is the food. It reaches the blood as a wave that rises and then fades, and fat, protein and fibre make that wave slower and flatter.</a:t>
            </a:r>
          </a:p>
          <a:p/>
          <a:p>
            <a:r>
              <a:t>S10-L3-T  THARUN</a:t>
            </a:r>
          </a:p>
          <a:p>
            <a:r>
              <a:t>So each person comes down to five dials. Their normal sugar level, how strongly their insulin responds, how fast they digest, how much sugar one gram of carbs adds, and how much a walk helps. The labs set the dials to start with.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S11-L1-G  GARGI</a:t>
            </a:r>
          </a:p>
          <a:p>
            <a:r>
              <a:t>But how does the twin find the dials for someone it has never met? It keeps 128 versions of that person, each with slightly different dials. Every version predicts the next reading. When the real reading arrives, each version is pulled toward it, more if it was further off.</a:t>
            </a:r>
          </a:p>
          <a:p/>
          <a:p>
            <a:r>
              <a:t>S11-L2-T  THARUN</a:t>
            </a:r>
          </a:p>
          <a:p>
            <a:r>
              <a:t>The last line says how hard to pull. If the versions disagree a lot, the twin trusts the sensor and pulls hard. If the sensor is noisy, that's R, it pulls gently. It's the same method that keeps GPS and weather forecasts on track. On the right you can see this patient's normal sugar level settle within about a day, close to their lab fasting glucose.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S12-L1-T  THARUN</a:t>
            </a:r>
          </a:p>
          <a:p>
            <a:r>
              <a:t>Now the forecast. Line one is the hybrid twin. The physics forecast, plus a small correction learned by LightGBM, never more than 20 to 40 milligrams. The physics drives and the learning can only nudge, so it can't pick up shortcuts that break on a new kind of patient. Line two is our final forecast. Two forecasters with different blind spots, simply averaged half and half. We fixed that before we looked at any test result.</a:t>
            </a:r>
          </a:p>
          <a:p/>
          <a:p>
            <a:r>
              <a:t>S12-L2-G  GARGI</a:t>
            </a:r>
          </a:p>
          <a:p>
            <a:r>
              <a:t>Line three is the range, and it should hold nine readings in ten. After a miss it widens a little, after a hit it narrows a little, separately for each patient. Line four is the alert. It's the chance of a spike in the next two hours, and we set the threshold for about one false alarm a day, because an alarm that keeps ringing gets ignored.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S13-L1-G  GARGI</a:t>
            </a:r>
          </a:p>
          <a:p>
            <a:r>
              <a:t>Then the decisions. First, why. We remove one cause, food, activity or drift, replay the twin, and see how much the peak drops. Second, what if. We change the plan, a smaller portion or a walk, and replay the same twin from right now. Third, a suggestion. The twin tries eight easy changes and picks the easiest one that keeps the chance of a spike under 30 percent.</a:t>
            </a:r>
          </a:p>
          <a:p/>
          <a:p>
            <a:r>
              <a:t>S13-L2-T  THARUN</a:t>
            </a:r>
          </a:p>
          <a:p>
            <a:r>
              <a:t>Let's see it on a patient.</a:t>
            </a:r>
          </a:p>
          <a:p/>
          <a:p>
            <a:r>
              <a:t>[Do not press → yet. Demo B starts from this slide.]</a:t>
            </a:r>
          </a:p>
          <a:p/>
          <a:p>
            <a:r>
              <a:t>DEMO B</a:t>
            </a:r>
          </a:p>
          <a:p/>
          <a:p>
            <a:r>
              <a:t>[THARUN drives. Press Alt+Tab until Chrome is in front. Click browser tab 1.]</a:t>
            </a:r>
          </a:p>
          <a:p/>
          <a:p>
            <a:r>
              <a:t>[Point at 'Record (static)' at the top left.]</a:t>
            </a:r>
          </a:p>
          <a:p/>
          <a:p>
            <a:r>
              <a:t>DB-L1-T  THARUN</a:t>
            </a:r>
          </a:p>
          <a:p>
            <a:r>
              <a:t>This is our dashboard, running on this laptop. INS-001 is a simulated twenty-year-old man from Karnataka, with prediabetes. Up here is his health record.</a:t>
            </a:r>
          </a:p>
          <a:p/>
          <a:p>
            <a:r>
              <a:t>[Point at 'Basal glucose (twin)' (122 mg/dL), then at the line 'Forecast · P(glucose above 180 ...) = 74% · ALERT' and the shaded band under it.]</a:t>
            </a:r>
          </a:p>
          <a:p/>
          <a:p>
            <a:r>
              <a:t>DB-L2-G  GARGI</a:t>
            </a:r>
          </a:p>
          <a:p>
            <a:r>
              <a:t>The twin has learned his normal sugar level, 122. He's about to have lunch, vangi bhat with curd, and it gives a 74 percent chance of a spike. That's an alert. The shaded part is the 90 percent range.</a:t>
            </a:r>
          </a:p>
          <a:p/>
          <a:p>
            <a:r>
              <a:t>[Point at the 'Why this forecast' bars on the right; the long one is 'Carbohydrate on board'.]</a:t>
            </a:r>
          </a:p>
          <a:p/>
          <a:p>
            <a:r>
              <a:t>DB-L3-T  THARUN</a:t>
            </a:r>
          </a:p>
          <a:p>
            <a:r>
              <a:t>Why so high? The carbohydrate still being digested adds about 70 to the expected peak.</a:t>
            </a:r>
          </a:p>
          <a:p/>
          <a:p>
            <a:r>
              <a:t>[Point at the chart 'The twin is learning' under the bars.]</a:t>
            </a:r>
          </a:p>
          <a:p/>
          <a:p>
            <a:r>
              <a:t>DB-L4-G  GARGI</a:t>
            </a:r>
          </a:p>
          <a:p>
            <a:r>
              <a:t>And this chart shows the twin learning him, its estimate of his normal sugar level, day by day since his first reading.</a:t>
            </a:r>
          </a:p>
          <a:p/>
          <a:p>
            <a:r>
              <a:t>[Scroll down to 'What if?', click the blue dot of 'Portion of this meal' and press ← (left arrow) 5 times so it reads 50%. Wait 2 seconds: 'Expected 3-h peak' shows 173 mg/dL and the chance 21%. If the slider does not move, click browser tab 2 instead (already at 50%).]</a:t>
            </a:r>
          </a:p>
          <a:p/>
          <a:p>
            <a:r>
              <a:t>DB-L5-T  THARUN</a:t>
            </a:r>
          </a:p>
          <a:p>
            <a:r>
              <a:t>Now, what if he eats only half the plate? The expected peak drops to 173, and the twin's own chance of a spike falls to 21 percent.</a:t>
            </a:r>
          </a:p>
          <a:p/>
          <a:p>
            <a:r>
              <a:t>[Point at the 'Suggested change' line below the chart, then at 'Track record on real data' under it.]</a:t>
            </a:r>
          </a:p>
          <a:p/>
          <a:p>
            <a:r>
              <a:t>DB-L6-G  GARGI</a:t>
            </a:r>
          </a:p>
          <a:p>
            <a:r>
              <a:t>That's also the change it suggests. And underneath is its track record on real meals, so a doctor can judge how far to trust it.</a:t>
            </a:r>
          </a:p>
          <a:p/>
          <a:p>
            <a:r>
              <a:t>[Scroll to the top and click '+15 min' in the left sidebar twice.]</a:t>
            </a:r>
          </a:p>
          <a:p/>
          <a:p>
            <a:r>
              <a:t>DB-L7-T  THARUN</a:t>
            </a:r>
          </a:p>
          <a:p>
            <a:r>
              <a:t>As new readings come in, everything updates.</a:t>
            </a:r>
          </a:p>
          <a:p/>
          <a:p>
            <a:r>
              <a:t>[Scroll to the bottom and click 'How well does this work? Evidence and limits' to open it. Wait 3 seconds.]</a:t>
            </a:r>
          </a:p>
          <a:p/>
          <a:p>
            <a:r>
              <a:t>DB-L8-G  GARGI</a:t>
            </a:r>
          </a:p>
          <a:p>
            <a:r>
              <a:t>And the evidence and the limits are always one click away, on the same page.</a:t>
            </a:r>
          </a:p>
          <a:p/>
          <a:p>
            <a:r>
              <a:t>[THARUN: press Alt+Tab until the slideshow is in front, then press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S14-L1-G  GARGI</a:t>
            </a:r>
          </a:p>
          <a:p>
            <a:r>
              <a:t>So, does it work? We gave twelve forecasters the same test, the same patients at the same moments, each predicting one hour ahead. Each number is the typical miss in milligrams per decilitre, so lower is better. The top row just repeats the last reading, and that's the bar to beat. The small neural networks do fine at home but fall apart in Shanghai. MOMENT and TS2Vec, two foundation models we ran this week on Kaggle GPUs, come out weaker. Fine-tuned Chronos-2 is the best single model. And our twin averaged with Chronos-2 is the best of all, at home and abroad. That average is our forecast.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S15-L1-T  THARUN</a:t>
            </a:r>
          </a:p>
          <a:p>
            <a:r>
              <a:t>So why does averaging two models beat both of them? Sigma one and sigma two are each model's own error, 24.9 for the twin and 24.4 for Chronos-2. Rho is how alike their mistakes are, from zero to one. If rho were one, they'd always be wrong together and averaging would gain nothing. The lower it is, the more the mistakes cancel.</a:t>
            </a:r>
          </a:p>
          <a:p/>
          <a:p>
            <a:r>
              <a:t>S15-L2-G  GARGI</a:t>
            </a:r>
          </a:p>
          <a:p>
            <a:r>
              <a:t>For the twin and Chronos-2, rho is 0.84, so the average comes down to 23.6, better than either one alone. LightGBM makes almost the same mistakes as the twin, rho 0.92, so averaging those two barely helps. In Shanghai you can see it cancel. The twin guesses about 5 too high and Chronos-2 about 3 too low. And both adapt to each new person. The twin re-tunes its dials, and Chronos-2 re-reads the last 24 hours.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S16-L1-G  GARGI</a:t>
            </a:r>
          </a:p>
          <a:p>
            <a:r>
              <a:t>And why did the others lose? LightGBM and the neural networks each learn one fixed rule from one group of people. In Shanghai, half the patients are on insulin, a drug those models never saw, so they keep guessing too high, by 6 to 19 milligrams.</a:t>
            </a:r>
          </a:p>
          <a:p/>
          <a:p>
            <a:r>
              <a:t>S16-L2-T  THARUN</a:t>
            </a:r>
          </a:p>
          <a:p>
            <a:r>
              <a:t>MOMENT reads each signal on its own, so it never connects a meal to the rise that follows. Half an hour ahead it's no better than repeating the last reading. TS2Vec is built to recognise series, not to forecast them. Chronos-2 straight out of the box has never seen how meals move glucose, which is why fine-tuning helps it so much. And our physics alone is too simple, which is exactly why it gets that small learned correction.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S17-L1-T  THARUN</a:t>
            </a:r>
          </a:p>
          <a:p>
            <a:r>
              <a:t>Forecasts only matter if the alerts help. At about one false alarm per patient per day, the twin warned of 61 percent of 693 real spikes before they began. The standard model warned of 52 percent. The typical warning came 30 minutes ahead. And on the Shanghai patients, its alert score is 0.45 against 0.36.</a:t>
            </a:r>
          </a:p>
          <a:p/>
          <a:p>
            <a:r>
              <a:t>S17-L2-G  GARGI</a:t>
            </a:r>
          </a:p>
          <a:p>
            <a:r>
              <a:t>The range is honest for each patient too. Even for the patient it served worst, 89 percent of readings fell inside the 90 percent range. A range set once for everybody only managed 78 percent for that same person. That's the widen and narrow rule at work.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S18-L1-G  GARGI</a:t>
            </a:r>
          </a:p>
          <a:p>
            <a:r>
              <a:t>Are the what-ifs right? Nobody eats the same meal twice, so we compared pairs of similar meals from the same person. The twin got the direction right 66 percent of the time for carbohydrate and 61 percent for activity. And after an active hour, sugar was 10.7 lower, of which the twin explained 9.1.</a:t>
            </a:r>
          </a:p>
          <a:p/>
          <a:p>
            <a:r>
              <a:t>S18-L2-T  THARUN</a:t>
            </a:r>
          </a:p>
          <a:p>
            <a:r>
              <a:t>On synthetic patients we know the true answer. The twin's estimate for forty percent less carbohydrate correlates 0.88 with the truth. And when the simulated patients followed its suggestions, meals with a spike fell from 35 to 18 percent. A simple carbohydrate rule only got to 28. That's simulation, not a clinical trial. Gargi, show them a real patient.</a:t>
            </a:r>
          </a:p>
          <a:p/>
          <a:p>
            <a:r>
              <a:t>[Do not press → yet. Demo C starts from this slide.]</a:t>
            </a:r>
          </a:p>
          <a:p/>
          <a:p>
            <a:r>
              <a:t>DEMO C</a:t>
            </a:r>
          </a:p>
          <a:p/>
          <a:p>
            <a:r>
              <a:t>[GARGI drives. Press Alt+Tab until Chrome is in front. Click browser tab 3 (CGM-012).]</a:t>
            </a:r>
          </a:p>
          <a:p/>
          <a:p>
            <a:r>
              <a:t>[Point at the 'Forecast' line showing 65% · ALERT.]</a:t>
            </a:r>
          </a:p>
          <a:p/>
          <a:p>
            <a:r>
              <a:t>DC-L1-G  GARGI</a:t>
            </a:r>
          </a:p>
          <a:p>
            <a:r>
              <a:t>A real participant from CGMacros, with type 2 diabetes. Our models never saw this person. It's lunch, 94 grams of carbohydrate, and the forecast says 65 percent. Alert.</a:t>
            </a:r>
          </a:p>
          <a:p/>
          <a:p>
            <a:r>
              <a:t>[GARGI scrolls to 'What if?', clicks the blue dot of 'Portion of this meal' and presses ← 3 times (70%), then clicks the blue dot of 'Walk after the meal (min)' and presses → 4 times (20). Wait 2 seconds: peak 171 mg/dL (-11), 'Twin's P' 27% (-18 points). If the sliders do not move, click browser tab 4 instead.]</a:t>
            </a:r>
          </a:p>
          <a:p/>
          <a:p>
            <a:r>
              <a:t>DC-L2-T  THARUN</a:t>
            </a:r>
          </a:p>
          <a:p>
            <a:r>
              <a:t>What if they ate 70 percent of it and walked for 20 minutes? The peak drops by about 11, and the twin's own estimate, before we calibrate it, falls from 45 to 27 percent.</a:t>
            </a:r>
          </a:p>
          <a:p/>
          <a:p>
            <a:r>
              <a:t>[Scroll to the top, click the switch 'Reveal what happened next' in the left sidebar. Grey dots appear: what really happened.]</a:t>
            </a:r>
          </a:p>
          <a:p/>
          <a:p>
            <a:r>
              <a:t>DC-L3-G  GARGI</a:t>
            </a:r>
          </a:p>
          <a:p>
            <a:r>
              <a:t>The grey dots are what really happened. The spike did come, so the alert was right. But it went higher than our range, so we got the size wrong. We'd rather show you that than hide it.</a:t>
            </a:r>
          </a:p>
          <a:p/>
          <a:p>
            <a:r>
              <a:t>[GARGI clicks the 'Cohort' box in the sidebar, chooses 'ShanghaiT2DM (real, de-identified, China; no wearable)', waits for the page, and clicks 'Next meal' twice.]</a:t>
            </a:r>
          </a:p>
          <a:p/>
          <a:p>
            <a:r>
              <a:t>DC-L4-T  THARUN</a:t>
            </a:r>
          </a:p>
          <a:p>
            <a:r>
              <a:t>And this is Shanghai. A different country, a different sensor, half the patients on insulin, and nothing was refitted.</a:t>
            </a:r>
          </a:p>
          <a:p/>
          <a:p>
            <a:r>
              <a:t>[GARGI: press Alt+Tab until the slideshow is in front, then press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S19-L1-T  THARUN</a:t>
            </a:r>
          </a:p>
          <a:p>
            <a:r>
              <a:t>We also wanted to see how the twin handles Indian food. So we built six regional groups from the ICMR-INDIAB diet survey, the Indian Nutrient Databank and measured Indian glycaemic indices. Wheat in the North, rice in the South, East and Northeast, millets in the West. On them the hybrid twin has the lowest error, 15.3 against 17.6 for Chronos-2, and it's best in four of the six regions.</a:t>
            </a:r>
          </a:p>
          <a:p/>
          <a:p>
            <a:r>
              <a:t>S19-L2-G  GARGI</a:t>
            </a:r>
          </a:p>
          <a:p>
            <a:r>
              <a:t>But to be fair, the simulator is built on the same kind of physiology as the twin, so the twin has a home advantage here. It's a sanity check, not proof. Real Indian patients are the next step.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S20-L1-G  GARGI</a:t>
            </a:r>
          </a:p>
          <a:p>
            <a:r>
              <a:t>Now what didn't hold up. On the American patients, the twin only ties LightGBM, it doesn't beat it. The lab results didn't give it a significant head start on day one. Its what-ifs aren't better than a standard model at getting the direction right. And we haven't tested on real Indian patients yet.</a:t>
            </a:r>
          </a:p>
          <a:p/>
          <a:p>
            <a:r>
              <a:t>S20-L2-T  THARUN</a:t>
            </a:r>
          </a:p>
          <a:p>
            <a:r>
              <a:t>There are limits too. It's retrospective, we replayed recordings and there was no trial. There's no model of medicines or insulin doses yet. Meals have to be logged. And the advice is lifestyle only, with the doctor in the loop.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D, while Gargi speaks. Alt+Tab until the second black window (the test window) is in front. Type `.venv\Scripts\python -I -m pytest -q` and press Enter. Wait about 20 seconds for '15 passed'. Then Alt+Tab until the slideshow is in front and press →.]</a:t>
            </a:r>
          </a:p>
          <a:p/>
          <a:p>
            <a:r>
              <a:t>S22-L1-G  GARGI</a:t>
            </a:r>
          </a:p>
          <a:p>
            <a:r>
              <a:t>Everything is open. One command reproduces every number, and our tests check the physics, the filter, and that no future data leaks into a forecast. Here they run now.</a:t>
            </a:r>
          </a:p>
          <a:p/>
          <a:p>
            <a:r>
              <a:t>S22-L2-T  THARUN</a:t>
            </a:r>
          </a:p>
          <a:p>
            <a:r>
              <a:t>Fifteen tests, all passing, in about seventeen seconds. The code and notebooks are in our public repository.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S23-L1-G  GARGI</a:t>
            </a:r>
          </a:p>
          <a:p>
            <a:r>
              <a:t>PrandialTwin sees the spike before it happens. Next, we'd like to run a three-month pilot with 100 to 200 Indian patients, and we'd love a hospital partner for it.</a:t>
            </a:r>
          </a:p>
          <a:p/>
          <a:p>
            <a:r>
              <a:t>S23-L2-T  THARUN</a:t>
            </a:r>
          </a:p>
          <a:p>
            <a:r>
              <a:t>Thank you for watching.</a:t>
            </a:r>
          </a:p>
          <a:p/>
          <a:p>
            <a:r>
              <a:t>S23-L3-G  GARGI</a:t>
            </a:r>
          </a:p>
          <a:p>
            <a:r>
              <a:t>Thank you.</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S24-L1-T  THARUN</a:t>
            </a:r>
          </a:p>
          <a:p>
            <a:r>
              <a:t>Every number we've used is referenced here, and in our repository.</a:t>
            </a:r>
          </a:p>
          <a:p/>
          <a:p>
            <a:r>
              <a:t>[Wait five seconds, then stop the recording (OBS, Stop Recording).]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S21-L1-T  THARUN</a:t>
            </a:r>
          </a:p>
          <a:p>
            <a:r>
              <a:t>Here's what it's built with, and all of it is free and open source. The twin itself is written from scratch in Python with NumPy and SciPy. LightGBM and scikit-learn handle the machine learning, and we fine-tuned the AI forecasters in PyTorch on Kaggle's free GPUs.</a:t>
            </a:r>
          </a:p>
          <a:p/>
          <a:p>
            <a:r>
              <a:t>S21-L2-G  GARGI</a:t>
            </a:r>
          </a:p>
          <a:p>
            <a:r>
              <a:t>The doctor's dashboard runs on Streamlit and Plotly, and pytest runs our tests. Every version is pinned, so anyone can rebuild exactly what we ran.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965960"/>
            <a:ext cx="7680960" cy="1554480"/>
          </a:xfrm>
          <a:prstGeom prst="rect">
            <a:avLst/>
          </a:prstGeom>
          <a:noFill/>
          <a:ln/>
        </p:spPr>
        <p:txBody>
          <a:bodyPr wrap="square" rtlCol="0"/>
          <a:lstStyle>
            <a:lvl1pPr marL="0" indent="0" algn="l">
              <a:buNone/>
              <a:defRPr lang="en-US" sz="4600" dirty="0">
                <a:solidFill>
                  <a:srgbClr val="FFFFFF"/>
                </a:solidFill>
                <a:latin typeface="Calibri Light" pitchFamily="34" charset="0"/>
                <a:ea typeface="Calibri Light" pitchFamily="34" charset="-122"/>
                <a:cs typeface="Calibri Light" pitchFamily="34" charset="-120"/>
              </a:defRPr>
            </a:lvl1pPr>
          </a:lstStyle>
          <a:p>
            <a:pPr marL="0" indent="0" algn="l">
              <a:buNone/>
            </a:pPr>
            <a:endParaRPr lang="en-US" sz="4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914400"/>
            <a:ext cx="8686800" cy="1097280"/>
          </a:xfrm>
          <a:prstGeom prst="rect">
            <a:avLst/>
          </a:prstGeom>
          <a:noFill/>
          <a:ln/>
        </p:spPr>
        <p:txBody>
          <a:bodyPr wrap="square" rtlCol="0"/>
          <a:lstStyle>
            <a:lvl1pPr marL="0" indent="0" algn="l">
              <a:buNone/>
              <a:defRPr lang="en-US" sz="4600" dirty="0">
                <a:solidFill>
                  <a:srgbClr val="FFFFFF"/>
                </a:solidFill>
                <a:latin typeface="Calibri Light" pitchFamily="34" charset="0"/>
                <a:ea typeface="Calibri Light" pitchFamily="34" charset="-122"/>
                <a:cs typeface="Calibri Light" pitchFamily="34" charset="-120"/>
              </a:defRPr>
            </a:lvl1pPr>
          </a:lstStyle>
          <a:p>
            <a:pPr marL="0" indent="0" algn="l">
              <a:buNone/>
            </a:pPr>
            <a:endParaRPr lang="en-US" sz="4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097280"/>
            <a:ext cx="10698480" cy="1280160"/>
          </a:xfrm>
          <a:prstGeom prst="rect">
            <a:avLst/>
          </a:prstGeom>
          <a:noFill/>
          <a:ln/>
        </p:spPr>
        <p:txBody>
          <a:bodyPr wrap="square" rtlCol="0"/>
          <a:lstStyle>
            <a:lvl1pPr marL="0" indent="0" algn="l">
              <a:buNone/>
              <a:defRPr lang="en-US" sz="6000" dirty="0">
                <a:solidFill>
                  <a:srgbClr val="FFFFFF"/>
                </a:solidFill>
                <a:latin typeface="Calibri Light" pitchFamily="34" charset="0"/>
                <a:ea typeface="Calibri Light" pitchFamily="34" charset="-122"/>
                <a:cs typeface="Calibri Light" pitchFamily="34" charset="-120"/>
              </a:defRPr>
            </a:lvl1pPr>
          </a:lstStyle>
          <a:p>
            <a:pPr marL="0" indent="0" algn="l">
              <a:buNone/>
            </a:pPr>
            <a:endParaRPr lang="en-US" sz="6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188720"/>
            <a:ext cx="10698480" cy="1645920"/>
          </a:xfrm>
          <a:prstGeom prst="rect">
            <a:avLst/>
          </a:prstGeom>
          <a:noFill/>
          <a:ln/>
        </p:spPr>
        <p:txBody>
          <a:bodyPr wrap="square" rtlCol="0"/>
          <a:lstStyle>
            <a:lvl1pPr marL="0" indent="0" algn="l">
              <a:buNone/>
              <a:defRPr lang="en-US" sz="4400" dirty="0">
                <a:solidFill>
                  <a:srgbClr val="FFFFFF"/>
                </a:solidFill>
                <a:latin typeface="Calibri Light" pitchFamily="34" charset="0"/>
                <a:ea typeface="Calibri Light" pitchFamily="34" charset="-122"/>
                <a:cs typeface="Calibri Light" pitchFamily="34" charset="-120"/>
              </a:defRPr>
            </a:lvl1pPr>
          </a:lstStyle>
          <a:p>
            <a:pPr marL="0" indent="0" algn="l">
              <a:buNone/>
            </a:pPr>
            <a:endParaRPr lang="en-US" sz="4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400" dirty="0">
                <a:solidFill>
                  <a:srgbClr val="FFFFFF"/>
                </a:solidFill>
                <a:latin typeface="Calibri Light" pitchFamily="34" charset="0"/>
                <a:ea typeface="Calibri Light" pitchFamily="34" charset="-122"/>
                <a:cs typeface="Calibri Light" pitchFamily="34" charset="-120"/>
              </a:defRPr>
            </a:lvl1pPr>
          </a:lstStyle>
          <a:p>
            <a:pPr marL="0" indent="0" algn="l">
              <a:buNone/>
            </a:pPr>
            <a:endParaRPr lang="en-US" sz="3400" dirty="0"/>
          </a:p>
        </p:txBody>
      </p:sp>
      <p:sp>
        <p:nvSpPr>
          <p:cNvPr id="3" name="Text 0"/>
          <p:cNvSpPr/>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7D8794"/>
                </a:solidFill>
              </a:rPr>
              <a:t>PrandialTwin  ·  Team Adorable  ·  Happiest Health Digital Twin Challenge 2026</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HOTO">
    <p:bg>
      <p:bgPr>
        <a:solidFill>
          <a:srgbClr val="000000"/>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B7C0CC"/>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2.jp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3.jp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chart" Target="../charts/char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99" Type="http://schemas.openxmlformats.org/officeDocument/2006/relationships/hyperlink" Target="https://github.com/iamtharunj/Adorable_Vellore_Institute_of_Technology"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99" Type="http://schemas.openxmlformats.org/officeDocument/2006/relationships/hyperlink" Target="https://github.com/iamtharunj/Adorable_Vellore_Institute_of_Technology"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kicker"/>
          <p:cNvSpPr txBox="1"/>
          <p:nvPr/>
        </p:nvSpPr>
        <p:spPr>
          <a:xfrm>
            <a:off x="731520" y="1325880"/>
            <a:ext cx="7315200" cy="365760"/>
          </a:xfrm>
          <a:prstGeom prst="rect">
            <a:avLst/>
          </a:prstGeom>
          <a:noFill/>
          <a:ln/>
        </p:spPr>
        <p:txBody>
          <a:bodyPr wrap="square" lIns="0" tIns="0" rIns="0" bIns="0" rtlCol="0" anchor="t"/>
          <a:lstStyle/>
          <a:p>
            <a:pPr marL="0" indent="0">
              <a:buNone/>
            </a:pPr>
            <a:r>
              <a:rPr lang="en-US" sz="1400" b="1" kern="0" spc="300" dirty="0">
                <a:solidFill>
                  <a:srgbClr val="F5A623"/>
                </a:solidFill>
              </a:rPr>
              <a:t>HAPPIEST HEALTH DIGITAL TWIN CHALLENGE 2026</a:t>
            </a:r>
            <a:endParaRPr lang="en-US" sz="1400" dirty="0"/>
          </a:p>
        </p:txBody>
      </p:sp>
      <p:sp>
        <p:nvSpPr>
          <p:cNvPr id="4" name="Text 0"/>
          <p:cNvSpPr>
            <a:spLocks noGrp="1"/>
          </p:cNvSpPr>
          <p:nvPr>
            <p:ph type="title" idx="100" hasCustomPrompt="1"/>
          </p:nvPr>
        </p:nvSpPr>
        <p:spPr>
          <a:xfrm>
            <a:off x="731520" y="1965960"/>
            <a:ext cx="7680960" cy="1554480"/>
          </a:xfrm>
          <a:prstGeom prst="rect">
            <a:avLst/>
          </a:prstGeom>
          <a:noFill/>
          <a:ln/>
        </p:spPr>
        <p:txBody>
          <a:bodyPr wrap="square" lIns="0" tIns="0" rIns="0" bIns="0" rtlCol="0" anchor="b"/>
          <a:lstStyle/>
          <a:p>
            <a:pPr marL="0" indent="0" algn="l">
              <a:buNone/>
            </a:pPr>
            <a:r>
              <a:rPr lang="en-US" sz="4600" dirty="0">
                <a:solidFill>
                  <a:srgbClr val="FFFFFF"/>
                </a:solidFill>
                <a:latin typeface="Calibri Light" pitchFamily="34" charset="0"/>
                <a:ea typeface="Calibri Light" pitchFamily="34" charset="-122"/>
                <a:cs typeface="Calibri Light" pitchFamily="34" charset="-120"/>
              </a:rPr>
              <a:t>See the glucose spike</a:t>
            </a:r>
            <a:endParaRPr lang="en-US" sz="4600" dirty="0"/>
          </a:p>
          <a:p>
            <a:pPr marL="0" indent="0" algn="l">
              <a:buNone/>
            </a:pPr>
            <a:r>
              <a:rPr lang="en-US" sz="4600" dirty="0">
                <a:solidFill>
                  <a:srgbClr val="FFFFFF"/>
                </a:solidFill>
                <a:latin typeface="Calibri Light" pitchFamily="34" charset="0"/>
                <a:ea typeface="Calibri Light" pitchFamily="34" charset="-122"/>
                <a:cs typeface="Calibri Light" pitchFamily="34" charset="-120"/>
              </a:rPr>
              <a:t>before it happens</a:t>
            </a:r>
            <a:endParaRPr lang="en-US" sz="4600" dirty="0"/>
          </a:p>
        </p:txBody>
      </p:sp>
      <p:sp>
        <p:nvSpPr>
          <p:cNvPr id="5" name="subtitle"/>
          <p:cNvSpPr txBox="1"/>
          <p:nvPr/>
        </p:nvSpPr>
        <p:spPr>
          <a:xfrm>
            <a:off x="731520" y="3703320"/>
            <a:ext cx="7498080" cy="731520"/>
          </a:xfrm>
          <a:prstGeom prst="rect">
            <a:avLst/>
          </a:prstGeom>
          <a:noFill/>
          <a:ln/>
        </p:spPr>
        <p:txBody>
          <a:bodyPr wrap="square" lIns="0" tIns="0" rIns="0" bIns="0" rtlCol="0" anchor="t"/>
          <a:lstStyle/>
          <a:p>
            <a:pPr marL="0" indent="0">
              <a:buNone/>
            </a:pPr>
            <a:r>
              <a:rPr lang="en-US" sz="2000" dirty="0">
                <a:solidFill>
                  <a:srgbClr val="B7C0CC"/>
                </a:solidFill>
              </a:rPr>
              <a:t>PrandialTwin: a digital twin for type 2 diabetes and prediabetes in India</a:t>
            </a:r>
            <a:endParaRPr lang="en-US" sz="2000" dirty="0"/>
          </a:p>
        </p:txBody>
      </p:sp>
      <p:sp>
        <p:nvSpPr>
          <p:cNvPr id="6" name="team"/>
          <p:cNvSpPr txBox="1"/>
          <p:nvPr/>
        </p:nvSpPr>
        <p:spPr>
          <a:xfrm>
            <a:off x="731520" y="4754880"/>
            <a:ext cx="7680960" cy="1188720"/>
          </a:xfrm>
          <a:prstGeom prst="rect">
            <a:avLst/>
          </a:prstGeom>
          <a:noFill/>
          <a:ln/>
        </p:spPr>
        <p:txBody>
          <a:bodyPr wrap="square" lIns="0" tIns="0" rIns="0" bIns="0" rtlCol="0" anchor="t"/>
          <a:lstStyle/>
          <a:p>
            <a:pPr marL="0" indent="0">
              <a:buNone/>
            </a:pPr>
            <a:r>
              <a:rPr lang="en-US" sz="2200" b="1" dirty="0">
                <a:solidFill>
                  <a:srgbClr val="FFFFFF"/>
                </a:solidFill>
              </a:rPr>
              <a:t>Team Adorable</a:t>
            </a:r>
            <a:endParaRPr lang="en-US" sz="1400" dirty="0"/>
          </a:p>
          <a:p>
            <a:pPr marL="0" indent="0">
              <a:buNone/>
            </a:pPr>
            <a:r>
              <a:rPr lang="en-US" sz="1600" dirty="0">
                <a:solidFill>
                  <a:srgbClr val="B7C0CC"/>
                </a:solidFill>
              </a:rPr>
              <a:t>Tharun J (team leader)  ·  Vellore Institute of Technology, Vellore</a:t>
            </a:r>
            <a:endParaRPr lang="en-US" sz="1400" dirty="0"/>
          </a:p>
          <a:p>
            <a:pPr marL="0" indent="0">
              <a:buNone/>
            </a:pPr>
            <a:r>
              <a:rPr lang="en-US" sz="1600" dirty="0">
                <a:solidFill>
                  <a:srgbClr val="B7C0CC"/>
                </a:solidFill>
              </a:rPr>
              <a:t>Gargi Sharma  ·  ABES Institute of Technology, Ghaziabad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The headlines are already here</a:t>
            </a:r>
            <a:endParaRPr lang="en-US" sz="3400" dirty="0"/>
          </a:p>
        </p:txBody>
      </p:sp>
      <p:sp>
        <p:nvSpPr>
          <p:cNvPr id="4" name="cutout 1 frame"/>
          <p:cNvSpPr/>
          <p:nvPr/>
        </p:nvSpPr>
        <p:spPr>
          <a:xfrm rot="-120000">
            <a:off x="521208" y="1344168"/>
            <a:ext cx="5266944" cy="1793642"/>
          </a:xfrm>
          <a:prstGeom prst="rect">
            <a:avLst/>
          </a:prstGeom>
          <a:solidFill>
            <a:srgbClr val="FFFFFF"/>
          </a:solidFill>
          <a:ln w="12700">
            <a:solidFill>
              <a:srgbClr val="FFFFFF"/>
            </a:solidFill>
            <a:prstDash val="solid"/>
          </a:ln>
          <a:effectLst>
            <a:outerShdw blurRad="127000" dist="50800" dir="5400000" algn="bl" rotWithShape="0">
              <a:srgbClr val="000000">
                <a:alpha val="60000"/>
              </a:srgbClr>
            </a:outerShdw>
          </a:effectLst>
        </p:spPr>
      </p:sp>
      <p:pic>
        <p:nvPicPr>
          <p:cNvPr id="5" name="cutout 1" descr="C:\Users\tharu\AppData\Local\Temp\claude\D--Mechanical-Engineering-Hackathons-Digital-Twin\df663d0f-c1be-4cb9-9e41-502d36bbd372\scratchpad\deck/cut_gulf.png"/>
          <p:cNvPicPr>
            <a:picLocks noChangeAspect="1"/>
          </p:cNvPicPr>
          <p:nvPr/>
        </p:nvPicPr>
        <p:blipFill>
          <a:blip r:embed="rId3"/>
          <a:stretch>
            <a:fillRect/>
          </a:stretch>
        </p:blipFill>
        <p:spPr>
          <a:xfrm rot="-120000">
            <a:off x="594360" y="1417320"/>
            <a:ext cx="5120640" cy="1647338"/>
          </a:xfrm>
          <a:prstGeom prst="rect">
            <a:avLst/>
          </a:prstGeom>
        </p:spPr>
      </p:pic>
      <p:sp>
        <p:nvSpPr>
          <p:cNvPr id="6" name="cutout 1 caption"/>
          <p:cNvSpPr txBox="1"/>
          <p:nvPr/>
        </p:nvSpPr>
        <p:spPr>
          <a:xfrm>
            <a:off x="548640" y="3246120"/>
            <a:ext cx="5486400" cy="274320"/>
          </a:xfrm>
          <a:prstGeom prst="rect">
            <a:avLst/>
          </a:prstGeom>
          <a:noFill/>
          <a:ln/>
        </p:spPr>
        <p:txBody>
          <a:bodyPr wrap="square" lIns="0" tIns="0" rIns="0" bIns="0" rtlCol="0" anchor="t"/>
          <a:lstStyle/>
          <a:p>
            <a:pPr marL="0" indent="0">
              <a:buNone/>
            </a:pPr>
            <a:r>
              <a:rPr lang="en-US" sz="1100" dirty="0">
                <a:solidFill>
                  <a:srgbClr val="7D8794"/>
                </a:solidFill>
              </a:rPr>
              <a:t>Gulf News (IANS/Reuters), 9 June 2023 [1, 2]</a:t>
            </a:r>
            <a:endParaRPr lang="en-US" sz="1100" dirty="0"/>
          </a:p>
        </p:txBody>
      </p:sp>
      <p:sp>
        <p:nvSpPr>
          <p:cNvPr id="7" name="cutout 2 frame"/>
          <p:cNvSpPr/>
          <p:nvPr/>
        </p:nvSpPr>
        <p:spPr>
          <a:xfrm rot="90000">
            <a:off x="6099048" y="1252728"/>
            <a:ext cx="5541264" cy="1460012"/>
          </a:xfrm>
          <a:prstGeom prst="rect">
            <a:avLst/>
          </a:prstGeom>
          <a:solidFill>
            <a:srgbClr val="FFFFFF"/>
          </a:solidFill>
          <a:ln w="12700">
            <a:solidFill>
              <a:srgbClr val="FFFFFF"/>
            </a:solidFill>
            <a:prstDash val="solid"/>
          </a:ln>
          <a:effectLst>
            <a:outerShdw blurRad="127000" dist="50800" dir="5400000" algn="bl" rotWithShape="0">
              <a:srgbClr val="000000">
                <a:alpha val="60000"/>
              </a:srgbClr>
            </a:outerShdw>
          </a:effectLst>
        </p:spPr>
      </p:sp>
      <p:pic>
        <p:nvPicPr>
          <p:cNvPr id="8" name="cutout 2" descr="C:\Users\tharu\AppData\Local\Temp\claude\D--Mechanical-Engineering-Hackathons-Digital-Twin\df663d0f-c1be-4cb9-9e41-502d36bbd372\scratchpad\deck/cut_imperial.png"/>
          <p:cNvPicPr>
            <a:picLocks noChangeAspect="1"/>
          </p:cNvPicPr>
          <p:nvPr/>
        </p:nvPicPr>
        <p:blipFill>
          <a:blip r:embed="rId4"/>
          <a:stretch>
            <a:fillRect/>
          </a:stretch>
        </p:blipFill>
        <p:spPr>
          <a:xfrm rot="90000">
            <a:off x="6172200" y="1325880"/>
            <a:ext cx="5394960" cy="1313708"/>
          </a:xfrm>
          <a:prstGeom prst="rect">
            <a:avLst/>
          </a:prstGeom>
        </p:spPr>
      </p:pic>
      <p:sp>
        <p:nvSpPr>
          <p:cNvPr id="9" name="cutout 2 caption"/>
          <p:cNvSpPr txBox="1"/>
          <p:nvPr/>
        </p:nvSpPr>
        <p:spPr>
          <a:xfrm>
            <a:off x="6172200" y="2880360"/>
            <a:ext cx="5486400" cy="274320"/>
          </a:xfrm>
          <a:prstGeom prst="rect">
            <a:avLst/>
          </a:prstGeom>
          <a:noFill/>
          <a:ln/>
        </p:spPr>
        <p:txBody>
          <a:bodyPr wrap="square" lIns="0" tIns="0" rIns="0" bIns="0" rtlCol="0" anchor="t"/>
          <a:lstStyle/>
          <a:p>
            <a:pPr marL="0" indent="0">
              <a:buNone/>
            </a:pPr>
            <a:r>
              <a:rPr lang="en-US" sz="1100" dirty="0">
                <a:solidFill>
                  <a:srgbClr val="7D8794"/>
                </a:solidFill>
              </a:rPr>
              <a:t>Imperial College London, 13 Nov 2024: NCD-RisC in The Lancet [3]</a:t>
            </a:r>
            <a:endParaRPr lang="en-US" sz="1100" dirty="0"/>
          </a:p>
        </p:txBody>
      </p:sp>
      <p:sp>
        <p:nvSpPr>
          <p:cNvPr id="10" name="cutout 3 frame"/>
          <p:cNvSpPr/>
          <p:nvPr/>
        </p:nvSpPr>
        <p:spPr>
          <a:xfrm rot="90000">
            <a:off x="658368" y="3630168"/>
            <a:ext cx="4169664" cy="2299395"/>
          </a:xfrm>
          <a:prstGeom prst="rect">
            <a:avLst/>
          </a:prstGeom>
          <a:solidFill>
            <a:srgbClr val="FFFFFF"/>
          </a:solidFill>
          <a:ln w="12700">
            <a:solidFill>
              <a:srgbClr val="FFFFFF"/>
            </a:solidFill>
            <a:prstDash val="solid"/>
          </a:ln>
          <a:effectLst>
            <a:outerShdw blurRad="127000" dist="50800" dir="5400000" algn="bl" rotWithShape="0">
              <a:srgbClr val="000000">
                <a:alpha val="60000"/>
              </a:srgbClr>
            </a:outerShdw>
          </a:effectLst>
        </p:spPr>
      </p:sp>
      <p:pic>
        <p:nvPicPr>
          <p:cNvPr id="11" name="cutout 3" descr="C:\Users\tharu\AppData\Local\Temp\claude\D--Mechanical-Engineering-Hackathons-Digital-Twin\df663d0f-c1be-4cb9-9e41-502d36bbd372\scratchpad\deck/cut_idf.png"/>
          <p:cNvPicPr>
            <a:picLocks noChangeAspect="1"/>
          </p:cNvPicPr>
          <p:nvPr/>
        </p:nvPicPr>
        <p:blipFill>
          <a:blip r:embed="rId5"/>
          <a:stretch>
            <a:fillRect/>
          </a:stretch>
        </p:blipFill>
        <p:spPr>
          <a:xfrm rot="90000">
            <a:off x="731520" y="3703320"/>
            <a:ext cx="4023360" cy="2153091"/>
          </a:xfrm>
          <a:prstGeom prst="rect">
            <a:avLst/>
          </a:prstGeom>
        </p:spPr>
      </p:pic>
      <p:sp>
        <p:nvSpPr>
          <p:cNvPr id="12" name="cutout 3 caption"/>
          <p:cNvSpPr txBox="1"/>
          <p:nvPr/>
        </p:nvSpPr>
        <p:spPr>
          <a:xfrm>
            <a:off x="731520" y="5989320"/>
            <a:ext cx="5486400" cy="274320"/>
          </a:xfrm>
          <a:prstGeom prst="rect">
            <a:avLst/>
          </a:prstGeom>
          <a:noFill/>
          <a:ln/>
        </p:spPr>
        <p:txBody>
          <a:bodyPr wrap="square" lIns="0" tIns="0" rIns="0" bIns="0" rtlCol="0" anchor="t"/>
          <a:lstStyle/>
          <a:p>
            <a:pPr marL="0" indent="0">
              <a:buNone/>
            </a:pPr>
            <a:r>
              <a:rPr lang="en-US" sz="1100" dirty="0">
                <a:solidFill>
                  <a:srgbClr val="7D8794"/>
                </a:solidFill>
              </a:rPr>
              <a:t>IDF Diabetes Atlas 2025, India country report [5]</a:t>
            </a:r>
            <a:endParaRPr lang="en-US" sz="1100" dirty="0"/>
          </a:p>
        </p:txBody>
      </p:sp>
      <p:sp>
        <p:nvSpPr>
          <p:cNvPr id="13" name="cutout 4 frame"/>
          <p:cNvSpPr/>
          <p:nvPr/>
        </p:nvSpPr>
        <p:spPr>
          <a:xfrm rot="-60000">
            <a:off x="5367528" y="3721608"/>
            <a:ext cx="6318504" cy="828185"/>
          </a:xfrm>
          <a:prstGeom prst="rect">
            <a:avLst/>
          </a:prstGeom>
          <a:solidFill>
            <a:srgbClr val="FFFFFF"/>
          </a:solidFill>
          <a:ln w="12700">
            <a:solidFill>
              <a:srgbClr val="FFFFFF"/>
            </a:solidFill>
            <a:prstDash val="solid"/>
          </a:ln>
          <a:effectLst>
            <a:outerShdw blurRad="127000" dist="50800" dir="5400000" algn="bl" rotWithShape="0">
              <a:srgbClr val="000000">
                <a:alpha val="60000"/>
              </a:srgbClr>
            </a:outerShdw>
          </a:effectLst>
        </p:spPr>
      </p:sp>
      <p:pic>
        <p:nvPicPr>
          <p:cNvPr id="14" name="cutout 4" descr="C:\Users\tharu\AppData\Local\Temp\claude\D--Mechanical-Engineering-Hackathons-Digital-Twin\df663d0f-c1be-4cb9-9e41-502d36bbd372\scratchpad\deck/cut_who.png"/>
          <p:cNvPicPr>
            <a:picLocks noChangeAspect="1"/>
          </p:cNvPicPr>
          <p:nvPr/>
        </p:nvPicPr>
        <p:blipFill>
          <a:blip r:embed="rId6"/>
          <a:stretch>
            <a:fillRect/>
          </a:stretch>
        </p:blipFill>
        <p:spPr>
          <a:xfrm rot="-60000">
            <a:off x="5440680" y="3794760"/>
            <a:ext cx="6172200" cy="681881"/>
          </a:xfrm>
          <a:prstGeom prst="rect">
            <a:avLst/>
          </a:prstGeom>
        </p:spPr>
      </p:pic>
      <p:sp>
        <p:nvSpPr>
          <p:cNvPr id="15" name="cutout 4 caption"/>
          <p:cNvSpPr txBox="1"/>
          <p:nvPr/>
        </p:nvSpPr>
        <p:spPr>
          <a:xfrm>
            <a:off x="5440680" y="4800600"/>
            <a:ext cx="5486400" cy="274320"/>
          </a:xfrm>
          <a:prstGeom prst="rect">
            <a:avLst/>
          </a:prstGeom>
          <a:noFill/>
          <a:ln/>
        </p:spPr>
        <p:txBody>
          <a:bodyPr wrap="square" lIns="0" tIns="0" rIns="0" bIns="0" rtlCol="0" anchor="t"/>
          <a:lstStyle/>
          <a:p>
            <a:pPr marL="0" indent="0">
              <a:buNone/>
            </a:pPr>
            <a:r>
              <a:rPr lang="en-US" sz="1100" dirty="0">
                <a:solidFill>
                  <a:srgbClr val="7D8794"/>
                </a:solidFill>
              </a:rPr>
              <a:t>WHO diabetes fact sheet, 14 Nov 2024 [4]</a:t>
            </a:r>
            <a:endParaRPr lang="en-US" sz="1100" dirty="0"/>
          </a:p>
        </p:txBody>
      </p:sp>
      <p:sp>
        <p:nvSpPr>
          <p:cNvPr id="16" name="cutout note"/>
          <p:cNvSpPr txBox="1"/>
          <p:nvPr/>
        </p:nvSpPr>
        <p:spPr>
          <a:xfrm>
            <a:off x="5440680" y="5257800"/>
            <a:ext cx="6172200" cy="457200"/>
          </a:xfrm>
          <a:prstGeom prst="rect">
            <a:avLst/>
          </a:prstGeom>
          <a:noFill/>
          <a:ln/>
        </p:spPr>
        <p:txBody>
          <a:bodyPr wrap="square" lIns="0" tIns="0" rIns="0" bIns="0" rtlCol="0" anchor="t"/>
          <a:lstStyle/>
          <a:p>
            <a:pPr marL="0" indent="0">
              <a:buNone/>
            </a:pPr>
            <a:r>
              <a:rPr lang="en-US" sz="1500" i="1" dirty="0">
                <a:solidFill>
                  <a:srgbClr val="B7C0CC"/>
                </a:solidFill>
              </a:rPr>
              <a:t>Yellow marks are ours. Every number in this talk is referenced at the end.</a:t>
            </a:r>
            <a:endParaRPr lang="en-US" sz="15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Chennai street photo" descr="C:\Users\tharu\AppData\Local\Temp\claude\D--Mechanical-Engineering-Hackathons-Digital-Twin\df663d0f-c1be-4cb9-9e41-502d36bbd372\scratchpad\deck/crowd_tnagar.jpg"/>
          <p:cNvPicPr>
            <a:picLocks noChangeAspect="1"/>
          </p:cNvPicPr>
          <p:nvPr/>
        </p:nvPicPr>
        <p:blipFill>
          <a:blip r:embed="rId3"/>
          <a:srcRect/>
          <a:stretch/>
        </p:blipFill>
        <p:spPr>
          <a:xfrm>
            <a:off x="0" y="0"/>
            <a:ext cx="12191695" cy="6858000"/>
          </a:xfrm>
          <a:prstGeom prst="rect">
            <a:avLst/>
          </a:prstGeom>
        </p:spPr>
      </p:pic>
      <p:pic>
        <p:nvPicPr>
          <p:cNvPr id="4" name="shade" descr="C:\Users\tharu\AppData\Local\Temp\claude\D--Mechanical-Engineering-Hackathons-Digital-Twin\df663d0f-c1be-4cb9-9e41-502d36bbd372\scratchpad\deck/shade_left.png"/>
          <p:cNvPicPr>
            <a:picLocks noChangeAspect="1"/>
          </p:cNvPicPr>
          <p:nvPr/>
        </p:nvPicPr>
        <p:blipFill>
          <a:blip r:embed="rId4"/>
          <a:stretch>
            <a:fillRect/>
          </a:stretch>
        </p:blipFill>
        <p:spPr>
          <a:xfrm>
            <a:off x="0" y="0"/>
            <a:ext cx="12191695" cy="6858000"/>
          </a:xfrm>
          <a:prstGeom prst="rect">
            <a:avLst/>
          </a:prstGeom>
        </p:spPr>
      </p:pic>
      <p:sp>
        <p:nvSpPr>
          <p:cNvPr id="5" name="big number"/>
          <p:cNvSpPr txBox="1"/>
          <p:nvPr/>
        </p:nvSpPr>
        <p:spPr>
          <a:xfrm>
            <a:off x="640080" y="1280160"/>
            <a:ext cx="6400800" cy="1554480"/>
          </a:xfrm>
          <a:prstGeom prst="rect">
            <a:avLst/>
          </a:prstGeom>
          <a:noFill/>
          <a:ln/>
        </p:spPr>
        <p:txBody>
          <a:bodyPr wrap="square" lIns="0" tIns="0" rIns="0" bIns="0" rtlCol="0" anchor="t"/>
          <a:lstStyle/>
          <a:p>
            <a:pPr marL="0" indent="0">
              <a:buNone/>
            </a:pPr>
            <a:r>
              <a:rPr lang="en-US" sz="11000" b="1" dirty="0">
                <a:solidFill>
                  <a:srgbClr val="F5A623"/>
                </a:solidFill>
              </a:rPr>
              <a:t>1 in 4</a:t>
            </a:r>
            <a:endParaRPr lang="en-US" sz="11000" dirty="0"/>
          </a:p>
        </p:txBody>
      </p:sp>
      <p:sp>
        <p:nvSpPr>
          <p:cNvPr id="6" name="big label"/>
          <p:cNvSpPr txBox="1"/>
          <p:nvPr/>
        </p:nvSpPr>
        <p:spPr>
          <a:xfrm>
            <a:off x="685800" y="2880360"/>
            <a:ext cx="7132320" cy="914400"/>
          </a:xfrm>
          <a:prstGeom prst="rect">
            <a:avLst/>
          </a:prstGeom>
          <a:noFill/>
          <a:ln/>
        </p:spPr>
        <p:txBody>
          <a:bodyPr wrap="square" lIns="0" tIns="0" rIns="0" bIns="0" rtlCol="0" anchor="t"/>
          <a:lstStyle/>
          <a:p>
            <a:pPr marL="0" indent="0">
              <a:buNone/>
            </a:pPr>
            <a:r>
              <a:rPr lang="en-US" sz="3000" dirty="0">
                <a:solidFill>
                  <a:srgbClr val="FFFFFF"/>
                </a:solidFill>
              </a:rPr>
              <a:t>Indian adults has diabetes or prediabetes</a:t>
            </a:r>
            <a:endParaRPr lang="en-US" sz="3000" dirty="0"/>
          </a:p>
        </p:txBody>
      </p:sp>
      <p:sp>
        <p:nvSpPr>
          <p:cNvPr id="7" name="counts"/>
          <p:cNvSpPr txBox="1"/>
          <p:nvPr/>
        </p:nvSpPr>
        <p:spPr>
          <a:xfrm>
            <a:off x="685800" y="4023360"/>
            <a:ext cx="6858000" cy="457200"/>
          </a:xfrm>
          <a:prstGeom prst="rect">
            <a:avLst/>
          </a:prstGeom>
          <a:noFill/>
          <a:ln/>
        </p:spPr>
        <p:txBody>
          <a:bodyPr wrap="square" lIns="0" tIns="0" rIns="0" bIns="0" rtlCol="0" anchor="t"/>
          <a:lstStyle/>
          <a:p>
            <a:pPr marL="0" indent="0">
              <a:buNone/>
            </a:pPr>
            <a:r>
              <a:rPr lang="en-US" sz="2000" b="1" dirty="0">
                <a:solidFill>
                  <a:srgbClr val="111111"/>
                </a:solidFill>
                <a:highlight>
                  <a:srgbClr val="FFE14D"/>
                </a:highlight>
              </a:rPr>
              <a:t>101 million</a:t>
            </a:r>
            <a:r>
              <a:rPr lang="en-US" sz="2000" dirty="0">
                <a:solidFill>
                  <a:srgbClr val="FFFFFF"/>
                </a:solidFill>
              </a:rPr>
              <a:t> with diabetes    </a:t>
            </a:r>
            <a:r>
              <a:rPr lang="en-US" sz="2000" b="1" dirty="0">
                <a:solidFill>
                  <a:srgbClr val="111111"/>
                </a:solidFill>
                <a:highlight>
                  <a:srgbClr val="FFE14D"/>
                </a:highlight>
              </a:rPr>
              <a:t>136 million</a:t>
            </a:r>
            <a:r>
              <a:rPr lang="en-US" sz="2000" dirty="0">
                <a:solidFill>
                  <a:srgbClr val="FFFFFF"/>
                </a:solidFill>
              </a:rPr>
              <a:t> with prediabetes</a:t>
            </a:r>
            <a:endParaRPr lang="en-US" sz="2000" dirty="0"/>
          </a:p>
        </p:txBody>
      </p:sp>
      <p:sp>
        <p:nvSpPr>
          <p:cNvPr id="8"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B7C0CC"/>
                </a:solidFill>
              </a:rPr>
              <a:t>ICMR-INDIAB-17 [2]. Photo: T. Nagar, Chennai, McKay Savage from London, UK (CC BY 2.0), Wikimedia Commons</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B7C0CC"/>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thali photo" descr="C:\Users\tharu\AppData\Local\Temp\claude\D--Mechanical-Engineering-Hackathons-Digital-Twin\df663d0f-c1be-4cb9-9e41-502d36bbd372\scratchpad\deck/kerala_thali.jpg"/>
          <p:cNvPicPr>
            <a:picLocks noChangeAspect="1"/>
          </p:cNvPicPr>
          <p:nvPr/>
        </p:nvPicPr>
        <p:blipFill>
          <a:blip r:embed="rId3"/>
          <a:srcRect/>
          <a:stretch/>
        </p:blipFill>
        <p:spPr>
          <a:xfrm>
            <a:off x="0" y="0"/>
            <a:ext cx="12191695" cy="6858000"/>
          </a:xfrm>
          <a:prstGeom prst="rect">
            <a:avLst/>
          </a:prstGeom>
        </p:spPr>
      </p:pic>
      <p:pic>
        <p:nvPicPr>
          <p:cNvPr id="4" name="shade" descr="C:\Users\tharu\AppData\Local\Temp\claude\D--Mechanical-Engineering-Hackathons-Digital-Twin\df663d0f-c1be-4cb9-9e41-502d36bbd372\scratchpad\deck/shade_left.png"/>
          <p:cNvPicPr>
            <a:picLocks noChangeAspect="1"/>
          </p:cNvPicPr>
          <p:nvPr/>
        </p:nvPicPr>
        <p:blipFill>
          <a:blip r:embed="rId4"/>
          <a:stretch>
            <a:fillRect/>
          </a:stretch>
        </p:blipFill>
        <p:spPr>
          <a:xfrm>
            <a:off x="0" y="0"/>
            <a:ext cx="12191695" cy="6858000"/>
          </a:xfrm>
          <a:prstGeom prst="rect">
            <a:avLst/>
          </a:prstGeom>
        </p:spPr>
      </p:pic>
      <p:sp>
        <p:nvSpPr>
          <p:cNvPr id="5" name="photo title"/>
          <p:cNvSpPr txBox="1"/>
          <p:nvPr/>
        </p:nvSpPr>
        <p:spPr>
          <a:xfrm>
            <a:off x="640080" y="502920"/>
            <a:ext cx="6858000" cy="822960"/>
          </a:xfrm>
          <a:prstGeom prst="rect">
            <a:avLst/>
          </a:prstGeom>
          <a:noFill/>
          <a:ln/>
        </p:spPr>
        <p:txBody>
          <a:bodyPr wrap="square" lIns="0" tIns="0" rIns="0" bIns="0" rtlCol="0" anchor="t"/>
          <a:lstStyle/>
          <a:p>
            <a:pPr marL="0" indent="0">
              <a:buNone/>
            </a:pPr>
            <a:r>
              <a:rPr lang="en-US" sz="3400" dirty="0">
                <a:solidFill>
                  <a:srgbClr val="FFFFFF"/>
                </a:solidFill>
                <a:latin typeface="Calibri Light" pitchFamily="34" charset="0"/>
                <a:ea typeface="Calibri Light" pitchFamily="34" charset="-122"/>
                <a:cs typeface="Calibri Light" pitchFamily="34" charset="-120"/>
              </a:rPr>
              <a:t>A plate built on rice, three times a day</a:t>
            </a:r>
            <a:endParaRPr lang="en-US" sz="3400" dirty="0"/>
          </a:p>
        </p:txBody>
      </p:sp>
      <p:sp>
        <p:nvSpPr>
          <p:cNvPr id="6" name="carb share"/>
          <p:cNvSpPr txBox="1"/>
          <p:nvPr/>
        </p:nvSpPr>
        <p:spPr>
          <a:xfrm>
            <a:off x="640080" y="1600200"/>
            <a:ext cx="4572000" cy="1051560"/>
          </a:xfrm>
          <a:prstGeom prst="rect">
            <a:avLst/>
          </a:prstGeom>
          <a:noFill/>
          <a:ln/>
        </p:spPr>
        <p:txBody>
          <a:bodyPr wrap="square" lIns="0" tIns="0" rIns="0" bIns="0" rtlCol="0" anchor="t"/>
          <a:lstStyle/>
          <a:p>
            <a:pPr marL="0" indent="0">
              <a:buNone/>
            </a:pPr>
            <a:r>
              <a:rPr lang="en-US" sz="7200" b="1" dirty="0">
                <a:solidFill>
                  <a:srgbClr val="F5A623"/>
                </a:solidFill>
              </a:rPr>
              <a:t>61.6%</a:t>
            </a:r>
            <a:endParaRPr lang="en-US" sz="7200" dirty="0"/>
          </a:p>
        </p:txBody>
      </p:sp>
      <p:sp>
        <p:nvSpPr>
          <p:cNvPr id="7" name="carb label"/>
          <p:cNvSpPr txBox="1"/>
          <p:nvPr/>
        </p:nvSpPr>
        <p:spPr>
          <a:xfrm>
            <a:off x="685800" y="2651760"/>
            <a:ext cx="5669280" cy="777240"/>
          </a:xfrm>
          <a:prstGeom prst="rect">
            <a:avLst/>
          </a:prstGeom>
          <a:noFill/>
          <a:ln/>
        </p:spPr>
        <p:txBody>
          <a:bodyPr wrap="square" lIns="0" tIns="0" rIns="0" bIns="0" rtlCol="0" anchor="t"/>
          <a:lstStyle/>
          <a:p>
            <a:pPr marL="0" indent="0">
              <a:buNone/>
            </a:pPr>
            <a:r>
              <a:rPr lang="en-US" sz="2200" dirty="0">
                <a:solidFill>
                  <a:srgbClr val="FFFFFF"/>
                </a:solidFill>
              </a:rPr>
              <a:t>of the energy in the average Indian diet is </a:t>
            </a:r>
            <a:r>
              <a:rPr lang="en-US" sz="2200" b="1" dirty="0">
                <a:solidFill>
                  <a:srgbClr val="111111"/>
                </a:solidFill>
                <a:highlight>
                  <a:srgbClr val="FFE14D"/>
                </a:highlight>
              </a:rPr>
              <a:t>carbohydrate</a:t>
            </a:r>
            <a:endParaRPr lang="en-US" sz="2200" dirty="0"/>
          </a:p>
        </p:txBody>
      </p:sp>
      <p:sp>
        <p:nvSpPr>
          <p:cNvPr id="8" name="time above range"/>
          <p:cNvSpPr txBox="1"/>
          <p:nvPr/>
        </p:nvSpPr>
        <p:spPr>
          <a:xfrm>
            <a:off x="640080" y="3611880"/>
            <a:ext cx="4572000" cy="1051560"/>
          </a:xfrm>
          <a:prstGeom prst="rect">
            <a:avLst/>
          </a:prstGeom>
          <a:noFill/>
          <a:ln/>
        </p:spPr>
        <p:txBody>
          <a:bodyPr wrap="square" lIns="0" tIns="0" rIns="0" bIns="0" rtlCol="0" anchor="t"/>
          <a:lstStyle/>
          <a:p>
            <a:pPr marL="0" indent="0">
              <a:buNone/>
            </a:pPr>
            <a:r>
              <a:rPr lang="en-US" sz="7200" b="1" dirty="0">
                <a:solidFill>
                  <a:srgbClr val="F5A623"/>
                </a:solidFill>
              </a:rPr>
              <a:t>53.5%</a:t>
            </a:r>
            <a:endParaRPr lang="en-US" sz="7200" dirty="0"/>
          </a:p>
        </p:txBody>
      </p:sp>
      <p:sp>
        <p:nvSpPr>
          <p:cNvPr id="9" name="tar label"/>
          <p:cNvSpPr txBox="1"/>
          <p:nvPr/>
        </p:nvSpPr>
        <p:spPr>
          <a:xfrm>
            <a:off x="685800" y="4663440"/>
            <a:ext cx="5760720" cy="868680"/>
          </a:xfrm>
          <a:prstGeom prst="rect">
            <a:avLst/>
          </a:prstGeom>
          <a:noFill/>
          <a:ln/>
        </p:spPr>
        <p:txBody>
          <a:bodyPr wrap="square" lIns="0" tIns="0" rIns="0" bIns="0" rtlCol="0" anchor="t"/>
          <a:lstStyle/>
          <a:p>
            <a:pPr marL="0" indent="0">
              <a:buNone/>
            </a:pPr>
            <a:r>
              <a:rPr lang="en-US" sz="2000" dirty="0">
                <a:solidFill>
                  <a:srgbClr val="FFFFFF"/>
                </a:solidFill>
              </a:rPr>
              <a:t>of the time </a:t>
            </a:r>
            <a:r>
              <a:rPr lang="en-US" sz="2000" b="1" dirty="0">
                <a:solidFill>
                  <a:srgbClr val="111111"/>
                </a:solidFill>
                <a:highlight>
                  <a:srgbClr val="FFE14D"/>
                </a:highlight>
              </a:rPr>
              <a:t>above range</a:t>
            </a:r>
            <a:r>
              <a:rPr lang="en-US" sz="2000" dirty="0">
                <a:solidFill>
                  <a:srgbClr val="FFFFFF"/>
                </a:solidFill>
              </a:rPr>
              <a:t> in 649 Indian patients with type 2 diabetes, on their first glucose sensor</a:t>
            </a:r>
            <a:endParaRPr lang="en-US" sz="2000" dirty="0"/>
          </a:p>
        </p:txBody>
      </p:sp>
      <p:sp>
        <p:nvSpPr>
          <p:cNvPr id="10"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B7C0CC"/>
                </a:solidFill>
              </a:rPr>
              <a:t>Diet [6]; sensor study [7]. Photo: vegetarian Kerala thali, Rekhashastry (CC BY-SA 4.0), Wikimedia Commons</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B7C0CC"/>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Diabetes care sees the average, not the spike</a:t>
            </a:r>
            <a:endParaRPr lang="en-US" sz="3400" dirty="0"/>
          </a:p>
        </p:txBody>
      </p:sp>
      <p:pic>
        <p:nvPicPr>
          <p:cNvPr id="4" name="finger-prick photo" descr="C:\Users\tharu\AppData\Local\Temp\claude\D--Mechanical-Engineering-Hackathons-Digital-Twin\df663d0f-c1be-4cb9-9e41-502d36bbd372\scratchpad\deck/finger_test.jpg"/>
          <p:cNvPicPr>
            <a:picLocks noChangeAspect="1"/>
          </p:cNvPicPr>
          <p:nvPr/>
        </p:nvPicPr>
        <p:blipFill>
          <a:blip r:embed="rId3"/>
          <a:srcRect/>
          <a:stretch/>
        </p:blipFill>
        <p:spPr>
          <a:xfrm>
            <a:off x="548640" y="1874520"/>
            <a:ext cx="3017520" cy="2880360"/>
          </a:xfrm>
          <a:prstGeom prst="rect">
            <a:avLst/>
          </a:prstGeom>
        </p:spPr>
      </p:pic>
      <p:graphicFrame>
        <p:nvGraphicFramePr>
          <p:cNvPr id="5" name="day chart"/>
          <p:cNvGraphicFramePr/>
          <p:nvPr/>
        </p:nvGraphicFramePr>
        <p:xfrm>
          <a:off x="3794760" y="1280160"/>
          <a:ext cx="5120640" cy="3886200"/>
        </p:xfrm>
        <a:graphic>
          <a:graphicData uri="http://schemas.openxmlformats.org/drawingml/2006/chart">
            <c:chart xmlns:c="http://schemas.openxmlformats.org/drawingml/2006/chart" xmlns:r="http://schemas.openxmlformats.org/officeDocument/2006/relationships" r:id="rId4"/>
          </a:graphicData>
        </a:graphic>
      </p:graphicFrame>
      <p:sp>
        <p:nvSpPr>
          <p:cNvPr id="6" name="meal list"/>
          <p:cNvSpPr txBox="1"/>
          <p:nvPr/>
        </p:nvSpPr>
        <p:spPr>
          <a:xfrm>
            <a:off x="3794760" y="5257800"/>
            <a:ext cx="5120640" cy="548640"/>
          </a:xfrm>
          <a:prstGeom prst="rect">
            <a:avLst/>
          </a:prstGeom>
          <a:noFill/>
          <a:ln/>
        </p:spPr>
        <p:txBody>
          <a:bodyPr wrap="square" lIns="0" tIns="0" rIns="0" bIns="0" rtlCol="0" anchor="t"/>
          <a:lstStyle/>
          <a:p>
            <a:pPr marL="0" indent="0">
              <a:buNone/>
            </a:pPr>
            <a:r>
              <a:rPr lang="en-US" sz="1200" dirty="0">
                <a:solidFill>
                  <a:srgbClr val="B7C0CC"/>
                </a:solidFill>
              </a:rPr>
              <a:t>Meals: 08:30 rava upma  ·  12:15 vangi bhat, curd  ·  17:15 chickpea sundal  ·  21:10 biryani, raita</a:t>
            </a:r>
            <a:endParaRPr lang="en-US" sz="1200" dirty="0"/>
          </a:p>
        </p:txBody>
      </p:sp>
      <p:sp>
        <p:nvSpPr>
          <p:cNvPr id="7" name="note 1"/>
          <p:cNvSpPr/>
          <p:nvPr/>
        </p:nvSpPr>
        <p:spPr>
          <a:xfrm>
            <a:off x="9098280" y="1325880"/>
            <a:ext cx="2514600" cy="1371600"/>
          </a:xfrm>
          <a:prstGeom prst="roundRect">
            <a:avLst>
              <a:gd name="adj" fmla="val 6667"/>
            </a:avLst>
          </a:prstGeom>
          <a:solidFill>
            <a:srgbClr val="141820"/>
          </a:solidFill>
          <a:ln w="9525">
            <a:solidFill>
              <a:srgbClr val="283040"/>
            </a:solidFill>
            <a:prstDash val="solid"/>
          </a:ln>
        </p:spPr>
      </p:sp>
      <p:sp>
        <p:nvSpPr>
          <p:cNvPr id="8" name="note 1 text"/>
          <p:cNvSpPr txBox="1"/>
          <p:nvPr/>
        </p:nvSpPr>
        <p:spPr>
          <a:xfrm>
            <a:off x="9281160" y="1417320"/>
            <a:ext cx="2194560" cy="1188720"/>
          </a:xfrm>
          <a:prstGeom prst="rect">
            <a:avLst/>
          </a:prstGeom>
          <a:noFill/>
          <a:ln/>
        </p:spPr>
        <p:txBody>
          <a:bodyPr wrap="square" lIns="0" tIns="0" rIns="0" bIns="0" rtlCol="0" anchor="ctr"/>
          <a:lstStyle/>
          <a:p>
            <a:pPr marL="0" indent="0">
              <a:buNone/>
            </a:pPr>
            <a:r>
              <a:rPr lang="en-US" sz="1600" b="1" dirty="0">
                <a:solidFill>
                  <a:srgbClr val="FFFFFF"/>
                </a:solidFill>
              </a:rPr>
              <a:t>Every 3 months</a:t>
            </a:r>
            <a:endParaRPr lang="en-US" sz="1400" dirty="0"/>
          </a:p>
          <a:p>
            <a:pPr marL="0" indent="0">
              <a:buNone/>
            </a:pPr>
            <a:r>
              <a:rPr lang="en-US" sz="1300" dirty="0">
                <a:solidFill>
                  <a:srgbClr val="B7C0CC"/>
                </a:solidFill>
              </a:rPr>
              <a:t>an HbA1c test averages the spikes away</a:t>
            </a:r>
            <a:endParaRPr lang="en-US" sz="1400" dirty="0"/>
          </a:p>
        </p:txBody>
      </p:sp>
      <p:sp>
        <p:nvSpPr>
          <p:cNvPr id="9" name="note 2"/>
          <p:cNvSpPr/>
          <p:nvPr/>
        </p:nvSpPr>
        <p:spPr>
          <a:xfrm>
            <a:off x="9098280" y="2862072"/>
            <a:ext cx="2514600" cy="1371600"/>
          </a:xfrm>
          <a:prstGeom prst="roundRect">
            <a:avLst>
              <a:gd name="adj" fmla="val 6667"/>
            </a:avLst>
          </a:prstGeom>
          <a:solidFill>
            <a:srgbClr val="141820"/>
          </a:solidFill>
          <a:ln w="9525">
            <a:solidFill>
              <a:srgbClr val="283040"/>
            </a:solidFill>
            <a:prstDash val="solid"/>
          </a:ln>
        </p:spPr>
      </p:sp>
      <p:sp>
        <p:nvSpPr>
          <p:cNvPr id="10" name="note 2 text"/>
          <p:cNvSpPr txBox="1"/>
          <p:nvPr/>
        </p:nvSpPr>
        <p:spPr>
          <a:xfrm>
            <a:off x="9281160" y="2953512"/>
            <a:ext cx="2194560" cy="1188720"/>
          </a:xfrm>
          <a:prstGeom prst="rect">
            <a:avLst/>
          </a:prstGeom>
          <a:noFill/>
          <a:ln/>
        </p:spPr>
        <p:txBody>
          <a:bodyPr wrap="square" lIns="0" tIns="0" rIns="0" bIns="0" rtlCol="0" anchor="ctr"/>
          <a:lstStyle/>
          <a:p>
            <a:pPr marL="0" indent="0">
              <a:buNone/>
            </a:pPr>
            <a:r>
              <a:rPr lang="en-US" sz="1600" b="1" dirty="0">
                <a:solidFill>
                  <a:srgbClr val="FFFFFF"/>
                </a:solidFill>
              </a:rPr>
              <a:t>After 14 days</a:t>
            </a:r>
            <a:endParaRPr lang="en-US" sz="1400" dirty="0"/>
          </a:p>
          <a:p>
            <a:pPr marL="0" indent="0">
              <a:buNone/>
            </a:pPr>
            <a:r>
              <a:rPr lang="en-US" sz="1300" dirty="0">
                <a:solidFill>
                  <a:srgbClr val="B7C0CC"/>
                </a:solidFill>
              </a:rPr>
              <a:t>a sensor report shows them, too late to act</a:t>
            </a:r>
            <a:endParaRPr lang="en-US" sz="1400" dirty="0"/>
          </a:p>
        </p:txBody>
      </p:sp>
      <p:sp>
        <p:nvSpPr>
          <p:cNvPr id="11" name="note 3"/>
          <p:cNvSpPr/>
          <p:nvPr/>
        </p:nvSpPr>
        <p:spPr>
          <a:xfrm>
            <a:off x="9098280" y="4398264"/>
            <a:ext cx="2514600" cy="1371600"/>
          </a:xfrm>
          <a:prstGeom prst="roundRect">
            <a:avLst>
              <a:gd name="adj" fmla="val 6667"/>
            </a:avLst>
          </a:prstGeom>
          <a:solidFill>
            <a:srgbClr val="3A2A10"/>
          </a:solidFill>
          <a:ln w="9525">
            <a:solidFill>
              <a:srgbClr val="F5A623"/>
            </a:solidFill>
            <a:prstDash val="solid"/>
          </a:ln>
        </p:spPr>
      </p:sp>
      <p:sp>
        <p:nvSpPr>
          <p:cNvPr id="12" name="note 3 text"/>
          <p:cNvSpPr txBox="1"/>
          <p:nvPr/>
        </p:nvSpPr>
        <p:spPr>
          <a:xfrm>
            <a:off x="9281160" y="4489704"/>
            <a:ext cx="2194560" cy="1188720"/>
          </a:xfrm>
          <a:prstGeom prst="rect">
            <a:avLst/>
          </a:prstGeom>
          <a:noFill/>
          <a:ln/>
        </p:spPr>
        <p:txBody>
          <a:bodyPr wrap="square" lIns="0" tIns="0" rIns="0" bIns="0" rtlCol="0" anchor="ctr"/>
          <a:lstStyle/>
          <a:p>
            <a:pPr marL="0" indent="0">
              <a:buNone/>
            </a:pPr>
            <a:r>
              <a:rPr lang="en-US" sz="1600" b="1" dirty="0">
                <a:solidFill>
                  <a:srgbClr val="F5A623"/>
                </a:solidFill>
              </a:rPr>
              <a:t>Missing</a:t>
            </a:r>
            <a:endParaRPr lang="en-US" sz="1400" dirty="0"/>
          </a:p>
          <a:p>
            <a:pPr marL="0" indent="0">
              <a:buNone/>
            </a:pPr>
            <a:r>
              <a:rPr lang="en-US" sz="1300" dirty="0">
                <a:solidFill>
                  <a:srgbClr val="B7C0CC"/>
                </a:solidFill>
              </a:rPr>
              <a:t>a warning before the meal, while a smaller portion or a walk can still help</a:t>
            </a:r>
            <a:endParaRPr lang="en-US" sz="1400" dirty="0"/>
          </a:p>
        </p:txBody>
      </p:sp>
      <p:sp>
        <p:nvSpPr>
          <p:cNvPr id="13"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7D8794"/>
                </a:solidFill>
              </a:rPr>
              <a:t>Chart: PrandialTwin simulator, a simulated person (INS-001), not a real patient. 180 mg/dL is the international "above range" line [8]. Photo: blood glucose test, Reversing Your Diabetes Today (CC0), Wikimedia Commons</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What a digital twin is, in plain words</a:t>
            </a:r>
            <a:endParaRPr lang="en-US" sz="3400" dirty="0"/>
          </a:p>
        </p:txBody>
      </p:sp>
      <p:sp>
        <p:nvSpPr>
          <p:cNvPr id="4" name="definition"/>
          <p:cNvSpPr txBox="1"/>
          <p:nvPr/>
        </p:nvSpPr>
        <p:spPr>
          <a:xfrm>
            <a:off x="548640" y="1371600"/>
            <a:ext cx="6583680" cy="914400"/>
          </a:xfrm>
          <a:prstGeom prst="rect">
            <a:avLst/>
          </a:prstGeom>
          <a:noFill/>
          <a:ln/>
        </p:spPr>
        <p:txBody>
          <a:bodyPr wrap="square" lIns="0" tIns="0" rIns="0" bIns="0" rtlCol="0" anchor="t"/>
          <a:lstStyle/>
          <a:p>
            <a:pPr marL="0" indent="0">
              <a:buNone/>
            </a:pPr>
            <a:r>
              <a:rPr lang="en-US" sz="2300" b="1" dirty="0">
                <a:solidFill>
                  <a:srgbClr val="3D8BFF"/>
                </a:solidFill>
              </a:rPr>
              <a:t>A virtual copy of one patient's body that stays in step with them, reading by reading.</a:t>
            </a:r>
            <a:endParaRPr lang="en-US" sz="2300" dirty="0"/>
          </a:p>
        </p:txBody>
      </p:sp>
      <p:sp>
        <p:nvSpPr>
          <p:cNvPr id="5" name="twin 1 badge"/>
          <p:cNvSpPr/>
          <p:nvPr/>
        </p:nvSpPr>
        <p:spPr>
          <a:xfrm>
            <a:off x="548640" y="2606040"/>
            <a:ext cx="640080" cy="640080"/>
          </a:xfrm>
          <a:prstGeom prst="ellipse">
            <a:avLst/>
          </a:prstGeom>
          <a:solidFill>
            <a:srgbClr val="3D8BFF"/>
          </a:solidFill>
          <a:ln w="12700">
            <a:solidFill>
              <a:srgbClr val="3D8BFF"/>
            </a:solidFill>
            <a:prstDash val="solid"/>
          </a:ln>
        </p:spPr>
        <p:txBody>
          <a:bodyPr/>
          <a:p/>
        </p:txBody>
      </p:sp>
      <p:sp>
        <p:nvSpPr>
          <p:cNvPr id="6" name="twin 1 number"/>
          <p:cNvSpPr txBox="1"/>
          <p:nvPr/>
        </p:nvSpPr>
        <p:spPr>
          <a:xfrm>
            <a:off x="548640" y="26060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7" name="twin 1 head"/>
          <p:cNvSpPr txBox="1"/>
          <p:nvPr/>
        </p:nvSpPr>
        <p:spPr>
          <a:xfrm>
            <a:off x="1417320" y="2587752"/>
            <a:ext cx="5669280" cy="365760"/>
          </a:xfrm>
          <a:prstGeom prst="rect">
            <a:avLst/>
          </a:prstGeom>
          <a:noFill/>
          <a:ln/>
        </p:spPr>
        <p:txBody>
          <a:bodyPr wrap="square" lIns="0" tIns="0" rIns="0" bIns="0" rtlCol="0" anchor="t"/>
          <a:lstStyle/>
          <a:p>
            <a:pPr marL="0" indent="0">
              <a:buNone/>
            </a:pPr>
            <a:r>
              <a:rPr lang="en-US" sz="1800" b="1" dirty="0">
                <a:solidFill>
                  <a:srgbClr val="F5F7FA"/>
                </a:solidFill>
              </a:rPr>
              <a:t>It updates</a:t>
            </a:r>
            <a:endParaRPr lang="en-US" sz="1800" dirty="0"/>
          </a:p>
        </p:txBody>
      </p:sp>
      <p:sp>
        <p:nvSpPr>
          <p:cNvPr id="8" name="twin 1 body"/>
          <p:cNvSpPr txBox="1"/>
          <p:nvPr/>
        </p:nvSpPr>
        <p:spPr>
          <a:xfrm>
            <a:off x="1417320" y="2953512"/>
            <a:ext cx="5669280" cy="457200"/>
          </a:xfrm>
          <a:prstGeom prst="rect">
            <a:avLst/>
          </a:prstGeom>
          <a:noFill/>
          <a:ln/>
        </p:spPr>
        <p:txBody>
          <a:bodyPr wrap="square" lIns="0" tIns="0" rIns="0" bIns="0" rtlCol="0" anchor="t"/>
          <a:lstStyle/>
          <a:p>
            <a:pPr marL="0" indent="0">
              <a:buNone/>
            </a:pPr>
            <a:r>
              <a:rPr lang="en-US" sz="1500" dirty="0">
                <a:solidFill>
                  <a:srgbClr val="B7C0CC"/>
                </a:solidFill>
              </a:rPr>
              <a:t>Learns from every new glucose reading, meal and walk</a:t>
            </a:r>
            <a:endParaRPr lang="en-US" sz="1500" dirty="0"/>
          </a:p>
        </p:txBody>
      </p:sp>
      <p:sp>
        <p:nvSpPr>
          <p:cNvPr id="9" name="twin 2 badge"/>
          <p:cNvSpPr/>
          <p:nvPr/>
        </p:nvSpPr>
        <p:spPr>
          <a:xfrm>
            <a:off x="548640" y="3657600"/>
            <a:ext cx="640080" cy="640080"/>
          </a:xfrm>
          <a:prstGeom prst="ellipse">
            <a:avLst/>
          </a:prstGeom>
          <a:solidFill>
            <a:srgbClr val="3D8BFF"/>
          </a:solidFill>
          <a:ln w="12700">
            <a:solidFill>
              <a:srgbClr val="3D8BFF"/>
            </a:solidFill>
            <a:prstDash val="solid"/>
          </a:ln>
        </p:spPr>
        <p:txBody>
          <a:bodyPr/>
          <a:p/>
        </p:txBody>
      </p:sp>
      <p:sp>
        <p:nvSpPr>
          <p:cNvPr id="10" name="twin 2 number"/>
          <p:cNvSpPr txBox="1"/>
          <p:nvPr/>
        </p:nvSpPr>
        <p:spPr>
          <a:xfrm>
            <a:off x="548640" y="36576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1" name="twin 2 head"/>
          <p:cNvSpPr txBox="1"/>
          <p:nvPr/>
        </p:nvSpPr>
        <p:spPr>
          <a:xfrm>
            <a:off x="1417320" y="3639312"/>
            <a:ext cx="5669280" cy="365760"/>
          </a:xfrm>
          <a:prstGeom prst="rect">
            <a:avLst/>
          </a:prstGeom>
          <a:noFill/>
          <a:ln/>
        </p:spPr>
        <p:txBody>
          <a:bodyPr wrap="square" lIns="0" tIns="0" rIns="0" bIns="0" rtlCol="0" anchor="t"/>
          <a:lstStyle/>
          <a:p>
            <a:pPr marL="0" indent="0">
              <a:buNone/>
            </a:pPr>
            <a:r>
              <a:rPr lang="en-US" sz="1800" b="1" dirty="0">
                <a:solidFill>
                  <a:srgbClr val="F5F7FA"/>
                </a:solidFill>
              </a:rPr>
              <a:t>It predicts</a:t>
            </a:r>
            <a:endParaRPr lang="en-US" sz="1800" dirty="0"/>
          </a:p>
        </p:txBody>
      </p:sp>
      <p:sp>
        <p:nvSpPr>
          <p:cNvPr id="12" name="twin 2 body"/>
          <p:cNvSpPr txBox="1"/>
          <p:nvPr/>
        </p:nvSpPr>
        <p:spPr>
          <a:xfrm>
            <a:off x="1417320" y="4005072"/>
            <a:ext cx="5669280" cy="457200"/>
          </a:xfrm>
          <a:prstGeom prst="rect">
            <a:avLst/>
          </a:prstGeom>
          <a:noFill/>
          <a:ln/>
        </p:spPr>
        <p:txBody>
          <a:bodyPr wrap="square" lIns="0" tIns="0" rIns="0" bIns="0" rtlCol="0" anchor="t"/>
          <a:lstStyle/>
          <a:p>
            <a:pPr marL="0" indent="0">
              <a:buNone/>
            </a:pPr>
            <a:r>
              <a:rPr lang="en-US" sz="1500" dirty="0">
                <a:solidFill>
                  <a:srgbClr val="B7C0CC"/>
                </a:solidFill>
              </a:rPr>
              <a:t>Forecasts the next 2 to 3 hours, with an honest range</a:t>
            </a:r>
            <a:endParaRPr lang="en-US" sz="1500" dirty="0"/>
          </a:p>
        </p:txBody>
      </p:sp>
      <p:sp>
        <p:nvSpPr>
          <p:cNvPr id="13" name="twin 3 badge"/>
          <p:cNvSpPr/>
          <p:nvPr/>
        </p:nvSpPr>
        <p:spPr>
          <a:xfrm>
            <a:off x="548640" y="4709160"/>
            <a:ext cx="640080" cy="640080"/>
          </a:xfrm>
          <a:prstGeom prst="ellipse">
            <a:avLst/>
          </a:prstGeom>
          <a:solidFill>
            <a:srgbClr val="3D8BFF"/>
          </a:solidFill>
          <a:ln w="12700">
            <a:solidFill>
              <a:srgbClr val="3D8BFF"/>
            </a:solidFill>
            <a:prstDash val="solid"/>
          </a:ln>
        </p:spPr>
        <p:txBody>
          <a:bodyPr/>
          <a:p/>
        </p:txBody>
      </p:sp>
      <p:sp>
        <p:nvSpPr>
          <p:cNvPr id="14" name="twin 3 number"/>
          <p:cNvSpPr txBox="1"/>
          <p:nvPr/>
        </p:nvSpPr>
        <p:spPr>
          <a:xfrm>
            <a:off x="548640" y="47091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5" name="twin 3 head"/>
          <p:cNvSpPr txBox="1"/>
          <p:nvPr/>
        </p:nvSpPr>
        <p:spPr>
          <a:xfrm>
            <a:off x="1417320" y="4690872"/>
            <a:ext cx="5669280" cy="365760"/>
          </a:xfrm>
          <a:prstGeom prst="rect">
            <a:avLst/>
          </a:prstGeom>
          <a:noFill/>
          <a:ln/>
        </p:spPr>
        <p:txBody>
          <a:bodyPr wrap="square" lIns="0" tIns="0" rIns="0" bIns="0" rtlCol="0" anchor="t"/>
          <a:lstStyle/>
          <a:p>
            <a:pPr marL="0" indent="0">
              <a:buNone/>
            </a:pPr>
            <a:r>
              <a:rPr lang="en-US" sz="1800" b="1" dirty="0">
                <a:solidFill>
                  <a:srgbClr val="F5F7FA"/>
                </a:solidFill>
              </a:rPr>
              <a:t>It helps decide</a:t>
            </a:r>
            <a:endParaRPr lang="en-US" sz="1800" dirty="0"/>
          </a:p>
        </p:txBody>
      </p:sp>
      <p:sp>
        <p:nvSpPr>
          <p:cNvPr id="16" name="twin 3 body"/>
          <p:cNvSpPr txBox="1"/>
          <p:nvPr/>
        </p:nvSpPr>
        <p:spPr>
          <a:xfrm>
            <a:off x="1417320" y="5056632"/>
            <a:ext cx="5669280" cy="457200"/>
          </a:xfrm>
          <a:prstGeom prst="rect">
            <a:avLst/>
          </a:prstGeom>
          <a:noFill/>
          <a:ln/>
        </p:spPr>
        <p:txBody>
          <a:bodyPr wrap="square" lIns="0" tIns="0" rIns="0" bIns="0" rtlCol="0" anchor="t"/>
          <a:lstStyle/>
          <a:p>
            <a:pPr marL="0" indent="0">
              <a:buNone/>
            </a:pPr>
            <a:r>
              <a:rPr lang="en-US" sz="1500" dirty="0">
                <a:solidFill>
                  <a:srgbClr val="B7C0CC"/>
                </a:solidFill>
              </a:rPr>
              <a:t>Answers "what if they eat less, or walk?" and shows its own track record</a:t>
            </a:r>
            <a:endParaRPr lang="en-US" sz="1500" dirty="0"/>
          </a:p>
        </p:txBody>
      </p:sp>
      <p:sp>
        <p:nvSpPr>
          <p:cNvPr id="17" name="review card"/>
          <p:cNvSpPr/>
          <p:nvPr/>
        </p:nvSpPr>
        <p:spPr>
          <a:xfrm>
            <a:off x="7589520" y="1371600"/>
            <a:ext cx="4023360" cy="2377440"/>
          </a:xfrm>
          <a:prstGeom prst="roundRect">
            <a:avLst>
              <a:gd name="adj" fmla="val 3846"/>
            </a:avLst>
          </a:prstGeom>
          <a:solidFill>
            <a:srgbClr val="3A2A10"/>
          </a:solidFill>
          <a:ln w="9525">
            <a:solidFill>
              <a:srgbClr val="F5A623"/>
            </a:solidFill>
            <a:prstDash val="solid"/>
          </a:ln>
        </p:spPr>
        <p:txBody>
          <a:bodyPr/>
          <a:p/>
        </p:txBody>
      </p:sp>
      <p:sp>
        <p:nvSpPr>
          <p:cNvPr id="18" name="review value"/>
          <p:cNvSpPr txBox="1"/>
          <p:nvPr/>
        </p:nvSpPr>
        <p:spPr>
          <a:xfrm>
            <a:off x="7863840" y="1508760"/>
            <a:ext cx="3474720" cy="868680"/>
          </a:xfrm>
          <a:prstGeom prst="rect">
            <a:avLst/>
          </a:prstGeom>
          <a:noFill/>
          <a:ln/>
        </p:spPr>
        <p:txBody>
          <a:bodyPr wrap="square" lIns="0" tIns="0" rIns="0" bIns="0" rtlCol="0" anchor="t"/>
          <a:lstStyle/>
          <a:p>
            <a:pPr marL="0" indent="0">
              <a:buNone/>
            </a:pPr>
            <a:r>
              <a:rPr lang="en-US" sz="5400" b="1" dirty="0">
                <a:solidFill>
                  <a:srgbClr val="F5A623"/>
                </a:solidFill>
              </a:rPr>
              <a:t>12%</a:t>
            </a:r>
            <a:endParaRPr lang="en-US" sz="5400" dirty="0"/>
          </a:p>
        </p:txBody>
      </p:sp>
      <p:sp>
        <p:nvSpPr>
          <p:cNvPr id="19" name="review label"/>
          <p:cNvSpPr txBox="1"/>
          <p:nvPr/>
        </p:nvSpPr>
        <p:spPr>
          <a:xfrm>
            <a:off x="7863840" y="2423160"/>
            <a:ext cx="3474720" cy="1097280"/>
          </a:xfrm>
          <a:prstGeom prst="rect">
            <a:avLst/>
          </a:prstGeom>
          <a:noFill/>
          <a:ln/>
        </p:spPr>
        <p:txBody>
          <a:bodyPr wrap="square" lIns="0" tIns="0" rIns="0" bIns="0" rtlCol="0" anchor="t"/>
          <a:lstStyle/>
          <a:p>
            <a:pPr marL="0" indent="0">
              <a:buNone/>
            </a:pPr>
            <a:r>
              <a:rPr lang="en-US" sz="1600" dirty="0">
                <a:solidFill>
                  <a:srgbClr val="F5F7FA"/>
                </a:solidFill>
              </a:rPr>
              <a:t>of 149 published health "digital twins" do all three</a:t>
            </a:r>
            <a:endParaRPr lang="en-US" sz="1600" dirty="0"/>
          </a:p>
        </p:txBody>
      </p:sp>
      <p:sp>
        <p:nvSpPr>
          <p:cNvPr id="20" name="ours card"/>
          <p:cNvSpPr/>
          <p:nvPr/>
        </p:nvSpPr>
        <p:spPr>
          <a:xfrm>
            <a:off x="7589520" y="3977640"/>
            <a:ext cx="4023360" cy="1737360"/>
          </a:xfrm>
          <a:prstGeom prst="roundRect">
            <a:avLst>
              <a:gd name="adj" fmla="val 5263"/>
            </a:avLst>
          </a:prstGeom>
          <a:solidFill>
            <a:srgbClr val="0F3326"/>
          </a:solidFill>
          <a:ln w="9525">
            <a:solidFill>
              <a:srgbClr val="2ECC8F"/>
            </a:solidFill>
            <a:prstDash val="solid"/>
          </a:ln>
        </p:spPr>
        <p:txBody>
          <a:bodyPr/>
          <a:p/>
        </p:txBody>
      </p:sp>
      <p:sp>
        <p:nvSpPr>
          <p:cNvPr id="21" name="ours circle"/>
          <p:cNvSpPr/>
          <p:nvPr/>
        </p:nvSpPr>
        <p:spPr>
          <a:xfrm>
            <a:off x="7863840" y="4251960"/>
            <a:ext cx="685800" cy="685800"/>
          </a:xfrm>
          <a:prstGeom prst="ellipse">
            <a:avLst/>
          </a:prstGeom>
          <a:solidFill>
            <a:srgbClr val="2ECC8F"/>
          </a:solidFill>
          <a:ln w="12700">
            <a:solidFill>
              <a:srgbClr val="2ECC8F"/>
            </a:solidFill>
            <a:prstDash val="solid"/>
          </a:ln>
        </p:spPr>
        <p:txBody>
          <a:bodyPr/>
          <a:p/>
        </p:txBody>
      </p:sp>
      <p:pic>
        <p:nvPicPr>
          <p:cNvPr id="22" name="ours icon" descr="preencoded.png"/>
          <p:cNvPicPr>
            <a:picLocks noChangeAspect="1"/>
          </p:cNvPicPr>
          <p:nvPr/>
        </p:nvPicPr>
        <p:blipFill>
          <a:blip r:embed="rId3"/>
          <a:stretch>
            <a:fillRect/>
          </a:stretch>
        </p:blipFill>
        <p:spPr>
          <a:xfrm>
            <a:off x="8028432" y="4416552"/>
            <a:ext cx="356616" cy="356616"/>
          </a:xfrm>
          <a:prstGeom prst="rect">
            <a:avLst/>
          </a:prstGeom>
        </p:spPr>
      </p:pic>
      <p:sp>
        <p:nvSpPr>
          <p:cNvPr id="23" name="ours text"/>
          <p:cNvSpPr txBox="1"/>
          <p:nvPr/>
        </p:nvSpPr>
        <p:spPr>
          <a:xfrm>
            <a:off x="8732520" y="4160520"/>
            <a:ext cx="2697480" cy="1371600"/>
          </a:xfrm>
          <a:prstGeom prst="rect">
            <a:avLst/>
          </a:prstGeom>
          <a:noFill/>
          <a:ln/>
        </p:spPr>
        <p:txBody>
          <a:bodyPr wrap="square" lIns="0" tIns="0" rIns="0" bIns="0" rtlCol="0" anchor="ctr"/>
          <a:lstStyle/>
          <a:p>
            <a:pPr marL="0" indent="0">
              <a:buNone/>
            </a:pPr>
            <a:r>
              <a:rPr lang="en-US" sz="1600" b="1" dirty="0">
                <a:solidFill>
                  <a:srgbClr val="F5F7FA"/>
                </a:solidFill>
              </a:rPr>
              <a:t>PrandialTwin does all three, and tests each claim on real people</a:t>
            </a:r>
            <a:endParaRPr lang="en-US" sz="1600" dirty="0"/>
          </a:p>
        </p:txBody>
      </p:sp>
      <p:sp>
        <p:nvSpPr>
          <p:cNvPr id="24"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7D8794"/>
                </a:solidFill>
              </a:rPr>
              <a:t>Definition [9]; review of 149 studies [10].</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Three datasets, and why we trust them</a:t>
            </a:r>
            <a:endParaRPr lang="en-US" sz="3400" dirty="0"/>
          </a:p>
        </p:txBody>
      </p:sp>
      <p:pic>
        <p:nvPicPr>
          <p:cNvPr id="4" name="glucose sensor photo" descr="C:\Users\tharu\AppData\Local\Temp\claude\D--Mechanical-Engineering-Hackathons-Digital-Twin\df663d0f-c1be-4cb9-9e41-502d36bbd372\scratchpad\deck/libre3.jpg"/>
          <p:cNvPicPr>
            <a:picLocks noChangeAspect="1"/>
          </p:cNvPicPr>
          <p:nvPr/>
        </p:nvPicPr>
        <p:blipFill>
          <a:blip r:embed="rId3"/>
          <a:srcRect/>
          <a:stretch/>
        </p:blipFill>
        <p:spPr>
          <a:xfrm>
            <a:off x="548640" y="1325880"/>
            <a:ext cx="3108960" cy="3749040"/>
          </a:xfrm>
          <a:prstGeom prst="rect">
            <a:avLst/>
          </a:prstGeom>
        </p:spPr>
      </p:pic>
      <p:sp>
        <p:nvSpPr>
          <p:cNvPr id="5" name="sensor caption"/>
          <p:cNvSpPr txBox="1"/>
          <p:nvPr/>
        </p:nvSpPr>
        <p:spPr>
          <a:xfrm>
            <a:off x="548640" y="5120640"/>
            <a:ext cx="3108960" cy="320040"/>
          </a:xfrm>
          <a:prstGeom prst="rect">
            <a:avLst/>
          </a:prstGeom>
          <a:noFill/>
          <a:ln/>
        </p:spPr>
        <p:txBody>
          <a:bodyPr wrap="square" lIns="0" tIns="0" rIns="0" bIns="0" rtlCol="0" anchor="t"/>
          <a:lstStyle/>
          <a:p>
            <a:pPr marL="0" indent="0">
              <a:buNone/>
            </a:pPr>
            <a:r>
              <a:rPr lang="en-US" sz="1200" dirty="0">
                <a:solidFill>
                  <a:srgbClr val="B7C0CC"/>
                </a:solidFill>
              </a:rPr>
              <a:t>A 14-day glucose sensor: the live stream</a:t>
            </a:r>
            <a:endParaRPr lang="en-US" sz="1200" dirty="0"/>
          </a:p>
        </p:txBody>
      </p:sp>
      <p:sp>
        <p:nvSpPr>
          <p:cNvPr id="6" name="dataset 1"/>
          <p:cNvSpPr/>
          <p:nvPr/>
        </p:nvSpPr>
        <p:spPr>
          <a:xfrm>
            <a:off x="3931920" y="1325880"/>
            <a:ext cx="7680960" cy="1243584"/>
          </a:xfrm>
          <a:prstGeom prst="roundRect">
            <a:avLst>
              <a:gd name="adj" fmla="val 7353"/>
            </a:avLst>
          </a:prstGeom>
          <a:solidFill>
            <a:srgbClr val="141820"/>
          </a:solidFill>
          <a:ln w="9525">
            <a:solidFill>
              <a:srgbClr val="283040"/>
            </a:solidFill>
            <a:prstDash val="solid"/>
          </a:ln>
        </p:spPr>
      </p:sp>
      <p:sp>
        <p:nvSpPr>
          <p:cNvPr id="7" name="dataset 1 dot"/>
          <p:cNvSpPr/>
          <p:nvPr/>
        </p:nvSpPr>
        <p:spPr>
          <a:xfrm>
            <a:off x="4114800" y="1508760"/>
            <a:ext cx="228600" cy="228600"/>
          </a:xfrm>
          <a:prstGeom prst="ellipse">
            <a:avLst/>
          </a:prstGeom>
          <a:solidFill>
            <a:srgbClr val="3D8BFF"/>
          </a:solidFill>
          <a:ln w="12700">
            <a:solidFill>
              <a:srgbClr val="3D8BFF"/>
            </a:solidFill>
            <a:prstDash val="solid"/>
          </a:ln>
        </p:spPr>
      </p:sp>
      <p:sp>
        <p:nvSpPr>
          <p:cNvPr id="8" name="dataset 1 head"/>
          <p:cNvSpPr txBox="1"/>
          <p:nvPr/>
        </p:nvSpPr>
        <p:spPr>
          <a:xfrm>
            <a:off x="4480560" y="1399032"/>
            <a:ext cx="6949440" cy="411480"/>
          </a:xfrm>
          <a:prstGeom prst="rect">
            <a:avLst/>
          </a:prstGeom>
          <a:noFill/>
          <a:ln/>
        </p:spPr>
        <p:txBody>
          <a:bodyPr wrap="square" lIns="0" tIns="0" rIns="0" bIns="0" rtlCol="0" anchor="ctr"/>
          <a:lstStyle/>
          <a:p>
            <a:pPr marL="0" indent="0">
              <a:buNone/>
            </a:pPr>
            <a:r>
              <a:rPr lang="en-US" sz="1800" b="1" dirty="0">
                <a:solidFill>
                  <a:srgbClr val="FFFFFF"/>
                </a:solidFill>
              </a:rPr>
              <a:t>CGMacros   </a:t>
            </a:r>
            <a:r>
              <a:rPr lang="en-US" sz="1500" dirty="0">
                <a:solidFill>
                  <a:srgbClr val="B7C0CC"/>
                </a:solidFill>
              </a:rPr>
              <a:t>45 real adults, USA</a:t>
            </a:r>
            <a:endParaRPr lang="en-US" sz="1400" dirty="0"/>
          </a:p>
        </p:txBody>
      </p:sp>
      <p:sp>
        <p:nvSpPr>
          <p:cNvPr id="9" name="dataset 1 what"/>
          <p:cNvSpPr txBox="1"/>
          <p:nvPr/>
        </p:nvSpPr>
        <p:spPr>
          <a:xfrm>
            <a:off x="4480560" y="1801368"/>
            <a:ext cx="6949440" cy="329184"/>
          </a:xfrm>
          <a:prstGeom prst="rect">
            <a:avLst/>
          </a:prstGeom>
          <a:noFill/>
          <a:ln/>
        </p:spPr>
        <p:txBody>
          <a:bodyPr wrap="square" lIns="0" tIns="0" rIns="0" bIns="0" rtlCol="0" anchor="t"/>
          <a:lstStyle/>
          <a:p>
            <a:pPr marL="0" indent="0">
              <a:buNone/>
            </a:pPr>
            <a:r>
              <a:rPr lang="en-US" sz="1350" dirty="0">
                <a:solidFill>
                  <a:srgbClr val="F5F7FA"/>
                </a:solidFill>
              </a:rPr>
              <a:t>Labs + two glucose sensors worn at once (Dexcom, Libre) + Fitbit + meals with macros</a:t>
            </a:r>
            <a:endParaRPr lang="en-US" sz="1350" dirty="0"/>
          </a:p>
        </p:txBody>
      </p:sp>
      <p:sp>
        <p:nvSpPr>
          <p:cNvPr id="10" name="dataset 1 trust"/>
          <p:cNvSpPr txBox="1"/>
          <p:nvPr/>
        </p:nvSpPr>
        <p:spPr>
          <a:xfrm>
            <a:off x="4480560" y="2148840"/>
            <a:ext cx="6949440" cy="347472"/>
          </a:xfrm>
          <a:prstGeom prst="rect">
            <a:avLst/>
          </a:prstGeom>
          <a:noFill/>
          <a:ln/>
        </p:spPr>
        <p:txBody>
          <a:bodyPr wrap="square" lIns="0" tIns="0" rIns="0" bIns="0" rtlCol="0" anchor="t"/>
          <a:lstStyle/>
          <a:p>
            <a:pPr marL="0" indent="0">
              <a:buNone/>
            </a:pPr>
            <a:r>
              <a:rPr lang="en-US" sz="1250" b="1" dirty="0">
                <a:solidFill>
                  <a:srgbClr val="2ECC8F"/>
                </a:solidFill>
              </a:rPr>
              <a:t>Why trust it: </a:t>
            </a:r>
            <a:r>
              <a:rPr lang="en-US" sz="1250" dirty="0">
                <a:solidFill>
                  <a:srgbClr val="B7C0CC"/>
                </a:solidFill>
              </a:rPr>
              <a:t>Peer-reviewed (Scientific Data 2025), PhysioNet DOI, ethics board approval, written consent [11]</a:t>
            </a:r>
            <a:endParaRPr lang="en-US" sz="1250" dirty="0"/>
          </a:p>
        </p:txBody>
      </p:sp>
      <p:sp>
        <p:nvSpPr>
          <p:cNvPr id="11" name="dataset 2"/>
          <p:cNvSpPr/>
          <p:nvPr/>
        </p:nvSpPr>
        <p:spPr>
          <a:xfrm>
            <a:off x="3931920" y="2697480"/>
            <a:ext cx="7680960" cy="1243584"/>
          </a:xfrm>
          <a:prstGeom prst="roundRect">
            <a:avLst>
              <a:gd name="adj" fmla="val 7353"/>
            </a:avLst>
          </a:prstGeom>
          <a:solidFill>
            <a:srgbClr val="141820"/>
          </a:solidFill>
          <a:ln w="9525">
            <a:solidFill>
              <a:srgbClr val="283040"/>
            </a:solidFill>
            <a:prstDash val="solid"/>
          </a:ln>
        </p:spPr>
      </p:sp>
      <p:sp>
        <p:nvSpPr>
          <p:cNvPr id="12" name="dataset 2 dot"/>
          <p:cNvSpPr/>
          <p:nvPr/>
        </p:nvSpPr>
        <p:spPr>
          <a:xfrm>
            <a:off x="4114800" y="2880360"/>
            <a:ext cx="228600" cy="228600"/>
          </a:xfrm>
          <a:prstGeom prst="ellipse">
            <a:avLst/>
          </a:prstGeom>
          <a:solidFill>
            <a:srgbClr val="F5A623"/>
          </a:solidFill>
          <a:ln w="12700">
            <a:solidFill>
              <a:srgbClr val="F5A623"/>
            </a:solidFill>
            <a:prstDash val="solid"/>
          </a:ln>
        </p:spPr>
      </p:sp>
      <p:sp>
        <p:nvSpPr>
          <p:cNvPr id="13" name="dataset 2 head"/>
          <p:cNvSpPr txBox="1"/>
          <p:nvPr/>
        </p:nvSpPr>
        <p:spPr>
          <a:xfrm>
            <a:off x="4480560" y="2770632"/>
            <a:ext cx="6949440" cy="411480"/>
          </a:xfrm>
          <a:prstGeom prst="rect">
            <a:avLst/>
          </a:prstGeom>
          <a:noFill/>
          <a:ln/>
        </p:spPr>
        <p:txBody>
          <a:bodyPr wrap="square" lIns="0" tIns="0" rIns="0" bIns="0" rtlCol="0" anchor="ctr"/>
          <a:lstStyle/>
          <a:p>
            <a:pPr marL="0" indent="0">
              <a:buNone/>
            </a:pPr>
            <a:r>
              <a:rPr lang="en-US" sz="1800" b="1" dirty="0">
                <a:solidFill>
                  <a:srgbClr val="FFFFFF"/>
                </a:solidFill>
              </a:rPr>
              <a:t>ShanghaiT2DM   </a:t>
            </a:r>
            <a:r>
              <a:rPr lang="en-US" sz="1500" dirty="0">
                <a:solidFill>
                  <a:srgbClr val="B7C0CC"/>
                </a:solidFill>
              </a:rPr>
              <a:t>109 real recordings, China</a:t>
            </a:r>
            <a:endParaRPr lang="en-US" sz="1400" dirty="0"/>
          </a:p>
        </p:txBody>
      </p:sp>
      <p:sp>
        <p:nvSpPr>
          <p:cNvPr id="14" name="dataset 2 what"/>
          <p:cNvSpPr txBox="1"/>
          <p:nvPr/>
        </p:nvSpPr>
        <p:spPr>
          <a:xfrm>
            <a:off x="4480560" y="3172968"/>
            <a:ext cx="6949440" cy="329184"/>
          </a:xfrm>
          <a:prstGeom prst="rect">
            <a:avLst/>
          </a:prstGeom>
          <a:noFill/>
          <a:ln/>
        </p:spPr>
        <p:txBody>
          <a:bodyPr wrap="square" lIns="0" tIns="0" rIns="0" bIns="0" rtlCol="0" anchor="t"/>
          <a:lstStyle/>
          <a:p>
            <a:pPr marL="0" indent="0">
              <a:buNone/>
            </a:pPr>
            <a:r>
              <a:rPr lang="en-US" sz="1350" dirty="0">
                <a:solidFill>
                  <a:srgbClr val="F5F7FA"/>
                </a:solidFill>
              </a:rPr>
              <a:t>15-minute sensor, clinical records with insulin doses, meals as text; never used for fitting</a:t>
            </a:r>
            <a:endParaRPr lang="en-US" sz="1350" dirty="0"/>
          </a:p>
        </p:txBody>
      </p:sp>
      <p:sp>
        <p:nvSpPr>
          <p:cNvPr id="15" name="dataset 2 trust"/>
          <p:cNvSpPr txBox="1"/>
          <p:nvPr/>
        </p:nvSpPr>
        <p:spPr>
          <a:xfrm>
            <a:off x="4480560" y="3520440"/>
            <a:ext cx="6949440" cy="347472"/>
          </a:xfrm>
          <a:prstGeom prst="rect">
            <a:avLst/>
          </a:prstGeom>
          <a:noFill/>
          <a:ln/>
        </p:spPr>
        <p:txBody>
          <a:bodyPr wrap="square" lIns="0" tIns="0" rIns="0" bIns="0" rtlCol="0" anchor="t"/>
          <a:lstStyle/>
          <a:p>
            <a:pPr marL="0" indent="0">
              <a:buNone/>
            </a:pPr>
            <a:r>
              <a:rPr lang="en-US" sz="1250" b="1" dirty="0">
                <a:solidFill>
                  <a:srgbClr val="2ECC8F"/>
                </a:solidFill>
              </a:rPr>
              <a:t>Why trust it: </a:t>
            </a:r>
            <a:r>
              <a:rPr lang="en-US" sz="1250" dirty="0">
                <a:solidFill>
                  <a:srgbClr val="B7C0CC"/>
                </a:solidFill>
              </a:rPr>
              <a:t>Peer-reviewed (Scientific Data 2023), figshare, MD5-checked download [12]</a:t>
            </a:r>
            <a:endParaRPr lang="en-US" sz="1250" dirty="0"/>
          </a:p>
        </p:txBody>
      </p:sp>
      <p:sp>
        <p:nvSpPr>
          <p:cNvPr id="16" name="dataset 3"/>
          <p:cNvSpPr/>
          <p:nvPr/>
        </p:nvSpPr>
        <p:spPr>
          <a:xfrm>
            <a:off x="3931920" y="4069080"/>
            <a:ext cx="7680960" cy="1243584"/>
          </a:xfrm>
          <a:prstGeom prst="roundRect">
            <a:avLst>
              <a:gd name="adj" fmla="val 7353"/>
            </a:avLst>
          </a:prstGeom>
          <a:solidFill>
            <a:srgbClr val="141820"/>
          </a:solidFill>
          <a:ln w="9525">
            <a:solidFill>
              <a:srgbClr val="283040"/>
            </a:solidFill>
            <a:prstDash val="solid"/>
          </a:ln>
        </p:spPr>
      </p:sp>
      <p:sp>
        <p:nvSpPr>
          <p:cNvPr id="17" name="dataset 3 dot"/>
          <p:cNvSpPr/>
          <p:nvPr/>
        </p:nvSpPr>
        <p:spPr>
          <a:xfrm>
            <a:off x="4114800" y="4251960"/>
            <a:ext cx="228600" cy="228600"/>
          </a:xfrm>
          <a:prstGeom prst="ellipse">
            <a:avLst/>
          </a:prstGeom>
          <a:solidFill>
            <a:srgbClr val="2ECC8F"/>
          </a:solidFill>
          <a:ln w="12700">
            <a:solidFill>
              <a:srgbClr val="2ECC8F"/>
            </a:solidFill>
            <a:prstDash val="solid"/>
          </a:ln>
        </p:spPr>
      </p:sp>
      <p:sp>
        <p:nvSpPr>
          <p:cNvPr id="18" name="dataset 3 head"/>
          <p:cNvSpPr txBox="1"/>
          <p:nvPr/>
        </p:nvSpPr>
        <p:spPr>
          <a:xfrm>
            <a:off x="4480560" y="4142232"/>
            <a:ext cx="6949440" cy="411480"/>
          </a:xfrm>
          <a:prstGeom prst="rect">
            <a:avLst/>
          </a:prstGeom>
          <a:noFill/>
          <a:ln/>
        </p:spPr>
        <p:txBody>
          <a:bodyPr wrap="square" lIns="0" tIns="0" rIns="0" bIns="0" rtlCol="0" anchor="ctr"/>
          <a:lstStyle/>
          <a:p>
            <a:pPr marL="0" indent="0">
              <a:buNone/>
            </a:pPr>
            <a:r>
              <a:rPr lang="en-US" sz="1800" b="1" dirty="0">
                <a:solidFill>
                  <a:srgbClr val="FFFFFF"/>
                </a:solidFill>
              </a:rPr>
              <a:t>Synthetic patients   </a:t>
            </a:r>
            <a:r>
              <a:rPr lang="en-US" sz="1500" dirty="0">
                <a:solidFill>
                  <a:srgbClr val="B7C0CC"/>
                </a:solidFill>
              </a:rPr>
              <a:t>60 + six Indian regions × 60</a:t>
            </a:r>
            <a:endParaRPr lang="en-US" sz="1400" dirty="0"/>
          </a:p>
        </p:txBody>
      </p:sp>
      <p:sp>
        <p:nvSpPr>
          <p:cNvPr id="19" name="dataset 3 what"/>
          <p:cNvSpPr txBox="1"/>
          <p:nvPr/>
        </p:nvSpPr>
        <p:spPr>
          <a:xfrm>
            <a:off x="4480560" y="4544568"/>
            <a:ext cx="6949440" cy="329184"/>
          </a:xfrm>
          <a:prstGeom prst="rect">
            <a:avLst/>
          </a:prstGeom>
          <a:noFill/>
          <a:ln/>
        </p:spPr>
        <p:txBody>
          <a:bodyPr wrap="square" lIns="0" tIns="0" rIns="0" bIns="0" rtlCol="0" anchor="t"/>
          <a:lstStyle/>
          <a:p>
            <a:pPr marL="0" indent="0">
              <a:buNone/>
            </a:pPr>
            <a:r>
              <a:rPr lang="en-US" sz="1350" dirty="0">
                <a:solidFill>
                  <a:srgbClr val="F5F7FA"/>
                </a:solidFill>
              </a:rPr>
              <a:t>Health record + glucose, heart rate, steps, sleep from one hidden physiology</a:t>
            </a:r>
            <a:endParaRPr lang="en-US" sz="1350" dirty="0"/>
          </a:p>
        </p:txBody>
      </p:sp>
      <p:sp>
        <p:nvSpPr>
          <p:cNvPr id="20" name="dataset 3 trust"/>
          <p:cNvSpPr txBox="1"/>
          <p:nvPr/>
        </p:nvSpPr>
        <p:spPr>
          <a:xfrm>
            <a:off x="4480560" y="4892040"/>
            <a:ext cx="6949440" cy="347472"/>
          </a:xfrm>
          <a:prstGeom prst="rect">
            <a:avLst/>
          </a:prstGeom>
          <a:noFill/>
          <a:ln/>
        </p:spPr>
        <p:txBody>
          <a:bodyPr wrap="square" lIns="0" tIns="0" rIns="0" bIns="0" rtlCol="0" anchor="t"/>
          <a:lstStyle/>
          <a:p>
            <a:pPr marL="0" indent="0">
              <a:buNone/>
            </a:pPr>
            <a:r>
              <a:rPr lang="en-US" sz="1250" b="1" dirty="0">
                <a:solidFill>
                  <a:srgbClr val="2ECC8F"/>
                </a:solidFill>
              </a:rPr>
              <a:t>Why trust it: </a:t>
            </a:r>
            <a:r>
              <a:rPr lang="en-US" sz="1250" dirty="0">
                <a:solidFill>
                  <a:srgbClr val="B7C0CC"/>
                </a:solidFill>
              </a:rPr>
              <a:t>Ground truth known, so what-ifs can be checked exactly</a:t>
            </a:r>
            <a:endParaRPr lang="en-US" sz="1250" dirty="0"/>
          </a:p>
        </p:txBody>
      </p:sp>
      <p:sp>
        <p:nvSpPr>
          <p:cNvPr id="21" name="fusion line"/>
          <p:cNvSpPr txBox="1"/>
          <p:nvPr/>
        </p:nvSpPr>
        <p:spPr>
          <a:xfrm>
            <a:off x="3931920" y="5440680"/>
            <a:ext cx="7680960" cy="502920"/>
          </a:xfrm>
          <a:prstGeom prst="rect">
            <a:avLst/>
          </a:prstGeom>
          <a:noFill/>
          <a:ln/>
        </p:spPr>
        <p:txBody>
          <a:bodyPr wrap="square" lIns="0" tIns="0" rIns="0" bIns="0" rtlCol="0" anchor="t"/>
          <a:lstStyle/>
          <a:p>
            <a:pPr marL="0" indent="0">
              <a:buNone/>
            </a:pPr>
            <a:r>
              <a:rPr lang="en-US" sz="1300" b="1" dirty="0">
                <a:solidFill>
                  <a:srgbClr val="F5A623"/>
                </a:solidFill>
              </a:rPr>
              <a:t>Fusion: </a:t>
            </a:r>
            <a:r>
              <a:rPr lang="en-US" sz="1300" dirty="0">
                <a:solidFill>
                  <a:srgbClr val="F5F7FA"/>
                </a:solidFill>
              </a:rPr>
              <a:t>record and stream belong to the same person and study window. We checksum every file (SHA-256), keep only native sensor readings, and split by patient.</a:t>
            </a:r>
            <a:endParaRPr lang="en-US" sz="1300" dirty="0"/>
          </a:p>
        </p:txBody>
      </p:sp>
      <p:sp>
        <p:nvSpPr>
          <p:cNvPr id="22" name="source"/>
          <p:cNvSpPr txBox="1"/>
          <p:nvPr/>
        </p:nvSpPr>
        <p:spPr>
          <a:xfrm>
            <a:off x="548640" y="5943600"/>
            <a:ext cx="3108960" cy="384048"/>
          </a:xfrm>
          <a:prstGeom prst="rect">
            <a:avLst/>
          </a:prstGeom>
          <a:noFill/>
          <a:ln/>
        </p:spPr>
        <p:txBody>
          <a:bodyPr wrap="square" lIns="0" tIns="0" rIns="0" bIns="0" rtlCol="0" anchor="b"/>
          <a:lstStyle/>
          <a:p>
            <a:pPr marL="0" indent="0">
              <a:buNone/>
            </a:pPr>
            <a:r>
              <a:rPr lang="en-US" sz="1000" dirty="0">
                <a:solidFill>
                  <a:srgbClr val="7D8794"/>
                </a:solidFill>
              </a:rPr>
              <a:t>Photo: FreeStyle Libre 3 sensor, Raimond Spekking (CC BY-SA 4.0), Wikimedia Commons</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How our synthetic patients are made</a:t>
            </a:r>
            <a:endParaRPr lang="en-US" sz="3400" dirty="0"/>
          </a:p>
        </p:txBody>
      </p:sp>
      <p:sp>
        <p:nvSpPr>
          <p:cNvPr id="4" name="1  Hidden severity"/>
          <p:cNvSpPr/>
          <p:nvPr/>
        </p:nvSpPr>
        <p:spPr>
          <a:xfrm>
            <a:off x="548640" y="1325880"/>
            <a:ext cx="2075688" cy="1874520"/>
          </a:xfrm>
          <a:prstGeom prst="roundRect">
            <a:avLst>
              <a:gd name="adj" fmla="val 4878"/>
            </a:avLst>
          </a:prstGeom>
          <a:solidFill>
            <a:srgbClr val="141820"/>
          </a:solidFill>
          <a:ln w="9525">
            <a:solidFill>
              <a:srgbClr val="F5A623"/>
            </a:solidFill>
            <a:prstDash val="solid"/>
          </a:ln>
        </p:spPr>
      </p:sp>
      <p:sp>
        <p:nvSpPr>
          <p:cNvPr id="5" name="1  Hidden severity text"/>
          <p:cNvSpPr txBox="1"/>
          <p:nvPr/>
        </p:nvSpPr>
        <p:spPr>
          <a:xfrm>
            <a:off x="658368" y="1380744"/>
            <a:ext cx="1856232" cy="1764792"/>
          </a:xfrm>
          <a:prstGeom prst="rect">
            <a:avLst/>
          </a:prstGeom>
          <a:noFill/>
          <a:ln/>
        </p:spPr>
        <p:txBody>
          <a:bodyPr wrap="square" lIns="0" tIns="0" rIns="0" bIns="0" rtlCol="0" anchor="ctr"/>
          <a:lstStyle/>
          <a:p>
            <a:pPr marL="0" indent="0">
              <a:buNone/>
            </a:pPr>
            <a:r>
              <a:rPr lang="en-US" sz="1400" b="1" dirty="0">
                <a:solidFill>
                  <a:srgbClr val="FFFFFF"/>
                </a:solidFill>
              </a:rPr>
              <a:t>1  Hidden severity</a:t>
            </a:r>
            <a:endParaRPr lang="en-US" sz="1400" dirty="0"/>
          </a:p>
          <a:p>
            <a:pPr marL="0" indent="0">
              <a:buNone/>
            </a:pPr>
            <a:r>
              <a:rPr lang="en-US" sz="1150" dirty="0">
                <a:solidFill>
                  <a:srgbClr val="B7C0CC"/>
                </a:solidFill>
              </a:rPr>
              <a:t>s ~ Beta(1.3, 1.6), from healthy to advanced type 2 diabetes</a:t>
            </a:r>
            <a:endParaRPr lang="en-US" sz="1400" dirty="0"/>
          </a:p>
        </p:txBody>
      </p:sp>
      <p:sp>
        <p:nvSpPr>
          <p:cNvPr id="6" name="flow arrow"/>
          <p:cNvSpPr/>
          <p:nvPr/>
        </p:nvSpPr>
        <p:spPr>
          <a:xfrm>
            <a:off x="2610612" y="2057400"/>
            <a:ext cx="274320" cy="457200"/>
          </a:xfrm>
          <a:prstGeom prst="rightArrow">
            <a:avLst/>
          </a:prstGeom>
          <a:solidFill>
            <a:srgbClr val="56606E"/>
          </a:solidFill>
          <a:ln w="12700">
            <a:solidFill>
              <a:srgbClr val="56606E"/>
            </a:solidFill>
            <a:prstDash val="solid"/>
          </a:ln>
        </p:spPr>
      </p:sp>
      <p:sp>
        <p:nvSpPr>
          <p:cNvPr id="7" name="2  Physiology"/>
          <p:cNvSpPr/>
          <p:nvPr/>
        </p:nvSpPr>
        <p:spPr>
          <a:xfrm>
            <a:off x="2807208" y="1325880"/>
            <a:ext cx="2075688" cy="1874520"/>
          </a:xfrm>
          <a:prstGeom prst="roundRect">
            <a:avLst>
              <a:gd name="adj" fmla="val 4878"/>
            </a:avLst>
          </a:prstGeom>
          <a:solidFill>
            <a:srgbClr val="141820"/>
          </a:solidFill>
          <a:ln w="9525">
            <a:solidFill>
              <a:srgbClr val="3D8BFF"/>
            </a:solidFill>
            <a:prstDash val="solid"/>
          </a:ln>
        </p:spPr>
      </p:sp>
      <p:sp>
        <p:nvSpPr>
          <p:cNvPr id="8" name="2  Physiology text"/>
          <p:cNvSpPr txBox="1"/>
          <p:nvPr/>
        </p:nvSpPr>
        <p:spPr>
          <a:xfrm>
            <a:off x="2916936" y="1380744"/>
            <a:ext cx="1856232" cy="1764792"/>
          </a:xfrm>
          <a:prstGeom prst="rect">
            <a:avLst/>
          </a:prstGeom>
          <a:noFill/>
          <a:ln/>
        </p:spPr>
        <p:txBody>
          <a:bodyPr wrap="square" lIns="0" tIns="0" rIns="0" bIns="0" rtlCol="0" anchor="ctr"/>
          <a:lstStyle/>
          <a:p>
            <a:pPr marL="0" indent="0">
              <a:buNone/>
            </a:pPr>
            <a:r>
              <a:rPr lang="en-US" sz="1400" b="1" dirty="0">
                <a:solidFill>
                  <a:srgbClr val="FFFFFF"/>
                </a:solidFill>
              </a:rPr>
              <a:t>2  Physiology</a:t>
            </a:r>
            <a:endParaRPr lang="en-US" sz="1400" dirty="0"/>
          </a:p>
          <a:p>
            <a:pPr marL="0" indent="0">
              <a:buNone/>
            </a:pPr>
            <a:r>
              <a:rPr lang="en-US" sz="1150" dirty="0">
                <a:solidFill>
                  <a:srgbClr val="B7C0CC"/>
                </a:solidFill>
              </a:rPr>
              <a:t>insulin sensitivity, insulin release (about 15% lower per TCF7L2 risk allele), basal glucose</a:t>
            </a:r>
            <a:endParaRPr lang="en-US" sz="1400" dirty="0"/>
          </a:p>
        </p:txBody>
      </p:sp>
      <p:sp>
        <p:nvSpPr>
          <p:cNvPr id="9" name="flow arrow"/>
          <p:cNvSpPr/>
          <p:nvPr/>
        </p:nvSpPr>
        <p:spPr>
          <a:xfrm>
            <a:off x="4869180" y="2057400"/>
            <a:ext cx="274320" cy="457200"/>
          </a:xfrm>
          <a:prstGeom prst="rightArrow">
            <a:avLst/>
          </a:prstGeom>
          <a:solidFill>
            <a:srgbClr val="56606E"/>
          </a:solidFill>
          <a:ln w="12700">
            <a:solidFill>
              <a:srgbClr val="56606E"/>
            </a:solidFill>
            <a:prstDash val="solid"/>
          </a:ln>
        </p:spPr>
      </p:sp>
      <p:sp>
        <p:nvSpPr>
          <p:cNvPr id="10" name="3  Health record"/>
          <p:cNvSpPr/>
          <p:nvPr/>
        </p:nvSpPr>
        <p:spPr>
          <a:xfrm>
            <a:off x="5065776" y="1325880"/>
            <a:ext cx="2075688" cy="1874520"/>
          </a:xfrm>
          <a:prstGeom prst="roundRect">
            <a:avLst>
              <a:gd name="adj" fmla="val 4878"/>
            </a:avLst>
          </a:prstGeom>
          <a:solidFill>
            <a:srgbClr val="141820"/>
          </a:solidFill>
          <a:ln w="9525">
            <a:solidFill>
              <a:srgbClr val="3D8BFF"/>
            </a:solidFill>
            <a:prstDash val="solid"/>
          </a:ln>
        </p:spPr>
      </p:sp>
      <p:sp>
        <p:nvSpPr>
          <p:cNvPr id="11" name="3  Health record text"/>
          <p:cNvSpPr txBox="1"/>
          <p:nvPr/>
        </p:nvSpPr>
        <p:spPr>
          <a:xfrm>
            <a:off x="5175504" y="1380744"/>
            <a:ext cx="1856232" cy="1764792"/>
          </a:xfrm>
          <a:prstGeom prst="rect">
            <a:avLst/>
          </a:prstGeom>
          <a:noFill/>
          <a:ln/>
        </p:spPr>
        <p:txBody>
          <a:bodyPr wrap="square" lIns="0" tIns="0" rIns="0" bIns="0" rtlCol="0" anchor="ctr"/>
          <a:lstStyle/>
          <a:p>
            <a:pPr marL="0" indent="0">
              <a:buNone/>
            </a:pPr>
            <a:r>
              <a:rPr lang="en-US" sz="1400" b="1" dirty="0">
                <a:solidFill>
                  <a:srgbClr val="FFFFFF"/>
                </a:solidFill>
              </a:rPr>
              <a:t>3  Health record</a:t>
            </a:r>
            <a:endParaRPr lang="en-US" sz="1400" dirty="0"/>
          </a:p>
          <a:p>
            <a:pPr marL="0" indent="0">
              <a:buNone/>
            </a:pPr>
            <a:r>
              <a:rPr lang="en-US" sz="1150" dirty="0">
                <a:solidFill>
                  <a:srgbClr val="B7C0CC"/>
                </a:solidFill>
              </a:rPr>
              <a:t>HbA1c from mean glucose (ADAG), fasting glucose and insulin, diagnoses, medications, family history</a:t>
            </a:r>
            <a:endParaRPr lang="en-US" sz="1400" dirty="0"/>
          </a:p>
        </p:txBody>
      </p:sp>
      <p:sp>
        <p:nvSpPr>
          <p:cNvPr id="12" name="flow arrow"/>
          <p:cNvSpPr/>
          <p:nvPr/>
        </p:nvSpPr>
        <p:spPr>
          <a:xfrm>
            <a:off x="7127748" y="2057400"/>
            <a:ext cx="274320" cy="457200"/>
          </a:xfrm>
          <a:prstGeom prst="rightArrow">
            <a:avLst/>
          </a:prstGeom>
          <a:solidFill>
            <a:srgbClr val="56606E"/>
          </a:solidFill>
          <a:ln w="12700">
            <a:solidFill>
              <a:srgbClr val="56606E"/>
            </a:solidFill>
            <a:prstDash val="solid"/>
          </a:ln>
        </p:spPr>
      </p:sp>
      <p:sp>
        <p:nvSpPr>
          <p:cNvPr id="13" name="4  Daily life"/>
          <p:cNvSpPr/>
          <p:nvPr/>
        </p:nvSpPr>
        <p:spPr>
          <a:xfrm>
            <a:off x="7324344" y="1325880"/>
            <a:ext cx="2075688" cy="1874520"/>
          </a:xfrm>
          <a:prstGeom prst="roundRect">
            <a:avLst>
              <a:gd name="adj" fmla="val 4878"/>
            </a:avLst>
          </a:prstGeom>
          <a:solidFill>
            <a:srgbClr val="141820"/>
          </a:solidFill>
          <a:ln w="9525">
            <a:solidFill>
              <a:srgbClr val="F5A623"/>
            </a:solidFill>
            <a:prstDash val="solid"/>
          </a:ln>
        </p:spPr>
      </p:sp>
      <p:sp>
        <p:nvSpPr>
          <p:cNvPr id="14" name="4  Daily life text"/>
          <p:cNvSpPr txBox="1"/>
          <p:nvPr/>
        </p:nvSpPr>
        <p:spPr>
          <a:xfrm>
            <a:off x="7434072" y="1380744"/>
            <a:ext cx="1856232" cy="1764792"/>
          </a:xfrm>
          <a:prstGeom prst="rect">
            <a:avLst/>
          </a:prstGeom>
          <a:noFill/>
          <a:ln/>
        </p:spPr>
        <p:txBody>
          <a:bodyPr wrap="square" lIns="0" tIns="0" rIns="0" bIns="0" rtlCol="0" anchor="ctr"/>
          <a:lstStyle/>
          <a:p>
            <a:pPr marL="0" indent="0">
              <a:buNone/>
            </a:pPr>
            <a:r>
              <a:rPr lang="en-US" sz="1400" b="1" dirty="0">
                <a:solidFill>
                  <a:srgbClr val="FFFFFF"/>
                </a:solidFill>
              </a:rPr>
              <a:t>4  Daily life</a:t>
            </a:r>
            <a:endParaRPr lang="en-US" sz="1400" dirty="0"/>
          </a:p>
          <a:p>
            <a:pPr marL="0" indent="0">
              <a:buNone/>
            </a:pPr>
            <a:r>
              <a:rPr lang="en-US" sz="1150" dirty="0">
                <a:solidFill>
                  <a:srgbClr val="B7C0CC"/>
                </a:solidFill>
              </a:rPr>
              <a:t>meals from regional Indian plates (INDB recipes, measured GIs), walks, sleep, unlogged meals</a:t>
            </a:r>
            <a:endParaRPr lang="en-US" sz="1400" dirty="0"/>
          </a:p>
        </p:txBody>
      </p:sp>
      <p:sp>
        <p:nvSpPr>
          <p:cNvPr id="15" name="flow arrow"/>
          <p:cNvSpPr/>
          <p:nvPr/>
        </p:nvSpPr>
        <p:spPr>
          <a:xfrm>
            <a:off x="9386316" y="2057400"/>
            <a:ext cx="274320" cy="457200"/>
          </a:xfrm>
          <a:prstGeom prst="rightArrow">
            <a:avLst/>
          </a:prstGeom>
          <a:solidFill>
            <a:srgbClr val="56606E"/>
          </a:solidFill>
          <a:ln w="12700">
            <a:solidFill>
              <a:srgbClr val="56606E"/>
            </a:solidFill>
            <a:prstDash val="solid"/>
          </a:ln>
        </p:spPr>
      </p:sp>
      <p:sp>
        <p:nvSpPr>
          <p:cNvPr id="16" name="5  Richer simulator"/>
          <p:cNvSpPr/>
          <p:nvPr/>
        </p:nvSpPr>
        <p:spPr>
          <a:xfrm>
            <a:off x="9582912" y="1325880"/>
            <a:ext cx="2075688" cy="1874520"/>
          </a:xfrm>
          <a:prstGeom prst="roundRect">
            <a:avLst>
              <a:gd name="adj" fmla="val 4878"/>
            </a:avLst>
          </a:prstGeom>
          <a:solidFill>
            <a:srgbClr val="141820"/>
          </a:solidFill>
          <a:ln w="9525">
            <a:solidFill>
              <a:srgbClr val="2ECC8F"/>
            </a:solidFill>
            <a:prstDash val="solid"/>
          </a:ln>
        </p:spPr>
      </p:sp>
      <p:sp>
        <p:nvSpPr>
          <p:cNvPr id="17" name="5  Richer simulator text"/>
          <p:cNvSpPr txBox="1"/>
          <p:nvPr/>
        </p:nvSpPr>
        <p:spPr>
          <a:xfrm>
            <a:off x="9692640" y="1380744"/>
            <a:ext cx="1856232" cy="1764792"/>
          </a:xfrm>
          <a:prstGeom prst="rect">
            <a:avLst/>
          </a:prstGeom>
          <a:noFill/>
          <a:ln/>
        </p:spPr>
        <p:txBody>
          <a:bodyPr wrap="square" lIns="0" tIns="0" rIns="0" bIns="0" rtlCol="0" anchor="ctr"/>
          <a:lstStyle/>
          <a:p>
            <a:pPr marL="0" indent="0">
              <a:buNone/>
            </a:pPr>
            <a:r>
              <a:rPr lang="en-US" sz="1400" b="1" dirty="0">
                <a:solidFill>
                  <a:srgbClr val="FFFFFF"/>
                </a:solidFill>
              </a:rPr>
              <a:t>5  Richer simulator</a:t>
            </a:r>
            <a:endParaRPr lang="en-US" sz="1400" dirty="0"/>
          </a:p>
          <a:p>
            <a:pPr marL="0" indent="0">
              <a:buNone/>
            </a:pPr>
            <a:r>
              <a:rPr lang="en-US" sz="1150" dirty="0">
                <a:solidFill>
                  <a:srgbClr val="B7C0CC"/>
                </a:solidFill>
              </a:rPr>
              <a:t>nonlinear stomach, first-phase insulin, liver suppression, circadian and dawn effects, sensor lag and noise</a:t>
            </a:r>
            <a:endParaRPr lang="en-US" sz="1400" dirty="0"/>
          </a:p>
        </p:txBody>
      </p:sp>
      <p:sp>
        <p:nvSpPr>
          <p:cNvPr id="18" name="ehr head"/>
          <p:cNvSpPr txBox="1"/>
          <p:nvPr/>
        </p:nvSpPr>
        <p:spPr>
          <a:xfrm>
            <a:off x="548640" y="3429000"/>
            <a:ext cx="10972800" cy="320040"/>
          </a:xfrm>
          <a:prstGeom prst="rect">
            <a:avLst/>
          </a:prstGeom>
          <a:noFill/>
          <a:ln/>
        </p:spPr>
        <p:txBody>
          <a:bodyPr wrap="square" lIns="0" tIns="0" rIns="0" bIns="0" rtlCol="0" anchor="t"/>
          <a:lstStyle/>
          <a:p>
            <a:pPr marL="0" indent="0">
              <a:buNone/>
            </a:pPr>
            <a:r>
              <a:rPr lang="en-US" sz="1300" b="1" dirty="0">
                <a:solidFill>
                  <a:srgbClr val="B7C0CC"/>
                </a:solidFill>
              </a:rPr>
              <a:t>One synthetic health record (Synthea-style CSV tables) and its wearable stream</a:t>
            </a:r>
            <a:endParaRPr lang="en-US" sz="1300" dirty="0"/>
          </a:p>
        </p:txBody>
      </p:sp>
      <p:graphicFrame>
        <p:nvGraphicFramePr>
          <p:cNvPr id="2" name="ehr table"/>
          <p:cNvGraphicFramePr>
            <a:graphicFrameLocks noGrp="1"/>
          </p:cNvGraphicFramePr>
          <p:nvPr>
            <p:extLst>
              <p:ext uri="{D42A27DB-BD31-4B8C-83A1-F6EECF244321}">
                <p14:modId xmlns:p14="http://schemas.microsoft.com/office/powerpoint/2010/main" val="1579011935"/>
              </p:ext>
            </p:extLst>
          </p:nvPr>
        </p:nvGraphicFramePr>
        <p:xfrm>
          <a:off x="548640" y="3794760"/>
          <a:ext cx="11064240" cy="731520"/>
        </p:xfrm>
        <a:graphic>
          <a:graphicData uri="http://schemas.openxmlformats.org/drawingml/2006/table">
            <a:tbl>
              <a:tblPr/>
              <a:tblGrid>
                <a:gridCol w="10058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gridCol w="2011680">
                  <a:extLst>
                    <a:ext uri="{9D8B030D-6E8A-4147-A177-3AD203B41FA5}">
                      <a16:colId xmlns:a16="http://schemas.microsoft.com/office/drawing/2014/main" val="20007"/>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Id</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Born</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Sex</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TCF7L2 risk alleles</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Diagnosis (SNOMED)</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HbA1c</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Fasting glucose</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Medication</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extLst>
                  <a:ext uri="{0D108BD9-81ED-4DB2-BD59-A6C34878D82A}">
                    <a16:rowId xmlns:a16="http://schemas.microsoft.com/office/drawing/2014/main" val="10000"/>
                  </a:ext>
                </a:extLst>
              </a:tr>
              <a:tr h="365760">
                <a:tc>
                  <a:txBody>
                    <a:bodyPr/>
                    <a:lstStyle/>
                    <a:p>
                      <a:pPr marL="0" indent="0">
                        <a:buNone/>
                      </a:pPr>
                      <a:r>
                        <a:rPr lang="en-US" sz="1250" dirty="0">
                          <a:solidFill>
                            <a:srgbClr val="B7C0CC"/>
                          </a:solidFill>
                          <a:latin typeface="Calibri" pitchFamily="34" charset="0"/>
                          <a:ea typeface="Calibri" pitchFamily="34" charset="-122"/>
                          <a:cs typeface="Calibri" pitchFamily="34" charset="-120"/>
                        </a:rPr>
                        <a:t>SYN-001</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250" dirty="0">
                          <a:solidFill>
                            <a:srgbClr val="B7C0CC"/>
                          </a:solidFill>
                          <a:latin typeface="Calibri" pitchFamily="34" charset="0"/>
                          <a:ea typeface="Calibri" pitchFamily="34" charset="-122"/>
                          <a:cs typeface="Calibri" pitchFamily="34" charset="-120"/>
                        </a:rPr>
                        <a:t>1971</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250" dirty="0">
                          <a:solidFill>
                            <a:srgbClr val="B7C0CC"/>
                          </a:solidFill>
                          <a:latin typeface="Calibri" pitchFamily="34" charset="0"/>
                          <a:ea typeface="Calibri" pitchFamily="34" charset="-122"/>
                          <a:cs typeface="Calibri" pitchFamily="34" charset="-120"/>
                        </a:rPr>
                        <a:t>F</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250" dirty="0">
                          <a:solidFill>
                            <a:srgbClr val="B7C0CC"/>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250" dirty="0">
                          <a:solidFill>
                            <a:srgbClr val="B7C0CC"/>
                          </a:solidFill>
                          <a:latin typeface="Calibri" pitchFamily="34" charset="0"/>
                          <a:ea typeface="Calibri" pitchFamily="34" charset="-122"/>
                          <a:cs typeface="Calibri" pitchFamily="34" charset="-120"/>
                        </a:rPr>
                        <a:t>Type 2 diabetes (44054006)</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250" dirty="0">
                          <a:solidFill>
                            <a:srgbClr val="B7C0CC"/>
                          </a:solidFill>
                          <a:latin typeface="Calibri" pitchFamily="34" charset="0"/>
                          <a:ea typeface="Calibri" pitchFamily="34" charset="-122"/>
                          <a:cs typeface="Calibri" pitchFamily="34" charset="-120"/>
                        </a:rPr>
                        <a:t>6.5%</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250" dirty="0">
                          <a:solidFill>
                            <a:srgbClr val="B7C0CC"/>
                          </a:solidFill>
                          <a:latin typeface="Calibri" pitchFamily="34" charset="0"/>
                          <a:ea typeface="Calibri" pitchFamily="34" charset="-122"/>
                          <a:cs typeface="Calibri" pitchFamily="34" charset="-120"/>
                        </a:rPr>
                        <a:t>105 mg/dL</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250" dirty="0">
                          <a:solidFill>
                            <a:srgbClr val="B7C0CC"/>
                          </a:solidFill>
                          <a:latin typeface="Calibri" pitchFamily="34" charset="0"/>
                          <a:ea typeface="Calibri" pitchFamily="34" charset="-122"/>
                          <a:cs typeface="Calibri" pitchFamily="34" charset="-120"/>
                        </a:rPr>
                        <a:t>metformin</a:t>
                      </a:r>
                      <a:endParaRPr lang="en-US" sz="12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1"/>
                  </a:ext>
                </a:extLst>
              </a:tr>
            </a:tbl>
          </a:graphicData>
        </a:graphic>
      </p:graphicFrame>
      <p:sp>
        <p:nvSpPr>
          <p:cNvPr id="20" name="stream line"/>
          <p:cNvSpPr txBox="1"/>
          <p:nvPr/>
        </p:nvSpPr>
        <p:spPr>
          <a:xfrm>
            <a:off x="548640" y="4572000"/>
            <a:ext cx="10972800" cy="320040"/>
          </a:xfrm>
          <a:prstGeom prst="rect">
            <a:avLst/>
          </a:prstGeom>
          <a:noFill/>
          <a:ln/>
        </p:spPr>
        <p:txBody>
          <a:bodyPr wrap="square" lIns="0" tIns="0" rIns="0" bIns="0" rtlCol="0" anchor="t"/>
          <a:lstStyle/>
          <a:p>
            <a:pPr marL="0" indent="0">
              <a:buNone/>
            </a:pPr>
            <a:r>
              <a:rPr lang="en-US" sz="1300" dirty="0">
                <a:solidFill>
                  <a:srgbClr val="B7C0CC"/>
                </a:solidFill>
              </a:rPr>
              <a:t>+ every 5 minutes: glucose, heart rate, steps, METs, sleep stage</a:t>
            </a:r>
            <a:endParaRPr lang="en-US" sz="1300" dirty="0"/>
          </a:p>
        </p:txBody>
      </p:sp>
      <p:sp>
        <p:nvSpPr>
          <p:cNvPr id="21" name="gen stat 1"/>
          <p:cNvSpPr/>
          <p:nvPr/>
        </p:nvSpPr>
        <p:spPr>
          <a:xfrm>
            <a:off x="548640" y="4983480"/>
            <a:ext cx="2651760" cy="868680"/>
          </a:xfrm>
          <a:prstGeom prst="roundRect">
            <a:avLst>
              <a:gd name="adj" fmla="val 10526"/>
            </a:avLst>
          </a:prstGeom>
          <a:solidFill>
            <a:srgbClr val="141820"/>
          </a:solidFill>
          <a:ln w="9525">
            <a:solidFill>
              <a:srgbClr val="283040"/>
            </a:solidFill>
            <a:prstDash val="solid"/>
          </a:ln>
        </p:spPr>
      </p:sp>
      <p:sp>
        <p:nvSpPr>
          <p:cNvPr id="22" name="gen stat 1 text"/>
          <p:cNvSpPr txBox="1"/>
          <p:nvPr/>
        </p:nvSpPr>
        <p:spPr>
          <a:xfrm>
            <a:off x="685800" y="5029200"/>
            <a:ext cx="2423160" cy="777240"/>
          </a:xfrm>
          <a:prstGeom prst="rect">
            <a:avLst/>
          </a:prstGeom>
          <a:noFill/>
          <a:ln/>
        </p:spPr>
        <p:txBody>
          <a:bodyPr wrap="square" lIns="0" tIns="0" rIns="0" bIns="0" rtlCol="0" anchor="ctr"/>
          <a:lstStyle/>
          <a:p>
            <a:pPr marL="0" indent="0">
              <a:buNone/>
            </a:pPr>
            <a:r>
              <a:rPr lang="en-US" sz="1800" b="1" dirty="0">
                <a:solidFill>
                  <a:srgbClr val="F5A623"/>
                </a:solidFill>
              </a:rPr>
              <a:t>6 × 60  </a:t>
            </a:r>
            <a:r>
              <a:rPr lang="en-US" sz="1200" dirty="0">
                <a:solidFill>
                  <a:srgbClr val="B7C0CC"/>
                </a:solidFill>
              </a:rPr>
              <a:t>simulated adults in six Indian regions</a:t>
            </a:r>
            <a:endParaRPr lang="en-US" sz="1400" dirty="0"/>
          </a:p>
        </p:txBody>
      </p:sp>
      <p:sp>
        <p:nvSpPr>
          <p:cNvPr id="23" name="gen stat 2"/>
          <p:cNvSpPr/>
          <p:nvPr/>
        </p:nvSpPr>
        <p:spPr>
          <a:xfrm>
            <a:off x="3355848" y="4983480"/>
            <a:ext cx="2651760" cy="868680"/>
          </a:xfrm>
          <a:prstGeom prst="roundRect">
            <a:avLst>
              <a:gd name="adj" fmla="val 10526"/>
            </a:avLst>
          </a:prstGeom>
          <a:solidFill>
            <a:srgbClr val="141820"/>
          </a:solidFill>
          <a:ln w="9525">
            <a:solidFill>
              <a:srgbClr val="283040"/>
            </a:solidFill>
            <a:prstDash val="solid"/>
          </a:ln>
        </p:spPr>
      </p:sp>
      <p:sp>
        <p:nvSpPr>
          <p:cNvPr id="24" name="gen stat 2 text"/>
          <p:cNvSpPr txBox="1"/>
          <p:nvPr/>
        </p:nvSpPr>
        <p:spPr>
          <a:xfrm>
            <a:off x="3493008" y="5029200"/>
            <a:ext cx="2423160" cy="777240"/>
          </a:xfrm>
          <a:prstGeom prst="rect">
            <a:avLst/>
          </a:prstGeom>
          <a:noFill/>
          <a:ln/>
        </p:spPr>
        <p:txBody>
          <a:bodyPr wrap="square" lIns="0" tIns="0" rIns="0" bIns="0" rtlCol="0" anchor="ctr"/>
          <a:lstStyle/>
          <a:p>
            <a:pPr marL="0" indent="0">
              <a:buNone/>
            </a:pPr>
            <a:r>
              <a:rPr lang="en-US" sz="1800" b="1" dirty="0">
                <a:solidFill>
                  <a:srgbClr val="F5A623"/>
                </a:solidFill>
              </a:rPr>
              <a:t>± 4.5 points  </a:t>
            </a:r>
            <a:r>
              <a:rPr lang="en-US" sz="1200" dirty="0">
                <a:solidFill>
                  <a:srgbClr val="B7C0CC"/>
                </a:solidFill>
              </a:rPr>
              <a:t>every regional diet vs ICMR-INDIAB-21</a:t>
            </a:r>
            <a:endParaRPr lang="en-US" sz="1400" dirty="0"/>
          </a:p>
        </p:txBody>
      </p:sp>
      <p:sp>
        <p:nvSpPr>
          <p:cNvPr id="25" name="gen stat 3"/>
          <p:cNvSpPr/>
          <p:nvPr/>
        </p:nvSpPr>
        <p:spPr>
          <a:xfrm>
            <a:off x="6163056" y="4983480"/>
            <a:ext cx="2651760" cy="868680"/>
          </a:xfrm>
          <a:prstGeom prst="roundRect">
            <a:avLst>
              <a:gd name="adj" fmla="val 10526"/>
            </a:avLst>
          </a:prstGeom>
          <a:solidFill>
            <a:srgbClr val="141820"/>
          </a:solidFill>
          <a:ln w="9525">
            <a:solidFill>
              <a:srgbClr val="283040"/>
            </a:solidFill>
            <a:prstDash val="solid"/>
          </a:ln>
        </p:spPr>
      </p:sp>
      <p:sp>
        <p:nvSpPr>
          <p:cNvPr id="26" name="gen stat 3 text"/>
          <p:cNvSpPr txBox="1"/>
          <p:nvPr/>
        </p:nvSpPr>
        <p:spPr>
          <a:xfrm>
            <a:off x="6300216" y="5029200"/>
            <a:ext cx="2423160" cy="777240"/>
          </a:xfrm>
          <a:prstGeom prst="rect">
            <a:avLst/>
          </a:prstGeom>
          <a:noFill/>
          <a:ln/>
        </p:spPr>
        <p:txBody>
          <a:bodyPr wrap="square" lIns="0" tIns="0" rIns="0" bIns="0" rtlCol="0" anchor="ctr"/>
          <a:lstStyle/>
          <a:p>
            <a:pPr marL="0" indent="0">
              <a:buNone/>
            </a:pPr>
            <a:r>
              <a:rPr lang="en-US" sz="1800" b="1" dirty="0">
                <a:solidFill>
                  <a:srgbClr val="F5A623"/>
                </a:solidFill>
              </a:rPr>
              <a:t>± 1 point  </a:t>
            </a:r>
            <a:r>
              <a:rPr lang="en-US" sz="1200" dirty="0">
                <a:solidFill>
                  <a:srgbClr val="B7C0CC"/>
                </a:solidFill>
              </a:rPr>
              <a:t>prevalence of prediabetes and diabetes</a:t>
            </a:r>
            <a:endParaRPr lang="en-US" sz="1400" dirty="0"/>
          </a:p>
        </p:txBody>
      </p:sp>
      <p:sp>
        <p:nvSpPr>
          <p:cNvPr id="27" name="gen stat 4"/>
          <p:cNvSpPr/>
          <p:nvPr/>
        </p:nvSpPr>
        <p:spPr>
          <a:xfrm>
            <a:off x="8970264" y="4983480"/>
            <a:ext cx="2651760" cy="868680"/>
          </a:xfrm>
          <a:prstGeom prst="roundRect">
            <a:avLst>
              <a:gd name="adj" fmla="val 10526"/>
            </a:avLst>
          </a:prstGeom>
          <a:solidFill>
            <a:srgbClr val="141820"/>
          </a:solidFill>
          <a:ln w="9525">
            <a:solidFill>
              <a:srgbClr val="283040"/>
            </a:solidFill>
            <a:prstDash val="solid"/>
          </a:ln>
        </p:spPr>
      </p:sp>
      <p:sp>
        <p:nvSpPr>
          <p:cNvPr id="28" name="gen stat 4 text"/>
          <p:cNvSpPr txBox="1"/>
          <p:nvPr/>
        </p:nvSpPr>
        <p:spPr>
          <a:xfrm>
            <a:off x="9107424" y="5029200"/>
            <a:ext cx="2423160" cy="777240"/>
          </a:xfrm>
          <a:prstGeom prst="rect">
            <a:avLst/>
          </a:prstGeom>
          <a:noFill/>
          <a:ln/>
        </p:spPr>
        <p:txBody>
          <a:bodyPr wrap="square" lIns="0" tIns="0" rIns="0" bIns="0" rtlCol="0" anchor="ctr"/>
          <a:lstStyle/>
          <a:p>
            <a:pPr marL="0" indent="0">
              <a:buNone/>
            </a:pPr>
            <a:r>
              <a:rPr lang="en-US" sz="1800" b="1" dirty="0">
                <a:solidFill>
                  <a:srgbClr val="F5A623"/>
                </a:solidFill>
              </a:rPr>
              <a:t>Exact  </a:t>
            </a:r>
            <a:r>
              <a:rPr lang="en-US" sz="1200" dirty="0">
                <a:solidFill>
                  <a:srgbClr val="B7C0CC"/>
                </a:solidFill>
              </a:rPr>
              <a:t>true counterfactual for every what-if</a:t>
            </a:r>
            <a:endParaRPr lang="en-US" sz="1400" dirty="0"/>
          </a:p>
        </p:txBody>
      </p:sp>
      <p:sp>
        <p:nvSpPr>
          <p:cNvPr id="29"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7D8794"/>
                </a:solidFill>
              </a:rPr>
              <a:t>Survey [13]; recipes [14]; GIs [15]; HbA1c [16]; record format [27]. Code: twin/synth.py, twin/india.py.</a:t>
            </a:r>
            <a:endParaRPr lang="en-US" sz="1000" dirty="0"/>
          </a:p>
        </p:txBody>
      </p:sp>
      <p:sp>
        <p:nvSpPr>
          <p:cNvPr id="19"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The architecture, in four steps</a:t>
            </a:r>
            <a:endParaRPr lang="en-US" sz="3400" dirty="0"/>
          </a:p>
        </p:txBody>
      </p:sp>
      <p:sp>
        <p:nvSpPr>
          <p:cNvPr id="4" name="1   ONE PERSON&amp;apos;S DATA"/>
          <p:cNvSpPr txBox="1"/>
          <p:nvPr/>
        </p:nvSpPr>
        <p:spPr>
          <a:xfrm>
            <a:off x="502920" y="1207008"/>
            <a:ext cx="2331720" cy="274320"/>
          </a:xfrm>
          <a:prstGeom prst="rect">
            <a:avLst/>
          </a:prstGeom>
          <a:noFill/>
          <a:ln/>
        </p:spPr>
        <p:txBody>
          <a:bodyPr wrap="square" lIns="0" tIns="0" rIns="0" bIns="0" rtlCol="0" anchor="t"/>
          <a:lstStyle/>
          <a:p>
            <a:pPr marL="0" indent="0">
              <a:buNone/>
            </a:pPr>
            <a:r>
              <a:rPr lang="en-US" sz="1100" b="1" kern="0" spc="100" dirty="0">
                <a:solidFill>
                  <a:srgbClr val="F5A623"/>
                </a:solidFill>
              </a:rPr>
              <a:t>1   ONE PERSON'S DATA</a:t>
            </a:r>
            <a:endParaRPr lang="en-US" sz="1100" dirty="0"/>
          </a:p>
        </p:txBody>
      </p:sp>
      <p:sp>
        <p:nvSpPr>
          <p:cNvPr id="5" name="2   THE TWIN, CORRECTED AT EVERY READING"/>
          <p:cNvSpPr txBox="1"/>
          <p:nvPr/>
        </p:nvSpPr>
        <p:spPr>
          <a:xfrm>
            <a:off x="3154680" y="1207008"/>
            <a:ext cx="3200400" cy="274320"/>
          </a:xfrm>
          <a:prstGeom prst="rect">
            <a:avLst/>
          </a:prstGeom>
          <a:noFill/>
          <a:ln/>
        </p:spPr>
        <p:txBody>
          <a:bodyPr wrap="square" lIns="0" tIns="0" rIns="0" bIns="0" rtlCol="0" anchor="t"/>
          <a:lstStyle/>
          <a:p>
            <a:pPr marL="0" indent="0">
              <a:buNone/>
            </a:pPr>
            <a:r>
              <a:rPr lang="en-US" sz="1100" b="1" kern="0" spc="100" dirty="0">
                <a:solidFill>
                  <a:srgbClr val="3D8BFF"/>
                </a:solidFill>
              </a:rPr>
              <a:t>2   THE TWIN, CORRECTED AT EVERY READING</a:t>
            </a:r>
            <a:endParaRPr lang="en-US" sz="1100" dirty="0"/>
          </a:p>
        </p:txBody>
      </p:sp>
      <p:sp>
        <p:nvSpPr>
          <p:cNvPr id="6" name="3   ONE FORECAST, WITH A RANGE"/>
          <p:cNvSpPr txBox="1"/>
          <p:nvPr/>
        </p:nvSpPr>
        <p:spPr>
          <a:xfrm>
            <a:off x="6675120" y="1207008"/>
            <a:ext cx="2514600" cy="274320"/>
          </a:xfrm>
          <a:prstGeom prst="rect">
            <a:avLst/>
          </a:prstGeom>
          <a:noFill/>
          <a:ln/>
        </p:spPr>
        <p:txBody>
          <a:bodyPr wrap="square" lIns="0" tIns="0" rIns="0" bIns="0" rtlCol="0" anchor="t"/>
          <a:lstStyle/>
          <a:p>
            <a:pPr marL="0" indent="0">
              <a:buNone/>
            </a:pPr>
            <a:r>
              <a:rPr lang="en-US" sz="1100" b="1" kern="0" spc="100" dirty="0">
                <a:solidFill>
                  <a:srgbClr val="2ECC8F"/>
                </a:solidFill>
              </a:rPr>
              <a:t>3   ONE FORECAST, WITH A RANGE</a:t>
            </a:r>
            <a:endParaRPr lang="en-US" sz="1100" dirty="0"/>
          </a:p>
        </p:txBody>
      </p:sp>
      <p:sp>
        <p:nvSpPr>
          <p:cNvPr id="7" name="4   WHAT THE DOCTOR GETS"/>
          <p:cNvSpPr txBox="1"/>
          <p:nvPr/>
        </p:nvSpPr>
        <p:spPr>
          <a:xfrm>
            <a:off x="9509760" y="1207008"/>
            <a:ext cx="2194560" cy="274320"/>
          </a:xfrm>
          <a:prstGeom prst="rect">
            <a:avLst/>
          </a:prstGeom>
          <a:noFill/>
          <a:ln/>
        </p:spPr>
        <p:txBody>
          <a:bodyPr wrap="square" lIns="0" tIns="0" rIns="0" bIns="0" rtlCol="0" anchor="t"/>
          <a:lstStyle/>
          <a:p>
            <a:pPr marL="0" indent="0">
              <a:buNone/>
            </a:pPr>
            <a:r>
              <a:rPr lang="en-US" sz="1100" b="1" kern="0" spc="100" dirty="0">
                <a:solidFill>
                  <a:srgbClr val="C792EA"/>
                </a:solidFill>
              </a:rPr>
              <a:t>4   WHAT THE DOCTOR GETS</a:t>
            </a:r>
            <a:endParaRPr lang="en-US" sz="1100" dirty="0"/>
          </a:p>
        </p:txBody>
      </p:sp>
      <p:sp>
        <p:nvSpPr>
          <p:cNvPr id="8" name="Health record (slow)"/>
          <p:cNvSpPr/>
          <p:nvPr/>
        </p:nvSpPr>
        <p:spPr>
          <a:xfrm>
            <a:off x="502920" y="1600200"/>
            <a:ext cx="2331720" cy="2011680"/>
          </a:xfrm>
          <a:prstGeom prst="roundRect">
            <a:avLst>
              <a:gd name="adj" fmla="val 4545"/>
            </a:avLst>
          </a:prstGeom>
          <a:solidFill>
            <a:srgbClr val="141820"/>
          </a:solidFill>
          <a:ln w="9525">
            <a:solidFill>
              <a:srgbClr val="F5A623"/>
            </a:solidFill>
            <a:prstDash val="solid"/>
          </a:ln>
        </p:spPr>
      </p:sp>
      <p:sp>
        <p:nvSpPr>
          <p:cNvPr id="9" name="Health record (slow) text"/>
          <p:cNvSpPr txBox="1"/>
          <p:nvPr/>
        </p:nvSpPr>
        <p:spPr>
          <a:xfrm>
            <a:off x="612648" y="1655064"/>
            <a:ext cx="2112264" cy="1901952"/>
          </a:xfrm>
          <a:prstGeom prst="rect">
            <a:avLst/>
          </a:prstGeom>
          <a:noFill/>
          <a:ln/>
        </p:spPr>
        <p:txBody>
          <a:bodyPr wrap="square" lIns="0" tIns="0" rIns="0" bIns="0" rtlCol="0" anchor="ctr"/>
          <a:lstStyle/>
          <a:p>
            <a:pPr marL="0" indent="0">
              <a:buNone/>
            </a:pPr>
            <a:r>
              <a:rPr lang="en-US" sz="1250" b="1" dirty="0">
                <a:solidFill>
                  <a:srgbClr val="FFFFFF"/>
                </a:solidFill>
              </a:rPr>
              <a:t>Health record (slow)</a:t>
            </a:r>
            <a:endParaRPr lang="en-US" sz="1400" dirty="0"/>
          </a:p>
          <a:p>
            <a:pPr marL="0" indent="0">
              <a:buNone/>
            </a:pPr>
            <a:r>
              <a:rPr lang="en-US" sz="1050" dirty="0">
                <a:solidFill>
                  <a:srgbClr val="B7C0CC"/>
                </a:solidFill>
              </a:rPr>
              <a:t>age, sex, BMI · HbA1c, fasting glucose and insulin · diagnoses · medicines · TCF7L2 gene marker · family history</a:t>
            </a:r>
            <a:endParaRPr lang="en-US" sz="1400" dirty="0"/>
          </a:p>
        </p:txBody>
      </p:sp>
      <p:sp>
        <p:nvSpPr>
          <p:cNvPr id="10" name="Live streams (fast)"/>
          <p:cNvSpPr/>
          <p:nvPr/>
        </p:nvSpPr>
        <p:spPr>
          <a:xfrm>
            <a:off x="502920" y="3749040"/>
            <a:ext cx="2331720" cy="1600200"/>
          </a:xfrm>
          <a:prstGeom prst="roundRect">
            <a:avLst>
              <a:gd name="adj" fmla="val 5714"/>
            </a:avLst>
          </a:prstGeom>
          <a:solidFill>
            <a:srgbClr val="141820"/>
          </a:solidFill>
          <a:ln w="9525">
            <a:solidFill>
              <a:srgbClr val="F5A623"/>
            </a:solidFill>
            <a:prstDash val="solid"/>
          </a:ln>
        </p:spPr>
      </p:sp>
      <p:sp>
        <p:nvSpPr>
          <p:cNvPr id="11" name="Live streams (fast) text"/>
          <p:cNvSpPr txBox="1"/>
          <p:nvPr/>
        </p:nvSpPr>
        <p:spPr>
          <a:xfrm>
            <a:off x="612648" y="3803904"/>
            <a:ext cx="2112264" cy="1490472"/>
          </a:xfrm>
          <a:prstGeom prst="rect">
            <a:avLst/>
          </a:prstGeom>
          <a:noFill/>
          <a:ln/>
        </p:spPr>
        <p:txBody>
          <a:bodyPr wrap="square" lIns="0" tIns="0" rIns="0" bIns="0" rtlCol="0" anchor="ctr"/>
          <a:lstStyle/>
          <a:p>
            <a:pPr marL="0" indent="0">
              <a:buNone/>
            </a:pPr>
            <a:r>
              <a:rPr lang="en-US" sz="1250" b="1" dirty="0">
                <a:solidFill>
                  <a:srgbClr val="FFFFFF"/>
                </a:solidFill>
              </a:rPr>
              <a:t>Live streams (fast)</a:t>
            </a:r>
            <a:endParaRPr lang="en-US" sz="1400" dirty="0"/>
          </a:p>
          <a:p>
            <a:pPr marL="0" indent="0">
              <a:buNone/>
            </a:pPr>
            <a:r>
              <a:rPr lang="en-US" sz="1050" dirty="0">
                <a:solidFill>
                  <a:srgbClr val="B7C0CC"/>
                </a:solidFill>
              </a:rPr>
              <a:t>glucose sensor every 5 to 15 min · logged meals (carbs, fat, protein, fibre) · watch: steps, heart rate, activity, sleep</a:t>
            </a:r>
            <a:endParaRPr lang="en-US" sz="1400" dirty="0"/>
          </a:p>
        </p:txBody>
      </p:sp>
      <p:sp>
        <p:nvSpPr>
          <p:cNvPr id="12" name="Labs → first guess"/>
          <p:cNvSpPr/>
          <p:nvPr/>
        </p:nvSpPr>
        <p:spPr>
          <a:xfrm>
            <a:off x="3154680" y="1600200"/>
            <a:ext cx="3200400" cy="777240"/>
          </a:xfrm>
          <a:prstGeom prst="roundRect">
            <a:avLst>
              <a:gd name="adj" fmla="val 11765"/>
            </a:avLst>
          </a:prstGeom>
          <a:solidFill>
            <a:srgbClr val="141820"/>
          </a:solidFill>
          <a:ln w="9525">
            <a:solidFill>
              <a:srgbClr val="3D8BFF"/>
            </a:solidFill>
            <a:prstDash val="solid"/>
          </a:ln>
        </p:spPr>
      </p:sp>
      <p:sp>
        <p:nvSpPr>
          <p:cNvPr id="13" name="Labs → first guess text"/>
          <p:cNvSpPr txBox="1"/>
          <p:nvPr/>
        </p:nvSpPr>
        <p:spPr>
          <a:xfrm>
            <a:off x="3264408" y="1655064"/>
            <a:ext cx="2980944" cy="667512"/>
          </a:xfrm>
          <a:prstGeom prst="rect">
            <a:avLst/>
          </a:prstGeom>
          <a:noFill/>
          <a:ln/>
        </p:spPr>
        <p:txBody>
          <a:bodyPr wrap="square" lIns="0" tIns="0" rIns="0" bIns="0" rtlCol="0" anchor="ctr"/>
          <a:lstStyle/>
          <a:p>
            <a:pPr marL="0" indent="0">
              <a:buNone/>
            </a:pPr>
            <a:r>
              <a:rPr lang="en-US" sz="1250" b="1" dirty="0">
                <a:solidFill>
                  <a:srgbClr val="FFFFFF"/>
                </a:solidFill>
              </a:rPr>
              <a:t>Labs → first guess</a:t>
            </a:r>
            <a:endParaRPr lang="en-US" sz="1400" dirty="0"/>
          </a:p>
          <a:p>
            <a:pPr marL="0" indent="0">
              <a:buNone/>
            </a:pPr>
            <a:r>
              <a:rPr lang="en-US" sz="1050" dirty="0">
                <a:solidFill>
                  <a:srgbClr val="B7C0CC"/>
                </a:solidFill>
              </a:rPr>
              <a:t>a map learned on other patients turns the labs into this person's starting dials</a:t>
            </a:r>
            <a:endParaRPr lang="en-US" sz="1400" dirty="0"/>
          </a:p>
        </p:txBody>
      </p:sp>
      <p:sp>
        <p:nvSpPr>
          <p:cNvPr id="14" name="Body model (physics)"/>
          <p:cNvSpPr/>
          <p:nvPr/>
        </p:nvSpPr>
        <p:spPr>
          <a:xfrm>
            <a:off x="3154680" y="2560320"/>
            <a:ext cx="3200400" cy="868680"/>
          </a:xfrm>
          <a:prstGeom prst="roundRect">
            <a:avLst>
              <a:gd name="adj" fmla="val 10526"/>
            </a:avLst>
          </a:prstGeom>
          <a:solidFill>
            <a:srgbClr val="141820"/>
          </a:solidFill>
          <a:ln w="9525">
            <a:solidFill>
              <a:srgbClr val="3D8BFF"/>
            </a:solidFill>
            <a:prstDash val="solid"/>
          </a:ln>
        </p:spPr>
      </p:sp>
      <p:sp>
        <p:nvSpPr>
          <p:cNvPr id="15" name="Body model (physics) text"/>
          <p:cNvSpPr txBox="1"/>
          <p:nvPr/>
        </p:nvSpPr>
        <p:spPr>
          <a:xfrm>
            <a:off x="3264408" y="2615184"/>
            <a:ext cx="2980944" cy="758952"/>
          </a:xfrm>
          <a:prstGeom prst="rect">
            <a:avLst/>
          </a:prstGeom>
          <a:noFill/>
          <a:ln/>
        </p:spPr>
        <p:txBody>
          <a:bodyPr wrap="square" lIns="0" tIns="0" rIns="0" bIns="0" rtlCol="0" anchor="ctr"/>
          <a:lstStyle/>
          <a:p>
            <a:pPr marL="0" indent="0">
              <a:buNone/>
            </a:pPr>
            <a:r>
              <a:rPr lang="en-US" sz="1250" b="1" dirty="0">
                <a:solidFill>
                  <a:srgbClr val="FFFFFF"/>
                </a:solidFill>
              </a:rPr>
              <a:t>Body model (physics)</a:t>
            </a:r>
            <a:endParaRPr lang="en-US" sz="1400" dirty="0"/>
          </a:p>
          <a:p>
            <a:pPr marL="0" indent="0">
              <a:buNone/>
            </a:pPr>
            <a:r>
              <a:rPr lang="en-US" sz="1050" dirty="0">
                <a:solidFill>
                  <a:srgbClr val="B7C0CC"/>
                </a:solidFill>
              </a:rPr>
              <a:t>4 moving parts: glucose, insulin, insulin drive, drift · 5 personal dials</a:t>
            </a:r>
            <a:endParaRPr lang="en-US" sz="1400" dirty="0"/>
          </a:p>
        </p:txBody>
      </p:sp>
      <p:sp>
        <p:nvSpPr>
          <p:cNvPr id="16" name="Self-correction"/>
          <p:cNvSpPr/>
          <p:nvPr/>
        </p:nvSpPr>
        <p:spPr>
          <a:xfrm>
            <a:off x="3154680" y="3611880"/>
            <a:ext cx="3200400" cy="868680"/>
          </a:xfrm>
          <a:prstGeom prst="roundRect">
            <a:avLst>
              <a:gd name="adj" fmla="val 10526"/>
            </a:avLst>
          </a:prstGeom>
          <a:solidFill>
            <a:srgbClr val="141820"/>
          </a:solidFill>
          <a:ln w="9525">
            <a:solidFill>
              <a:srgbClr val="3D8BFF"/>
            </a:solidFill>
            <a:prstDash val="solid"/>
          </a:ln>
        </p:spPr>
      </p:sp>
      <p:sp>
        <p:nvSpPr>
          <p:cNvPr id="17" name="Self-correction text"/>
          <p:cNvSpPr txBox="1"/>
          <p:nvPr/>
        </p:nvSpPr>
        <p:spPr>
          <a:xfrm>
            <a:off x="3264408" y="3666744"/>
            <a:ext cx="2980944" cy="758952"/>
          </a:xfrm>
          <a:prstGeom prst="rect">
            <a:avLst/>
          </a:prstGeom>
          <a:noFill/>
          <a:ln/>
        </p:spPr>
        <p:txBody>
          <a:bodyPr wrap="square" lIns="0" tIns="0" rIns="0" bIns="0" rtlCol="0" anchor="ctr"/>
          <a:lstStyle/>
          <a:p>
            <a:pPr marL="0" indent="0">
              <a:buNone/>
            </a:pPr>
            <a:r>
              <a:rPr lang="en-US" sz="1250" b="1" dirty="0">
                <a:solidFill>
                  <a:srgbClr val="FFFFFF"/>
                </a:solidFill>
              </a:rPr>
              <a:t>Self-correction</a:t>
            </a:r>
            <a:endParaRPr lang="en-US" sz="1400" dirty="0"/>
          </a:p>
          <a:p>
            <a:pPr marL="0" indent="0">
              <a:buNone/>
            </a:pPr>
            <a:r>
              <a:rPr lang="en-US" sz="1050" dirty="0">
                <a:solidFill>
                  <a:srgbClr val="B7C0CC"/>
                </a:solidFill>
              </a:rPr>
              <a:t>ensemble Kalman filter: 128 copies of the twin, nudged toward every new reading</a:t>
            </a:r>
            <a:endParaRPr lang="en-US" sz="1400" dirty="0"/>
          </a:p>
        </p:txBody>
      </p:sp>
      <p:sp>
        <p:nvSpPr>
          <p:cNvPr id="18" name="Look 3 hours ahead"/>
          <p:cNvSpPr/>
          <p:nvPr/>
        </p:nvSpPr>
        <p:spPr>
          <a:xfrm>
            <a:off x="3154680" y="4663440"/>
            <a:ext cx="3200400" cy="685800"/>
          </a:xfrm>
          <a:prstGeom prst="roundRect">
            <a:avLst>
              <a:gd name="adj" fmla="val 13333"/>
            </a:avLst>
          </a:prstGeom>
          <a:solidFill>
            <a:srgbClr val="141820"/>
          </a:solidFill>
          <a:ln w="9525">
            <a:solidFill>
              <a:srgbClr val="3D8BFF"/>
            </a:solidFill>
            <a:prstDash val="solid"/>
          </a:ln>
        </p:spPr>
      </p:sp>
      <p:sp>
        <p:nvSpPr>
          <p:cNvPr id="19" name="Look 3 hours ahead text"/>
          <p:cNvSpPr txBox="1"/>
          <p:nvPr/>
        </p:nvSpPr>
        <p:spPr>
          <a:xfrm>
            <a:off x="3264408" y="4718304"/>
            <a:ext cx="2980944" cy="576072"/>
          </a:xfrm>
          <a:prstGeom prst="rect">
            <a:avLst/>
          </a:prstGeom>
          <a:noFill/>
          <a:ln/>
        </p:spPr>
        <p:txBody>
          <a:bodyPr wrap="square" lIns="0" tIns="0" rIns="0" bIns="0" rtlCol="0" anchor="ctr"/>
          <a:lstStyle/>
          <a:p>
            <a:pPr marL="0" indent="0">
              <a:buNone/>
            </a:pPr>
            <a:r>
              <a:rPr lang="en-US" sz="1250" b="1" dirty="0">
                <a:solidFill>
                  <a:srgbClr val="FFFFFF"/>
                </a:solidFill>
              </a:rPr>
              <a:t>Look 3 hours ahead</a:t>
            </a:r>
            <a:endParaRPr lang="en-US" sz="1400" dirty="0"/>
          </a:p>
          <a:p>
            <a:pPr marL="0" indent="0">
              <a:buNone/>
            </a:pPr>
            <a:r>
              <a:rPr lang="en-US" sz="1050" dirty="0">
                <a:solidFill>
                  <a:srgbClr val="B7C0CC"/>
                </a:solidFill>
              </a:rPr>
              <a:t>128 possible futures for this person</a:t>
            </a:r>
            <a:endParaRPr lang="en-US" sz="1400" dirty="0"/>
          </a:p>
        </p:txBody>
      </p:sp>
      <p:sp>
        <p:nvSpPr>
          <p:cNvPr id="20" name="arrow"/>
          <p:cNvSpPr/>
          <p:nvPr/>
        </p:nvSpPr>
        <p:spPr>
          <a:xfrm>
            <a:off x="4754880" y="2377440"/>
            <a:ext cx="0" cy="182880"/>
          </a:xfrm>
          <a:prstGeom prst="line">
            <a:avLst/>
          </a:prstGeom>
          <a:noFill/>
          <a:ln w="22225">
            <a:solidFill>
              <a:srgbClr val="3D8BFF"/>
            </a:solidFill>
            <a:prstDash val="solid"/>
            <a:tailEnd type="triangle"/>
          </a:ln>
        </p:spPr>
      </p:sp>
      <p:sp>
        <p:nvSpPr>
          <p:cNvPr id="21" name="arrow"/>
          <p:cNvSpPr/>
          <p:nvPr/>
        </p:nvSpPr>
        <p:spPr>
          <a:xfrm>
            <a:off x="4754880" y="3429000"/>
            <a:ext cx="0" cy="182880"/>
          </a:xfrm>
          <a:prstGeom prst="line">
            <a:avLst/>
          </a:prstGeom>
          <a:noFill/>
          <a:ln w="22225">
            <a:solidFill>
              <a:srgbClr val="3D8BFF"/>
            </a:solidFill>
            <a:prstDash val="solid"/>
            <a:tailEnd type="triangle"/>
          </a:ln>
        </p:spPr>
      </p:sp>
      <p:sp>
        <p:nvSpPr>
          <p:cNvPr id="22" name="arrow"/>
          <p:cNvSpPr/>
          <p:nvPr/>
        </p:nvSpPr>
        <p:spPr>
          <a:xfrm>
            <a:off x="4754880" y="4480560"/>
            <a:ext cx="0" cy="182880"/>
          </a:xfrm>
          <a:prstGeom prst="line">
            <a:avLst/>
          </a:prstGeom>
          <a:noFill/>
          <a:ln w="22225">
            <a:solidFill>
              <a:srgbClr val="3D8BFF"/>
            </a:solidFill>
            <a:prstDash val="solid"/>
            <a:tailEnd type="triangle"/>
          </a:ln>
        </p:spPr>
      </p:sp>
      <p:sp>
        <p:nvSpPr>
          <p:cNvPr id="23" name="Hybrid twin"/>
          <p:cNvSpPr/>
          <p:nvPr/>
        </p:nvSpPr>
        <p:spPr>
          <a:xfrm>
            <a:off x="6675120" y="1600200"/>
            <a:ext cx="1207008" cy="1234440"/>
          </a:xfrm>
          <a:prstGeom prst="roundRect">
            <a:avLst>
              <a:gd name="adj" fmla="val 7576"/>
            </a:avLst>
          </a:prstGeom>
          <a:solidFill>
            <a:srgbClr val="141820"/>
          </a:solidFill>
          <a:ln w="9525">
            <a:solidFill>
              <a:srgbClr val="2ECC8F"/>
            </a:solidFill>
            <a:prstDash val="solid"/>
          </a:ln>
        </p:spPr>
      </p:sp>
      <p:sp>
        <p:nvSpPr>
          <p:cNvPr id="24" name="Hybrid twin text"/>
          <p:cNvSpPr txBox="1"/>
          <p:nvPr/>
        </p:nvSpPr>
        <p:spPr>
          <a:xfrm>
            <a:off x="6784848" y="1655064"/>
            <a:ext cx="987552" cy="1124712"/>
          </a:xfrm>
          <a:prstGeom prst="rect">
            <a:avLst/>
          </a:prstGeom>
          <a:noFill/>
          <a:ln/>
        </p:spPr>
        <p:txBody>
          <a:bodyPr wrap="square" lIns="0" tIns="0" rIns="0" bIns="0" rtlCol="0" anchor="ctr"/>
          <a:lstStyle/>
          <a:p>
            <a:pPr marL="0" indent="0">
              <a:buNone/>
            </a:pPr>
            <a:r>
              <a:rPr lang="en-US" sz="1150" b="1" dirty="0">
                <a:solidFill>
                  <a:srgbClr val="FFFFFF"/>
                </a:solidFill>
              </a:rPr>
              <a:t>Hybrid twin</a:t>
            </a:r>
            <a:endParaRPr lang="en-US" sz="1400" dirty="0"/>
          </a:p>
          <a:p>
            <a:pPr marL="0" indent="0">
              <a:buNone/>
            </a:pPr>
            <a:r>
              <a:rPr lang="en-US" sz="950" dirty="0">
                <a:solidFill>
                  <a:srgbClr val="B7C0CC"/>
                </a:solidFill>
              </a:rPr>
              <a:t>physics + a small learned fix (LightGBM, capped)</a:t>
            </a:r>
            <a:endParaRPr lang="en-US" sz="1400" dirty="0"/>
          </a:p>
        </p:txBody>
      </p:sp>
      <p:sp>
        <p:nvSpPr>
          <p:cNvPr id="25" name="Chronos-2"/>
          <p:cNvSpPr/>
          <p:nvPr/>
        </p:nvSpPr>
        <p:spPr>
          <a:xfrm>
            <a:off x="7982712" y="1600200"/>
            <a:ext cx="1207008" cy="1234440"/>
          </a:xfrm>
          <a:prstGeom prst="roundRect">
            <a:avLst>
              <a:gd name="adj" fmla="val 7576"/>
            </a:avLst>
          </a:prstGeom>
          <a:solidFill>
            <a:srgbClr val="141820"/>
          </a:solidFill>
          <a:ln w="9525">
            <a:solidFill>
              <a:srgbClr val="2ECC8F"/>
            </a:solidFill>
            <a:prstDash val="solid"/>
          </a:ln>
        </p:spPr>
      </p:sp>
      <p:sp>
        <p:nvSpPr>
          <p:cNvPr id="26" name="Chronos-2 text"/>
          <p:cNvSpPr txBox="1"/>
          <p:nvPr/>
        </p:nvSpPr>
        <p:spPr>
          <a:xfrm>
            <a:off x="8092440" y="1655064"/>
            <a:ext cx="987552" cy="1124712"/>
          </a:xfrm>
          <a:prstGeom prst="rect">
            <a:avLst/>
          </a:prstGeom>
          <a:noFill/>
          <a:ln/>
        </p:spPr>
        <p:txBody>
          <a:bodyPr wrap="square" lIns="0" tIns="0" rIns="0" bIns="0" rtlCol="0" anchor="ctr"/>
          <a:lstStyle/>
          <a:p>
            <a:pPr marL="0" indent="0">
              <a:buNone/>
            </a:pPr>
            <a:r>
              <a:rPr lang="en-US" sz="1150" b="1" dirty="0">
                <a:solidFill>
                  <a:srgbClr val="FFFFFF"/>
                </a:solidFill>
              </a:rPr>
              <a:t>Chronos-2</a:t>
            </a:r>
            <a:endParaRPr lang="en-US" sz="1400" dirty="0"/>
          </a:p>
          <a:p>
            <a:pPr marL="0" indent="0">
              <a:buNone/>
            </a:pPr>
            <a:r>
              <a:rPr lang="en-US" sz="950" dirty="0">
                <a:solidFill>
                  <a:srgbClr val="B7C0CC"/>
                </a:solidFill>
              </a:rPr>
              <a:t>AI forecaster, fine-tuned, reads the last 24 h</a:t>
            </a:r>
            <a:endParaRPr lang="en-US" sz="1400" dirty="0"/>
          </a:p>
        </p:txBody>
      </p:sp>
      <p:sp>
        <p:nvSpPr>
          <p:cNvPr id="27" name="Final forecast"/>
          <p:cNvSpPr/>
          <p:nvPr/>
        </p:nvSpPr>
        <p:spPr>
          <a:xfrm>
            <a:off x="6675120" y="3017520"/>
            <a:ext cx="2514600" cy="777240"/>
          </a:xfrm>
          <a:prstGeom prst="roundRect">
            <a:avLst>
              <a:gd name="adj" fmla="val 11765"/>
            </a:avLst>
          </a:prstGeom>
          <a:solidFill>
            <a:srgbClr val="0F3326"/>
          </a:solidFill>
          <a:ln w="9525">
            <a:solidFill>
              <a:srgbClr val="2ECC8F"/>
            </a:solidFill>
            <a:prstDash val="solid"/>
          </a:ln>
        </p:spPr>
      </p:sp>
      <p:sp>
        <p:nvSpPr>
          <p:cNvPr id="28" name="Final forecast text"/>
          <p:cNvSpPr txBox="1"/>
          <p:nvPr/>
        </p:nvSpPr>
        <p:spPr>
          <a:xfrm>
            <a:off x="6784848" y="3072384"/>
            <a:ext cx="2295144" cy="667512"/>
          </a:xfrm>
          <a:prstGeom prst="rect">
            <a:avLst/>
          </a:prstGeom>
          <a:noFill/>
          <a:ln/>
        </p:spPr>
        <p:txBody>
          <a:bodyPr wrap="square" lIns="0" tIns="0" rIns="0" bIns="0" rtlCol="0" anchor="ctr"/>
          <a:lstStyle/>
          <a:p>
            <a:pPr marL="0" indent="0">
              <a:buNone/>
            </a:pPr>
            <a:r>
              <a:rPr lang="en-US" sz="1250" b="1" dirty="0">
                <a:solidFill>
                  <a:srgbClr val="FFFFFF"/>
                </a:solidFill>
              </a:rPr>
              <a:t>Final forecast</a:t>
            </a:r>
            <a:endParaRPr lang="en-US" sz="1400" dirty="0"/>
          </a:p>
          <a:p>
            <a:pPr marL="0" indent="0">
              <a:buNone/>
            </a:pPr>
            <a:r>
              <a:rPr lang="en-US" sz="1050" dirty="0">
                <a:solidFill>
                  <a:srgbClr val="B7C0CC"/>
                </a:solidFill>
              </a:rPr>
              <a:t>½ hybrid + ½ Chronos-2</a:t>
            </a:r>
            <a:endParaRPr lang="en-US" sz="1400" dirty="0"/>
          </a:p>
        </p:txBody>
      </p:sp>
      <p:sp>
        <p:nvSpPr>
          <p:cNvPr id="29" name="90% range"/>
          <p:cNvSpPr/>
          <p:nvPr/>
        </p:nvSpPr>
        <p:spPr>
          <a:xfrm>
            <a:off x="6675120" y="4023360"/>
            <a:ext cx="2514600" cy="1325880"/>
          </a:xfrm>
          <a:prstGeom prst="roundRect">
            <a:avLst>
              <a:gd name="adj" fmla="val 6897"/>
            </a:avLst>
          </a:prstGeom>
          <a:solidFill>
            <a:srgbClr val="141820"/>
          </a:solidFill>
          <a:ln w="9525">
            <a:solidFill>
              <a:srgbClr val="2ECC8F"/>
            </a:solidFill>
            <a:prstDash val="solid"/>
          </a:ln>
        </p:spPr>
      </p:sp>
      <p:sp>
        <p:nvSpPr>
          <p:cNvPr id="30" name="90% range text"/>
          <p:cNvSpPr txBox="1"/>
          <p:nvPr/>
        </p:nvSpPr>
        <p:spPr>
          <a:xfrm>
            <a:off x="6784848" y="4078224"/>
            <a:ext cx="2295144" cy="1216152"/>
          </a:xfrm>
          <a:prstGeom prst="rect">
            <a:avLst/>
          </a:prstGeom>
          <a:noFill/>
          <a:ln/>
        </p:spPr>
        <p:txBody>
          <a:bodyPr wrap="square" lIns="0" tIns="0" rIns="0" bIns="0" rtlCol="0" anchor="ctr"/>
          <a:lstStyle/>
          <a:p>
            <a:pPr marL="0" indent="0">
              <a:buNone/>
            </a:pPr>
            <a:r>
              <a:rPr lang="en-US" sz="1250" b="1" dirty="0">
                <a:solidFill>
                  <a:srgbClr val="FFFFFF"/>
                </a:solidFill>
              </a:rPr>
              <a:t>90% range</a:t>
            </a:r>
            <a:endParaRPr lang="en-US" sz="1400" dirty="0"/>
          </a:p>
          <a:p>
            <a:pPr marL="0" indent="0">
              <a:buNone/>
            </a:pPr>
            <a:r>
              <a:rPr lang="en-US" sz="1050" dirty="0">
                <a:solidFill>
                  <a:srgbClr val="B7C0CC"/>
                </a:solidFill>
              </a:rPr>
              <a:t>widens after a miss, narrows after a hit, for each patient</a:t>
            </a:r>
            <a:endParaRPr lang="en-US" sz="1400" dirty="0"/>
          </a:p>
        </p:txBody>
      </p:sp>
      <p:sp>
        <p:nvSpPr>
          <p:cNvPr id="31" name="arrow"/>
          <p:cNvSpPr/>
          <p:nvPr/>
        </p:nvSpPr>
        <p:spPr>
          <a:xfrm>
            <a:off x="7278624" y="2834640"/>
            <a:ext cx="0" cy="182880"/>
          </a:xfrm>
          <a:prstGeom prst="line">
            <a:avLst/>
          </a:prstGeom>
          <a:noFill/>
          <a:ln w="22225">
            <a:solidFill>
              <a:srgbClr val="2ECC8F"/>
            </a:solidFill>
            <a:prstDash val="solid"/>
            <a:tailEnd type="triangle"/>
          </a:ln>
        </p:spPr>
      </p:sp>
      <p:sp>
        <p:nvSpPr>
          <p:cNvPr id="32" name="arrow"/>
          <p:cNvSpPr/>
          <p:nvPr/>
        </p:nvSpPr>
        <p:spPr>
          <a:xfrm>
            <a:off x="8586216" y="2834640"/>
            <a:ext cx="0" cy="182880"/>
          </a:xfrm>
          <a:prstGeom prst="line">
            <a:avLst/>
          </a:prstGeom>
          <a:noFill/>
          <a:ln w="22225">
            <a:solidFill>
              <a:srgbClr val="2ECC8F"/>
            </a:solidFill>
            <a:prstDash val="solid"/>
            <a:tailEnd type="triangle"/>
          </a:ln>
        </p:spPr>
      </p:sp>
      <p:sp>
        <p:nvSpPr>
          <p:cNvPr id="33" name="arrow"/>
          <p:cNvSpPr/>
          <p:nvPr/>
        </p:nvSpPr>
        <p:spPr>
          <a:xfrm>
            <a:off x="7936992" y="3794760"/>
            <a:ext cx="0" cy="228600"/>
          </a:xfrm>
          <a:prstGeom prst="line">
            <a:avLst/>
          </a:prstGeom>
          <a:noFill/>
          <a:ln w="22225">
            <a:solidFill>
              <a:srgbClr val="2ECC8F"/>
            </a:solidFill>
            <a:prstDash val="solid"/>
            <a:tailEnd type="triangle"/>
          </a:ln>
        </p:spPr>
      </p:sp>
      <p:sp>
        <p:nvSpPr>
          <p:cNvPr id="34" name="Alert"/>
          <p:cNvSpPr/>
          <p:nvPr/>
        </p:nvSpPr>
        <p:spPr>
          <a:xfrm>
            <a:off x="9509760" y="1600200"/>
            <a:ext cx="2194560" cy="868680"/>
          </a:xfrm>
          <a:prstGeom prst="roundRect">
            <a:avLst>
              <a:gd name="adj" fmla="val 10526"/>
            </a:avLst>
          </a:prstGeom>
          <a:solidFill>
            <a:srgbClr val="141820"/>
          </a:solidFill>
          <a:ln w="9525">
            <a:solidFill>
              <a:srgbClr val="C792EA"/>
            </a:solidFill>
            <a:prstDash val="solid"/>
          </a:ln>
        </p:spPr>
      </p:sp>
      <p:sp>
        <p:nvSpPr>
          <p:cNvPr id="35" name="Alert text"/>
          <p:cNvSpPr txBox="1"/>
          <p:nvPr/>
        </p:nvSpPr>
        <p:spPr>
          <a:xfrm>
            <a:off x="9619488" y="1655064"/>
            <a:ext cx="1975104" cy="758952"/>
          </a:xfrm>
          <a:prstGeom prst="rect">
            <a:avLst/>
          </a:prstGeom>
          <a:noFill/>
          <a:ln/>
        </p:spPr>
        <p:txBody>
          <a:bodyPr wrap="square" lIns="0" tIns="0" rIns="0" bIns="0" rtlCol="0" anchor="ctr"/>
          <a:lstStyle/>
          <a:p>
            <a:pPr marL="0" indent="0">
              <a:buNone/>
            </a:pPr>
            <a:r>
              <a:rPr lang="en-US" sz="1250" b="1" dirty="0">
                <a:solidFill>
                  <a:srgbClr val="FFFFFF"/>
                </a:solidFill>
              </a:rPr>
              <a:t>Alert</a:t>
            </a:r>
            <a:endParaRPr lang="en-US" sz="1400" dirty="0"/>
          </a:p>
          <a:p>
            <a:pPr marL="0" indent="0">
              <a:buNone/>
            </a:pPr>
            <a:r>
              <a:rPr lang="en-US" sz="1050" dirty="0">
                <a:solidFill>
                  <a:srgbClr val="B7C0CC"/>
                </a:solidFill>
              </a:rPr>
              <a:t>when the chance of 15+ min above 180 in the next 2 h is high</a:t>
            </a:r>
            <a:endParaRPr lang="en-US" sz="1400" dirty="0"/>
          </a:p>
        </p:txBody>
      </p:sp>
      <p:sp>
        <p:nvSpPr>
          <p:cNvPr id="36" name="Why"/>
          <p:cNvSpPr/>
          <p:nvPr/>
        </p:nvSpPr>
        <p:spPr>
          <a:xfrm>
            <a:off x="9509760" y="2606040"/>
            <a:ext cx="2194560" cy="731520"/>
          </a:xfrm>
          <a:prstGeom prst="roundRect">
            <a:avLst>
              <a:gd name="adj" fmla="val 12500"/>
            </a:avLst>
          </a:prstGeom>
          <a:solidFill>
            <a:srgbClr val="141820"/>
          </a:solidFill>
          <a:ln w="9525">
            <a:solidFill>
              <a:srgbClr val="C792EA"/>
            </a:solidFill>
            <a:prstDash val="solid"/>
          </a:ln>
        </p:spPr>
      </p:sp>
      <p:sp>
        <p:nvSpPr>
          <p:cNvPr id="37" name="Why text"/>
          <p:cNvSpPr txBox="1"/>
          <p:nvPr/>
        </p:nvSpPr>
        <p:spPr>
          <a:xfrm>
            <a:off x="9619488" y="2660904"/>
            <a:ext cx="1975104" cy="621792"/>
          </a:xfrm>
          <a:prstGeom prst="rect">
            <a:avLst/>
          </a:prstGeom>
          <a:noFill/>
          <a:ln/>
        </p:spPr>
        <p:txBody>
          <a:bodyPr wrap="square" lIns="0" tIns="0" rIns="0" bIns="0" rtlCol="0" anchor="ctr"/>
          <a:lstStyle/>
          <a:p>
            <a:pPr marL="0" indent="0">
              <a:buNone/>
            </a:pPr>
            <a:r>
              <a:rPr lang="en-US" sz="1250" b="1" dirty="0">
                <a:solidFill>
                  <a:srgbClr val="FFFFFF"/>
                </a:solidFill>
              </a:rPr>
              <a:t>Why</a:t>
            </a:r>
            <a:endParaRPr lang="en-US" sz="1400" dirty="0"/>
          </a:p>
          <a:p>
            <a:pPr marL="0" indent="0">
              <a:buNone/>
            </a:pPr>
            <a:r>
              <a:rPr lang="en-US" sz="1050" dirty="0">
                <a:solidFill>
                  <a:srgbClr val="B7C0CC"/>
                </a:solidFill>
              </a:rPr>
              <a:t>how much each cause adds to the peak</a:t>
            </a:r>
            <a:endParaRPr lang="en-US" sz="1400" dirty="0"/>
          </a:p>
        </p:txBody>
      </p:sp>
      <p:sp>
        <p:nvSpPr>
          <p:cNvPr id="38" name="What-if"/>
          <p:cNvSpPr/>
          <p:nvPr/>
        </p:nvSpPr>
        <p:spPr>
          <a:xfrm>
            <a:off x="9509760" y="3474720"/>
            <a:ext cx="2194560" cy="777240"/>
          </a:xfrm>
          <a:prstGeom prst="roundRect">
            <a:avLst>
              <a:gd name="adj" fmla="val 11765"/>
            </a:avLst>
          </a:prstGeom>
          <a:solidFill>
            <a:srgbClr val="141820"/>
          </a:solidFill>
          <a:ln w="9525">
            <a:solidFill>
              <a:srgbClr val="C792EA"/>
            </a:solidFill>
            <a:prstDash val="solid"/>
          </a:ln>
        </p:spPr>
      </p:sp>
      <p:sp>
        <p:nvSpPr>
          <p:cNvPr id="39" name="What-if text"/>
          <p:cNvSpPr txBox="1"/>
          <p:nvPr/>
        </p:nvSpPr>
        <p:spPr>
          <a:xfrm>
            <a:off x="9619488" y="3529584"/>
            <a:ext cx="1975104" cy="667512"/>
          </a:xfrm>
          <a:prstGeom prst="rect">
            <a:avLst/>
          </a:prstGeom>
          <a:noFill/>
          <a:ln/>
        </p:spPr>
        <p:txBody>
          <a:bodyPr wrap="square" lIns="0" tIns="0" rIns="0" bIns="0" rtlCol="0" anchor="ctr"/>
          <a:lstStyle/>
          <a:p>
            <a:pPr marL="0" indent="0">
              <a:buNone/>
            </a:pPr>
            <a:r>
              <a:rPr lang="en-US" sz="1250" b="1" dirty="0">
                <a:solidFill>
                  <a:srgbClr val="FFFFFF"/>
                </a:solidFill>
              </a:rPr>
              <a:t>What-if</a:t>
            </a:r>
            <a:endParaRPr lang="en-US" sz="1400" dirty="0"/>
          </a:p>
          <a:p>
            <a:pPr marL="0" indent="0">
              <a:buNone/>
            </a:pPr>
            <a:r>
              <a:rPr lang="en-US" sz="1050" dirty="0">
                <a:solidFill>
                  <a:srgbClr val="B7C0CC"/>
                </a:solidFill>
              </a:rPr>
              <a:t>change the plan, replay the same twin</a:t>
            </a:r>
            <a:endParaRPr lang="en-US" sz="1400" dirty="0"/>
          </a:p>
        </p:txBody>
      </p:sp>
      <p:sp>
        <p:nvSpPr>
          <p:cNvPr id="40" name="Suggestion"/>
          <p:cNvSpPr/>
          <p:nvPr/>
        </p:nvSpPr>
        <p:spPr>
          <a:xfrm>
            <a:off x="9509760" y="4389120"/>
            <a:ext cx="2194560" cy="960120"/>
          </a:xfrm>
          <a:prstGeom prst="roundRect">
            <a:avLst>
              <a:gd name="adj" fmla="val 9524"/>
            </a:avLst>
          </a:prstGeom>
          <a:solidFill>
            <a:srgbClr val="141820"/>
          </a:solidFill>
          <a:ln w="9525">
            <a:solidFill>
              <a:srgbClr val="C792EA"/>
            </a:solidFill>
            <a:prstDash val="solid"/>
          </a:ln>
        </p:spPr>
      </p:sp>
      <p:sp>
        <p:nvSpPr>
          <p:cNvPr id="41" name="Suggestion text"/>
          <p:cNvSpPr txBox="1"/>
          <p:nvPr/>
        </p:nvSpPr>
        <p:spPr>
          <a:xfrm>
            <a:off x="9619488" y="4443984"/>
            <a:ext cx="1975104" cy="850392"/>
          </a:xfrm>
          <a:prstGeom prst="rect">
            <a:avLst/>
          </a:prstGeom>
          <a:noFill/>
          <a:ln/>
        </p:spPr>
        <p:txBody>
          <a:bodyPr wrap="square" lIns="0" tIns="0" rIns="0" bIns="0" rtlCol="0" anchor="ctr"/>
          <a:lstStyle/>
          <a:p>
            <a:pPr marL="0" indent="0">
              <a:buNone/>
            </a:pPr>
            <a:r>
              <a:rPr lang="en-US" sz="1250" b="1" dirty="0">
                <a:solidFill>
                  <a:srgbClr val="FFFFFF"/>
                </a:solidFill>
              </a:rPr>
              <a:t>Suggestion</a:t>
            </a:r>
            <a:endParaRPr lang="en-US" sz="1400" dirty="0"/>
          </a:p>
          <a:p>
            <a:pPr marL="0" indent="0">
              <a:buNone/>
            </a:pPr>
            <a:r>
              <a:rPr lang="en-US" sz="1050" dirty="0">
                <a:solidFill>
                  <a:srgbClr val="B7C0CC"/>
                </a:solidFill>
              </a:rPr>
              <a:t>the easiest change that keeps the spike risk under 30%</a:t>
            </a:r>
            <a:endParaRPr lang="en-US" sz="1400" dirty="0"/>
          </a:p>
        </p:txBody>
      </p:sp>
      <p:sp>
        <p:nvSpPr>
          <p:cNvPr id="42" name="flow arrow"/>
          <p:cNvSpPr/>
          <p:nvPr/>
        </p:nvSpPr>
        <p:spPr>
          <a:xfrm>
            <a:off x="2852928" y="3246120"/>
            <a:ext cx="274320" cy="457200"/>
          </a:xfrm>
          <a:prstGeom prst="rightArrow">
            <a:avLst/>
          </a:prstGeom>
          <a:solidFill>
            <a:srgbClr val="56606E"/>
          </a:solidFill>
          <a:ln w="12700">
            <a:solidFill>
              <a:srgbClr val="56606E"/>
            </a:solidFill>
            <a:prstDash val="solid"/>
          </a:ln>
        </p:spPr>
      </p:sp>
      <p:sp>
        <p:nvSpPr>
          <p:cNvPr id="43" name="flow arrow"/>
          <p:cNvSpPr/>
          <p:nvPr/>
        </p:nvSpPr>
        <p:spPr>
          <a:xfrm>
            <a:off x="6373368" y="3246120"/>
            <a:ext cx="274320" cy="457200"/>
          </a:xfrm>
          <a:prstGeom prst="rightArrow">
            <a:avLst/>
          </a:prstGeom>
          <a:solidFill>
            <a:srgbClr val="56606E"/>
          </a:solidFill>
          <a:ln w="12700">
            <a:solidFill>
              <a:srgbClr val="56606E"/>
            </a:solidFill>
            <a:prstDash val="solid"/>
          </a:ln>
        </p:spPr>
      </p:sp>
      <p:sp>
        <p:nvSpPr>
          <p:cNvPr id="44" name="flow arrow"/>
          <p:cNvSpPr/>
          <p:nvPr/>
        </p:nvSpPr>
        <p:spPr>
          <a:xfrm>
            <a:off x="9208008" y="3246120"/>
            <a:ext cx="274320" cy="457200"/>
          </a:xfrm>
          <a:prstGeom prst="rightArrow">
            <a:avLst/>
          </a:prstGeom>
          <a:solidFill>
            <a:srgbClr val="56606E"/>
          </a:solidFill>
          <a:ln w="12700">
            <a:solidFill>
              <a:srgbClr val="56606E"/>
            </a:solidFill>
            <a:prstDash val="solid"/>
          </a:ln>
        </p:spPr>
      </p:sp>
      <p:sp>
        <p:nvSpPr>
          <p:cNvPr id="45" name="dashboard box"/>
          <p:cNvSpPr/>
          <p:nvPr/>
        </p:nvSpPr>
        <p:spPr>
          <a:xfrm>
            <a:off x="3154680" y="5486400"/>
            <a:ext cx="8549640" cy="457200"/>
          </a:xfrm>
          <a:prstGeom prst="roundRect">
            <a:avLst>
              <a:gd name="adj" fmla="val 20000"/>
            </a:avLst>
          </a:prstGeom>
          <a:solidFill>
            <a:srgbClr val="141820"/>
          </a:solidFill>
          <a:ln w="9525">
            <a:solidFill>
              <a:srgbClr val="FFFFFF"/>
            </a:solidFill>
            <a:prstDash val="solid"/>
          </a:ln>
        </p:spPr>
      </p:sp>
      <p:sp>
        <p:nvSpPr>
          <p:cNvPr id="46" name="dashboard title"/>
          <p:cNvSpPr txBox="1"/>
          <p:nvPr/>
        </p:nvSpPr>
        <p:spPr>
          <a:xfrm>
            <a:off x="3291840" y="5486400"/>
            <a:ext cx="2651760" cy="457200"/>
          </a:xfrm>
          <a:prstGeom prst="rect">
            <a:avLst/>
          </a:prstGeom>
          <a:noFill/>
          <a:ln/>
        </p:spPr>
        <p:txBody>
          <a:bodyPr wrap="square" lIns="0" tIns="0" rIns="0" bIns="0" rtlCol="0" anchor="ctr"/>
          <a:lstStyle/>
          <a:p>
            <a:pPr marL="0" indent="0">
              <a:buNone/>
            </a:pPr>
            <a:r>
              <a:rPr lang="en-US" sz="1200" b="1" dirty="0">
                <a:solidFill>
                  <a:srgbClr val="F5F7FA"/>
                </a:solidFill>
              </a:rPr>
              <a:t>Doctor's dashboard</a:t>
            </a:r>
            <a:endParaRPr lang="en-US" sz="1200" dirty="0"/>
          </a:p>
        </p:txBody>
      </p:sp>
      <p:sp>
        <p:nvSpPr>
          <p:cNvPr id="47" name="dashboard items"/>
          <p:cNvSpPr txBox="1"/>
          <p:nvPr/>
        </p:nvSpPr>
        <p:spPr>
          <a:xfrm>
            <a:off x="5852160" y="5486400"/>
            <a:ext cx="5760720" cy="457200"/>
          </a:xfrm>
          <a:prstGeom prst="rect">
            <a:avLst/>
          </a:prstGeom>
          <a:noFill/>
          <a:ln/>
        </p:spPr>
        <p:txBody>
          <a:bodyPr wrap="square" lIns="0" tIns="0" rIns="0" bIns="0" rtlCol="0" anchor="ctr"/>
          <a:lstStyle/>
          <a:p>
            <a:pPr marL="0" indent="0">
              <a:buNone/>
            </a:pPr>
            <a:r>
              <a:rPr lang="en-US" sz="1100" dirty="0">
                <a:solidFill>
                  <a:srgbClr val="B7C0CC"/>
                </a:solidFill>
              </a:rPr>
              <a:t>record · forecast and alert · why · what-if · suggestion · track record</a:t>
            </a:r>
            <a:endParaRPr lang="en-US" sz="1100" dirty="0"/>
          </a:p>
        </p:txBody>
      </p:sp>
      <p:sp>
        <p:nvSpPr>
          <p:cNvPr id="48" name="arrow"/>
          <p:cNvSpPr/>
          <p:nvPr/>
        </p:nvSpPr>
        <p:spPr>
          <a:xfrm>
            <a:off x="10607040" y="5349240"/>
            <a:ext cx="0" cy="137160"/>
          </a:xfrm>
          <a:prstGeom prst="line">
            <a:avLst/>
          </a:prstGeom>
          <a:noFill/>
          <a:ln w="22225">
            <a:solidFill>
              <a:srgbClr val="C792EA"/>
            </a:solidFill>
            <a:prstDash val="solid"/>
            <a:tailEnd type="triangle"/>
          </a:ln>
        </p:spPr>
      </p:sp>
      <p:sp>
        <p:nvSpPr>
          <p:cNvPr id="49" name="feedback 1"/>
          <p:cNvSpPr/>
          <p:nvPr/>
        </p:nvSpPr>
        <p:spPr>
          <a:xfrm>
            <a:off x="1645920" y="5715000"/>
            <a:ext cx="1508760" cy="0"/>
          </a:xfrm>
          <a:prstGeom prst="line">
            <a:avLst/>
          </a:prstGeom>
          <a:noFill/>
          <a:ln w="15875">
            <a:solidFill>
              <a:srgbClr val="7D8794"/>
            </a:solidFill>
            <a:prstDash val="dash"/>
            <a:headEnd type="none"/>
          </a:ln>
        </p:spPr>
      </p:sp>
      <p:sp>
        <p:nvSpPr>
          <p:cNvPr id="50" name="feedback 2"/>
          <p:cNvSpPr/>
          <p:nvPr/>
        </p:nvSpPr>
        <p:spPr>
          <a:xfrm>
            <a:off x="1645920" y="5349240"/>
            <a:ext cx="0" cy="365760"/>
          </a:xfrm>
          <a:prstGeom prst="line">
            <a:avLst/>
          </a:prstGeom>
          <a:noFill/>
          <a:ln w="15875">
            <a:solidFill>
              <a:srgbClr val="7D8794"/>
            </a:solidFill>
            <a:prstDash val="dash"/>
            <a:headEnd type="triangle"/>
          </a:ln>
        </p:spPr>
      </p:sp>
      <p:sp>
        <p:nvSpPr>
          <p:cNvPr id="51" name="feedback label"/>
          <p:cNvSpPr txBox="1"/>
          <p:nvPr/>
        </p:nvSpPr>
        <p:spPr>
          <a:xfrm>
            <a:off x="502920" y="5779008"/>
            <a:ext cx="2560320" cy="228600"/>
          </a:xfrm>
          <a:prstGeom prst="rect">
            <a:avLst/>
          </a:prstGeom>
          <a:noFill/>
          <a:ln/>
        </p:spPr>
        <p:txBody>
          <a:bodyPr wrap="square" lIns="0" tIns="0" rIns="0" bIns="0" rtlCol="0" anchor="t"/>
          <a:lstStyle/>
          <a:p>
            <a:pPr marL="0" indent="0">
              <a:buNone/>
            </a:pPr>
            <a:r>
              <a:rPr lang="en-US" sz="950" i="1" dirty="0">
                <a:solidFill>
                  <a:srgbClr val="7D8794"/>
                </a:solidFill>
              </a:rPr>
              <a:t>advice changes behaviour: new data</a:t>
            </a:r>
            <a:endParaRPr lang="en-US" sz="950" dirty="0"/>
          </a:p>
        </p:txBody>
      </p:sp>
      <p:sp>
        <p:nvSpPr>
          <p:cNvPr id="52" name="offline note"/>
          <p:cNvSpPr txBox="1"/>
          <p:nvPr/>
        </p:nvSpPr>
        <p:spPr>
          <a:xfrm>
            <a:off x="502920" y="6053328"/>
            <a:ext cx="11155680" cy="274320"/>
          </a:xfrm>
          <a:prstGeom prst="rect">
            <a:avLst/>
          </a:prstGeom>
          <a:noFill/>
          <a:ln/>
        </p:spPr>
        <p:txBody>
          <a:bodyPr wrap="square" lIns="0" tIns="0" rIns="0" bIns="0" rtlCol="0" anchor="t"/>
          <a:lstStyle/>
          <a:p>
            <a:pPr marL="0" indent="0">
              <a:buNone/>
            </a:pPr>
            <a:r>
              <a:rPr lang="en-US" sz="1000" dirty="0">
                <a:solidFill>
                  <a:srgbClr val="7D8794"/>
                </a:solidFill>
              </a:rPr>
              <a:t>Learned beforehand, on training patients only: the labs-to-dials map, meal effects, LightGBM, the Chronos-2 fine-tune (Kaggle GPUs) and the range calibration. Checked on a simulator richer than the twin.</a:t>
            </a:r>
            <a:endParaRPr lang="en-US" sz="1000" dirty="0"/>
          </a:p>
        </p:txBody>
      </p:sp>
      <p:sp>
        <p:nvSpPr>
          <p:cNvPr id="2"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10" presetClass="entr" presetSubtype="0" fill="hold"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500"/>
                                        <p:tgtEl>
                                          <p:spTgt spid="6"/>
                                        </p:tgtEl>
                                      </p:cBhvr>
                                    </p:animEffect>
                                  </p:childTnLst>
                                </p:cTn>
                              </p:par>
                              <p:par>
                                <p:cTn id="49" presetID="10" presetClass="entr" presetSubtype="0"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50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500"/>
                                        <p:tgtEl>
                                          <p:spTgt spid="26"/>
                                        </p:tgtEl>
                                      </p:cBhvr>
                                    </p:animEffect>
                                  </p:childTnLst>
                                </p:cTn>
                              </p:par>
                              <p:par>
                                <p:cTn id="61" presetID="10" presetClass="entr" presetSubtype="0" fill="hold"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500"/>
                                        <p:tgtEl>
                                          <p:spTgt spid="2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500"/>
                                        <p:tgtEl>
                                          <p:spTgt spid="28"/>
                                        </p:tgtEl>
                                      </p:cBhvr>
                                    </p:animEffect>
                                  </p:childTnLst>
                                </p:cTn>
                              </p:par>
                              <p:par>
                                <p:cTn id="67" presetID="10" presetClass="entr" presetSubtype="0"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500"/>
                                        <p:tgtEl>
                                          <p:spTgt spid="2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par>
                                <p:cTn id="73" presetID="10" presetClass="entr" presetSubtype="0" fill="hold"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500"/>
                                        <p:tgtEl>
                                          <p:spTgt spid="31"/>
                                        </p:tgtEl>
                                      </p:cBhvr>
                                    </p:animEffect>
                                  </p:childTnLst>
                                </p:cTn>
                              </p:par>
                              <p:par>
                                <p:cTn id="76" presetID="10" presetClass="entr" presetSubtype="0" fill="hold"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500"/>
                                        <p:tgtEl>
                                          <p:spTgt spid="32"/>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00"/>
                                        <p:tgtEl>
                                          <p:spTgt spid="33"/>
                                        </p:tgtEl>
                                      </p:cBhvr>
                                    </p:animEffect>
                                  </p:childTnLst>
                                </p:cTn>
                              </p:par>
                              <p:par>
                                <p:cTn id="82" presetID="10" presetClass="entr" presetSubtype="0" fill="hold" nodeType="with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fade">
                                      <p:cBhvr>
                                        <p:cTn id="84" dur="500"/>
                                        <p:tgtEl>
                                          <p:spTgt spid="43"/>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7"/>
                                        </p:tgtEl>
                                        <p:attrNameLst>
                                          <p:attrName>style.visibility</p:attrName>
                                        </p:attrNameLst>
                                      </p:cBhvr>
                                      <p:to>
                                        <p:strVal val="visible"/>
                                      </p:to>
                                    </p:set>
                                    <p:animEffect transition="in" filter="fade">
                                      <p:cBhvr>
                                        <p:cTn id="89" dur="500"/>
                                        <p:tgtEl>
                                          <p:spTgt spid="7"/>
                                        </p:tgtEl>
                                      </p:cBhvr>
                                    </p:animEffect>
                                  </p:childTnLst>
                                </p:cTn>
                              </p:par>
                              <p:par>
                                <p:cTn id="90" presetID="10" presetClass="entr" presetSubtype="0" fill="hold" nodeType="with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500"/>
                                        <p:tgtEl>
                                          <p:spTgt spid="3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500"/>
                                        <p:tgtEl>
                                          <p:spTgt spid="35"/>
                                        </p:tgtEl>
                                      </p:cBhvr>
                                    </p:animEffect>
                                  </p:childTnLst>
                                </p:cTn>
                              </p:par>
                              <p:par>
                                <p:cTn id="96" presetID="10" presetClass="entr" presetSubtype="0" fill="hold"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500"/>
                                        <p:tgtEl>
                                          <p:spTgt spid="3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500"/>
                                        <p:tgtEl>
                                          <p:spTgt spid="37"/>
                                        </p:tgtEl>
                                      </p:cBhvr>
                                    </p:animEffect>
                                  </p:childTnLst>
                                </p:cTn>
                              </p:par>
                              <p:par>
                                <p:cTn id="102" presetID="10" presetClass="entr" presetSubtype="0" fill="hold" nodeType="with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500"/>
                                        <p:tgtEl>
                                          <p:spTgt spid="3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500"/>
                                        <p:tgtEl>
                                          <p:spTgt spid="39"/>
                                        </p:tgtEl>
                                      </p:cBhvr>
                                    </p:animEffect>
                                  </p:childTnLst>
                                </p:cTn>
                              </p:par>
                              <p:par>
                                <p:cTn id="108" presetID="10" presetClass="entr" presetSubtype="0" fill="hold" nodeType="with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fade">
                                      <p:cBhvr>
                                        <p:cTn id="110" dur="500"/>
                                        <p:tgtEl>
                                          <p:spTgt spid="4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500"/>
                                        <p:tgtEl>
                                          <p:spTgt spid="41"/>
                                        </p:tgtEl>
                                      </p:cBhvr>
                                    </p:animEffect>
                                  </p:childTnLst>
                                </p:cTn>
                              </p:par>
                              <p:par>
                                <p:cTn id="114" presetID="10" presetClass="entr" presetSubtype="0" fill="hold" nodeType="withEffect">
                                  <p:stCondLst>
                                    <p:cond delay="0"/>
                                  </p:stCondLst>
                                  <p:childTnLst>
                                    <p:set>
                                      <p:cBhvr>
                                        <p:cTn id="115" dur="1" fill="hold">
                                          <p:stCondLst>
                                            <p:cond delay="0"/>
                                          </p:stCondLst>
                                        </p:cTn>
                                        <p:tgtEl>
                                          <p:spTgt spid="44"/>
                                        </p:tgtEl>
                                        <p:attrNameLst>
                                          <p:attrName>style.visibility</p:attrName>
                                        </p:attrNameLst>
                                      </p:cBhvr>
                                      <p:to>
                                        <p:strVal val="visible"/>
                                      </p:to>
                                    </p:set>
                                    <p:animEffect transition="in" filter="fade">
                                      <p:cBhvr>
                                        <p:cTn id="116" dur="500"/>
                                        <p:tgtEl>
                                          <p:spTgt spid="44"/>
                                        </p:tgtEl>
                                      </p:cBhvr>
                                    </p:animEffect>
                                  </p:childTnLst>
                                </p:cTn>
                              </p:par>
                              <p:par>
                                <p:cTn id="117" presetID="10" presetClass="entr" presetSubtype="0" fill="hold" nodeType="withEffect">
                                  <p:stCondLst>
                                    <p:cond delay="0"/>
                                  </p:stCondLst>
                                  <p:childTnLst>
                                    <p:set>
                                      <p:cBhvr>
                                        <p:cTn id="118" dur="1" fill="hold">
                                          <p:stCondLst>
                                            <p:cond delay="0"/>
                                          </p:stCondLst>
                                        </p:cTn>
                                        <p:tgtEl>
                                          <p:spTgt spid="48"/>
                                        </p:tgtEl>
                                        <p:attrNameLst>
                                          <p:attrName>style.visibility</p:attrName>
                                        </p:attrNameLst>
                                      </p:cBhvr>
                                      <p:to>
                                        <p:strVal val="visible"/>
                                      </p:to>
                                    </p:set>
                                    <p:animEffect transition="in" filter="fade">
                                      <p:cBhvr>
                                        <p:cTn id="119" dur="500"/>
                                        <p:tgtEl>
                                          <p:spTgt spid="48"/>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500"/>
                                        <p:tgtEl>
                                          <p:spTgt spid="4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5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5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9"/>
                                        </p:tgtEl>
                                        <p:attrNameLst>
                                          <p:attrName>style.visibility</p:attrName>
                                        </p:attrNameLst>
                                      </p:cBhvr>
                                      <p:to>
                                        <p:strVal val="visible"/>
                                      </p:to>
                                    </p:set>
                                    <p:animEffect transition="in" filter="fade">
                                      <p:cBhvr>
                                        <p:cTn id="133" dur="500"/>
                                        <p:tgtEl>
                                          <p:spTgt spid="49"/>
                                        </p:tgtEl>
                                      </p:cBhvr>
                                    </p:animEffect>
                                  </p:childTnLst>
                                </p:cTn>
                              </p:par>
                              <p:par>
                                <p:cTn id="134" presetID="10" presetClass="entr" presetSubtype="0" fill="hold" nodeType="withEffect">
                                  <p:stCondLst>
                                    <p:cond delay="0"/>
                                  </p:stCondLst>
                                  <p:childTnLst>
                                    <p:set>
                                      <p:cBhvr>
                                        <p:cTn id="135" dur="1" fill="hold">
                                          <p:stCondLst>
                                            <p:cond delay="0"/>
                                          </p:stCondLst>
                                        </p:cTn>
                                        <p:tgtEl>
                                          <p:spTgt spid="50"/>
                                        </p:tgtEl>
                                        <p:attrNameLst>
                                          <p:attrName>style.visibility</p:attrName>
                                        </p:attrNameLst>
                                      </p:cBhvr>
                                      <p:to>
                                        <p:strVal val="visible"/>
                                      </p:to>
                                    </p:set>
                                    <p:animEffect transition="in" filter="fade">
                                      <p:cBhvr>
                                        <p:cTn id="136" dur="500"/>
                                        <p:tgtEl>
                                          <p:spTgt spid="50"/>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1"/>
                                        </p:tgtEl>
                                        <p:attrNameLst>
                                          <p:attrName>style.visibility</p:attrName>
                                        </p:attrNameLst>
                                      </p:cBhvr>
                                      <p:to>
                                        <p:strVal val="visible"/>
                                      </p:to>
                                    </p:set>
                                    <p:animEffect transition="in" filter="fade">
                                      <p:cBhvr>
                                        <p:cTn id="139" dur="500"/>
                                        <p:tgtEl>
                                          <p:spTgt spid="51"/>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2"/>
                                        </p:tgtEl>
                                        <p:attrNameLst>
                                          <p:attrName>style.visibility</p:attrName>
                                        </p:attrNameLst>
                                      </p:cBhvr>
                                      <p:to>
                                        <p:strVal val="visible"/>
                                      </p:to>
                                    </p:set>
                                    <p:animEffect transition="in" filter="fade">
                                      <p:cBhvr>
                                        <p:cTn id="14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3" grpId="0" animBg="1"/>
      <p:bldP spid="15" grpId="0" animBg="1"/>
      <p:bldP spid="17" grpId="0" animBg="1"/>
      <p:bldP spid="19" grpId="0" animBg="1"/>
      <p:bldP spid="24" grpId="0" animBg="1"/>
      <p:bldP spid="26" grpId="0" animBg="1"/>
      <p:bldP spid="28" grpId="0" animBg="1"/>
      <p:bldP spid="30" grpId="0" animBg="1"/>
      <p:bldP spid="35" grpId="0" animBg="1"/>
      <p:bldP spid="37" grpId="0" animBg="1"/>
      <p:bldP spid="39" grpId="0" animBg="1"/>
      <p:bldP spid="41" grpId="0" animBg="1"/>
      <p:bldP spid="46" grpId="0" animBg="1"/>
      <p:bldP spid="47" grpId="0" animBg="1"/>
      <p:bldP spid="51" grpId="0" animBg="1"/>
      <p:bldP spid="5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The physics: how blood sugar moves</a:t>
            </a:r>
            <a:endParaRPr lang="en-US" sz="3400" dirty="0"/>
          </a:p>
        </p:txBody>
      </p:sp>
      <p:sp>
        <p:nvSpPr>
          <p:cNvPr id="4" name="equation 1"/>
          <p:cNvSpPr/>
          <p:nvPr/>
        </p:nvSpPr>
        <p:spPr>
          <a:xfrm>
            <a:off x="548640" y="1371600"/>
            <a:ext cx="11064240" cy="822960"/>
          </a:xfrm>
          <a:prstGeom prst="roundRect">
            <a:avLst>
              <a:gd name="adj" fmla="val 11111"/>
            </a:avLst>
          </a:prstGeom>
          <a:solidFill>
            <a:srgbClr val="141820"/>
          </a:solidFill>
          <a:ln w="9525">
            <a:solidFill>
              <a:srgbClr val="283040"/>
            </a:solidFill>
            <a:prstDash val="solid"/>
          </a:ln>
        </p:spPr>
        <p:txBody>
          <a:bodyPr/>
          <a:lstStyle/>
          <a:p>
            <a:endParaRPr/>
          </a:p>
        </p:txBody>
      </p:sp>
      <p:sp>
        <p:nvSpPr>
          <p:cNvPr id="5" name="equation"/>
          <p:cNvSpPr txBox="1"/>
          <p:nvPr/>
        </p:nvSpPr>
        <p:spPr>
          <a:xfrm>
            <a:off x="777240" y="1417320"/>
            <a:ext cx="6263640" cy="731520"/>
          </a:xfrm>
          <a:prstGeom prst="rect">
            <a:avLst/>
          </a:prstGeom>
          <a:noFill/>
          <a:ln/>
        </p:spPr>
        <p:txBody>
          <a:bodyPr wrap="square" lIns="0" tIns="0" rIns="0" bIns="0" rtlCol="0" anchor="ctr"/>
          <a:lstStyle/>
          <a:p>
            <a:pPr marL="0" indent="0">
              <a:buNone/>
            </a:pPr>
            <a:r>
              <a:rPr lang="en-US" sz="1900" dirty="0">
                <a:solidFill>
                  <a:srgbClr val="FFFFFF"/>
                </a:solidFill>
                <a:latin typeface="Cambria Math" pitchFamily="34" charset="0"/>
                <a:ea typeface="Cambria Math" pitchFamily="34" charset="-122"/>
                <a:cs typeface="Cambria Math" pitchFamily="34" charset="-120"/>
              </a:rPr>
              <a:t>dZ/dt = n · ( φ · max(G − G</a:t>
            </a:r>
            <a:r>
              <a:rPr lang="en-US" sz="1900" baseline="-40000" dirty="0">
                <a:solidFill>
                  <a:srgbClr val="FFFFFF"/>
                </a:solidFill>
                <a:latin typeface="Cambria Math" pitchFamily="34" charset="0"/>
                <a:ea typeface="Cambria Math" pitchFamily="34" charset="-122"/>
                <a:cs typeface="Cambria Math" pitchFamily="34" charset="-120"/>
              </a:rPr>
              <a:t>b</a:t>
            </a:r>
            <a:r>
              <a:rPr lang="en-US" sz="1900" dirty="0">
                <a:solidFill>
                  <a:srgbClr val="FFFFFF"/>
                </a:solidFill>
                <a:latin typeface="Cambria Math" pitchFamily="34" charset="0"/>
                <a:ea typeface="Cambria Math" pitchFamily="34" charset="-122"/>
                <a:cs typeface="Cambria Math" pitchFamily="34" charset="-120"/>
              </a:rPr>
              <a:t>, 0) − Z )</a:t>
            </a:r>
            <a:endParaRPr lang="en-US" sz="1400" dirty="0"/>
          </a:p>
        </p:txBody>
      </p:sp>
      <p:sp>
        <p:nvSpPr>
          <p:cNvPr id="6" name="equation 1 circle"/>
          <p:cNvSpPr/>
          <p:nvPr/>
        </p:nvSpPr>
        <p:spPr>
          <a:xfrm>
            <a:off x="7132320" y="1554480"/>
            <a:ext cx="457200" cy="457200"/>
          </a:xfrm>
          <a:prstGeom prst="ellipse">
            <a:avLst/>
          </a:prstGeom>
          <a:solidFill>
            <a:srgbClr val="1F5FBF"/>
          </a:solidFill>
          <a:ln w="12700">
            <a:solidFill>
              <a:srgbClr val="1F5FBF"/>
            </a:solidFill>
            <a:prstDash val="solid"/>
          </a:ln>
        </p:spPr>
        <p:txBody>
          <a:bodyPr/>
          <a:lstStyle/>
          <a:p>
            <a:endParaRPr/>
          </a:p>
        </p:txBody>
      </p:sp>
      <p:pic>
        <p:nvPicPr>
          <p:cNvPr id="7" name="equation 1 icon" descr="preencoded.png"/>
          <p:cNvPicPr>
            <a:picLocks noChangeAspect="1"/>
          </p:cNvPicPr>
          <p:nvPr/>
        </p:nvPicPr>
        <p:blipFill>
          <a:blip r:embed="rId3"/>
          <a:stretch>
            <a:fillRect/>
          </a:stretch>
        </p:blipFill>
        <p:spPr>
          <a:xfrm>
            <a:off x="7242048" y="1664208"/>
            <a:ext cx="237744" cy="237744"/>
          </a:xfrm>
          <a:prstGeom prst="rect">
            <a:avLst/>
          </a:prstGeom>
        </p:spPr>
      </p:pic>
      <p:sp>
        <p:nvSpPr>
          <p:cNvPr id="8" name="equation 1 meaning"/>
          <p:cNvSpPr txBox="1"/>
          <p:nvPr/>
        </p:nvSpPr>
        <p:spPr>
          <a:xfrm>
            <a:off x="7726680" y="1417320"/>
            <a:ext cx="3749040" cy="731520"/>
          </a:xfrm>
          <a:prstGeom prst="rect">
            <a:avLst/>
          </a:prstGeom>
          <a:noFill/>
          <a:ln/>
        </p:spPr>
        <p:txBody>
          <a:bodyPr wrap="square" lIns="0" tIns="0" rIns="0" bIns="0" rtlCol="0" anchor="ctr"/>
          <a:lstStyle/>
          <a:p>
            <a:pPr marL="0" indent="0">
              <a:buNone/>
            </a:pPr>
            <a:r>
              <a:rPr lang="en-US" sz="1350" dirty="0">
                <a:solidFill>
                  <a:srgbClr val="F5F7FA"/>
                </a:solidFill>
              </a:rPr>
              <a:t>Sugar above your normal level makes the body release insulin, Z. φ: how strongly</a:t>
            </a:r>
            <a:endParaRPr lang="en-US" sz="1350" dirty="0"/>
          </a:p>
        </p:txBody>
      </p:sp>
      <p:sp>
        <p:nvSpPr>
          <p:cNvPr id="9" name="equation 2"/>
          <p:cNvSpPr/>
          <p:nvPr/>
        </p:nvSpPr>
        <p:spPr>
          <a:xfrm>
            <a:off x="548640" y="2331720"/>
            <a:ext cx="11064240" cy="822960"/>
          </a:xfrm>
          <a:prstGeom prst="roundRect">
            <a:avLst>
              <a:gd name="adj" fmla="val 11111"/>
            </a:avLst>
          </a:prstGeom>
          <a:solidFill>
            <a:srgbClr val="141820"/>
          </a:solidFill>
          <a:ln w="9525">
            <a:solidFill>
              <a:srgbClr val="283040"/>
            </a:solidFill>
            <a:prstDash val="solid"/>
          </a:ln>
        </p:spPr>
        <p:txBody>
          <a:bodyPr/>
          <a:lstStyle/>
          <a:p>
            <a:endParaRPr/>
          </a:p>
        </p:txBody>
      </p:sp>
      <p:sp>
        <p:nvSpPr>
          <p:cNvPr id="10" name="equation"/>
          <p:cNvSpPr txBox="1"/>
          <p:nvPr/>
        </p:nvSpPr>
        <p:spPr>
          <a:xfrm>
            <a:off x="777240" y="2377440"/>
            <a:ext cx="6263640" cy="731520"/>
          </a:xfrm>
          <a:prstGeom prst="rect">
            <a:avLst/>
          </a:prstGeom>
          <a:noFill/>
          <a:ln/>
        </p:spPr>
        <p:txBody>
          <a:bodyPr wrap="square" lIns="0" tIns="0" rIns="0" bIns="0" rtlCol="0" anchor="ctr"/>
          <a:lstStyle/>
          <a:p>
            <a:pPr marL="0" indent="0">
              <a:buNone/>
            </a:pPr>
            <a:r>
              <a:rPr lang="en-US" sz="1900" dirty="0">
                <a:solidFill>
                  <a:srgbClr val="FFFFFF"/>
                </a:solidFill>
                <a:latin typeface="Cambria Math" pitchFamily="34" charset="0"/>
                <a:ea typeface="Cambria Math" pitchFamily="34" charset="-122"/>
                <a:cs typeface="Cambria Math" pitchFamily="34" charset="-120"/>
              </a:rPr>
              <a:t>dX/dt = p</a:t>
            </a:r>
            <a:r>
              <a:rPr lang="en-US" sz="1900" baseline="-40000" dirty="0">
                <a:solidFill>
                  <a:srgbClr val="FFFFFF"/>
                </a:solidFill>
                <a:latin typeface="Cambria Math" pitchFamily="34" charset="0"/>
                <a:ea typeface="Cambria Math" pitchFamily="34" charset="-122"/>
                <a:cs typeface="Cambria Math" pitchFamily="34" charset="-120"/>
              </a:rPr>
              <a:t>2</a:t>
            </a:r>
            <a:r>
              <a:rPr lang="en-US" sz="1900" dirty="0">
                <a:solidFill>
                  <a:srgbClr val="FFFFFF"/>
                </a:solidFill>
                <a:latin typeface="Cambria Math" pitchFamily="34" charset="0"/>
                <a:ea typeface="Cambria Math" pitchFamily="34" charset="-122"/>
                <a:cs typeface="Cambria Math" pitchFamily="34" charset="-120"/>
              </a:rPr>
              <a:t> · ( Z − X )</a:t>
            </a:r>
            <a:endParaRPr lang="en-US" sz="1400" dirty="0"/>
          </a:p>
        </p:txBody>
      </p:sp>
      <p:sp>
        <p:nvSpPr>
          <p:cNvPr id="11" name="equation 2 circle"/>
          <p:cNvSpPr/>
          <p:nvPr/>
        </p:nvSpPr>
        <p:spPr>
          <a:xfrm>
            <a:off x="7132320" y="2514600"/>
            <a:ext cx="457200" cy="457200"/>
          </a:xfrm>
          <a:prstGeom prst="ellipse">
            <a:avLst/>
          </a:prstGeom>
          <a:solidFill>
            <a:srgbClr val="1F5FBF"/>
          </a:solidFill>
          <a:ln w="12700">
            <a:solidFill>
              <a:srgbClr val="1F5FBF"/>
            </a:solidFill>
            <a:prstDash val="solid"/>
          </a:ln>
        </p:spPr>
        <p:txBody>
          <a:bodyPr/>
          <a:lstStyle/>
          <a:p>
            <a:endParaRPr/>
          </a:p>
        </p:txBody>
      </p:sp>
      <p:pic>
        <p:nvPicPr>
          <p:cNvPr id="12" name="equation 2 icon" descr="preencoded.png"/>
          <p:cNvPicPr>
            <a:picLocks noChangeAspect="1"/>
          </p:cNvPicPr>
          <p:nvPr/>
        </p:nvPicPr>
        <p:blipFill>
          <a:blip r:embed="rId4"/>
          <a:stretch>
            <a:fillRect/>
          </a:stretch>
        </p:blipFill>
        <p:spPr>
          <a:xfrm>
            <a:off x="7242048" y="2624328"/>
            <a:ext cx="237744" cy="237744"/>
          </a:xfrm>
          <a:prstGeom prst="rect">
            <a:avLst/>
          </a:prstGeom>
        </p:spPr>
      </p:pic>
      <p:sp>
        <p:nvSpPr>
          <p:cNvPr id="13" name="equation 2 meaning"/>
          <p:cNvSpPr txBox="1"/>
          <p:nvPr/>
        </p:nvSpPr>
        <p:spPr>
          <a:xfrm>
            <a:off x="7726680" y="2377440"/>
            <a:ext cx="3749040" cy="731520"/>
          </a:xfrm>
          <a:prstGeom prst="rect">
            <a:avLst/>
          </a:prstGeom>
          <a:noFill/>
          <a:ln/>
        </p:spPr>
        <p:txBody>
          <a:bodyPr wrap="square" lIns="0" tIns="0" rIns="0" bIns="0" rtlCol="0" anchor="ctr"/>
          <a:lstStyle/>
          <a:p>
            <a:pPr marL="0" indent="0">
              <a:buNone/>
            </a:pPr>
            <a:r>
              <a:rPr lang="en-US" sz="1350" dirty="0">
                <a:solidFill>
                  <a:srgbClr val="F5F7FA"/>
                </a:solidFill>
              </a:rPr>
              <a:t>Insulin acts with about a half-hour delay, which is why spikes happen</a:t>
            </a:r>
            <a:endParaRPr lang="en-US" sz="1350" dirty="0"/>
          </a:p>
        </p:txBody>
      </p:sp>
      <p:sp>
        <p:nvSpPr>
          <p:cNvPr id="14" name="equation 3"/>
          <p:cNvSpPr/>
          <p:nvPr/>
        </p:nvSpPr>
        <p:spPr>
          <a:xfrm>
            <a:off x="548640" y="3291840"/>
            <a:ext cx="11064240" cy="822960"/>
          </a:xfrm>
          <a:prstGeom prst="roundRect">
            <a:avLst>
              <a:gd name="adj" fmla="val 11111"/>
            </a:avLst>
          </a:prstGeom>
          <a:solidFill>
            <a:srgbClr val="141820"/>
          </a:solidFill>
          <a:ln w="9525">
            <a:solidFill>
              <a:srgbClr val="283040"/>
            </a:solidFill>
            <a:prstDash val="solid"/>
          </a:ln>
        </p:spPr>
        <p:txBody>
          <a:bodyPr/>
          <a:lstStyle/>
          <a:p>
            <a:endParaRPr/>
          </a:p>
        </p:txBody>
      </p:sp>
      <p:sp>
        <p:nvSpPr>
          <p:cNvPr id="15" name="equation"/>
          <p:cNvSpPr txBox="1"/>
          <p:nvPr/>
        </p:nvSpPr>
        <p:spPr>
          <a:xfrm>
            <a:off x="777240" y="3337560"/>
            <a:ext cx="6263640" cy="731520"/>
          </a:xfrm>
          <a:prstGeom prst="rect">
            <a:avLst/>
          </a:prstGeom>
          <a:noFill/>
          <a:ln/>
        </p:spPr>
        <p:txBody>
          <a:bodyPr wrap="square" lIns="0" tIns="0" rIns="0" bIns="0" rtlCol="0" anchor="ctr"/>
          <a:lstStyle/>
          <a:p>
            <a:pPr marL="0" indent="0">
              <a:buNone/>
            </a:pPr>
            <a:r>
              <a:rPr lang="en-US" sz="1900" dirty="0">
                <a:solidFill>
                  <a:srgbClr val="FFFFFF"/>
                </a:solidFill>
                <a:latin typeface="Cambria Math" pitchFamily="34" charset="0"/>
                <a:ea typeface="Cambria Math" pitchFamily="34" charset="-122"/>
                <a:cs typeface="Cambria Math" pitchFamily="34" charset="-120"/>
              </a:rPr>
              <a:t>dG/dt = −( S</a:t>
            </a:r>
            <a:r>
              <a:rPr lang="en-US" sz="1900" baseline="-40000" dirty="0">
                <a:solidFill>
                  <a:srgbClr val="FFFFFF"/>
                </a:solidFill>
                <a:latin typeface="Cambria Math" pitchFamily="34" charset="0"/>
                <a:ea typeface="Cambria Math" pitchFamily="34" charset="-122"/>
                <a:cs typeface="Cambria Math" pitchFamily="34" charset="-120"/>
              </a:rPr>
              <a:t>G</a:t>
            </a:r>
            <a:r>
              <a:rPr lang="en-US" sz="1900" dirty="0">
                <a:solidFill>
                  <a:srgbClr val="FFFFFF"/>
                </a:solidFill>
                <a:latin typeface="Cambria Math" pitchFamily="34" charset="0"/>
                <a:ea typeface="Cambria Math" pitchFamily="34" charset="-122"/>
                <a:cs typeface="Cambria Math" pitchFamily="34" charset="-120"/>
              </a:rPr>
              <a:t> + X + β·A ) · G + S</a:t>
            </a:r>
            <a:r>
              <a:rPr lang="en-US" sz="1900" baseline="-40000" dirty="0">
                <a:solidFill>
                  <a:srgbClr val="FFFFFF"/>
                </a:solidFill>
                <a:latin typeface="Cambria Math" pitchFamily="34" charset="0"/>
                <a:ea typeface="Cambria Math" pitchFamily="34" charset="-122"/>
                <a:cs typeface="Cambria Math" pitchFamily="34" charset="-120"/>
              </a:rPr>
              <a:t>G</a:t>
            </a:r>
            <a:r>
              <a:rPr lang="en-US" sz="1900" dirty="0">
                <a:solidFill>
                  <a:srgbClr val="FFFFFF"/>
                </a:solidFill>
                <a:latin typeface="Cambria Math" pitchFamily="34" charset="0"/>
                <a:ea typeface="Cambria Math" pitchFamily="34" charset="-122"/>
                <a:cs typeface="Cambria Math" pitchFamily="34" charset="-120"/>
              </a:rPr>
              <a:t>G</a:t>
            </a:r>
            <a:r>
              <a:rPr lang="en-US" sz="1900" baseline="-40000" dirty="0">
                <a:solidFill>
                  <a:srgbClr val="FFFFFF"/>
                </a:solidFill>
                <a:latin typeface="Cambria Math" pitchFamily="34" charset="0"/>
                <a:ea typeface="Cambria Math" pitchFamily="34" charset="-122"/>
                <a:cs typeface="Cambria Math" pitchFamily="34" charset="-120"/>
              </a:rPr>
              <a:t>b</a:t>
            </a:r>
            <a:r>
              <a:rPr lang="en-US" sz="1900" dirty="0">
                <a:solidFill>
                  <a:srgbClr val="FFFFFF"/>
                </a:solidFill>
                <a:latin typeface="Cambria Math" pitchFamily="34" charset="0"/>
                <a:ea typeface="Cambria Math" pitchFamily="34" charset="-122"/>
                <a:cs typeface="Cambria Math" pitchFamily="34" charset="-120"/>
              </a:rPr>
              <a:t> + R</a:t>
            </a:r>
            <a:r>
              <a:rPr lang="en-US" sz="1900" baseline="-40000" dirty="0">
                <a:solidFill>
                  <a:srgbClr val="FFFFFF"/>
                </a:solidFill>
                <a:latin typeface="Cambria Math" pitchFamily="34" charset="0"/>
                <a:ea typeface="Cambria Math" pitchFamily="34" charset="-122"/>
                <a:cs typeface="Cambria Math" pitchFamily="34" charset="-120"/>
              </a:rPr>
              <a:t>a</a:t>
            </a:r>
            <a:r>
              <a:rPr lang="en-US" sz="1900" dirty="0">
                <a:solidFill>
                  <a:srgbClr val="FFFFFF"/>
                </a:solidFill>
                <a:latin typeface="Cambria Math" pitchFamily="34" charset="0"/>
                <a:ea typeface="Cambria Math" pitchFamily="34" charset="-122"/>
                <a:cs typeface="Cambria Math" pitchFamily="34" charset="-120"/>
              </a:rPr>
              <a:t>(t) + D</a:t>
            </a:r>
            <a:endParaRPr lang="en-US" sz="1400" dirty="0"/>
          </a:p>
        </p:txBody>
      </p:sp>
      <p:sp>
        <p:nvSpPr>
          <p:cNvPr id="16" name="equation 3 circle"/>
          <p:cNvSpPr/>
          <p:nvPr/>
        </p:nvSpPr>
        <p:spPr>
          <a:xfrm>
            <a:off x="7132320" y="3474720"/>
            <a:ext cx="457200" cy="457200"/>
          </a:xfrm>
          <a:prstGeom prst="ellipse">
            <a:avLst/>
          </a:prstGeom>
          <a:solidFill>
            <a:srgbClr val="1F5FBF"/>
          </a:solidFill>
          <a:ln w="12700">
            <a:solidFill>
              <a:srgbClr val="1F5FBF"/>
            </a:solidFill>
            <a:prstDash val="solid"/>
          </a:ln>
        </p:spPr>
        <p:txBody>
          <a:bodyPr/>
          <a:lstStyle/>
          <a:p>
            <a:endParaRPr/>
          </a:p>
        </p:txBody>
      </p:sp>
      <p:pic>
        <p:nvPicPr>
          <p:cNvPr id="17" name="equation 3 icon" descr="preencoded.png"/>
          <p:cNvPicPr>
            <a:picLocks noChangeAspect="1"/>
          </p:cNvPicPr>
          <p:nvPr/>
        </p:nvPicPr>
        <p:blipFill>
          <a:blip r:embed="rId5"/>
          <a:stretch>
            <a:fillRect/>
          </a:stretch>
        </p:blipFill>
        <p:spPr>
          <a:xfrm>
            <a:off x="7242048" y="3584448"/>
            <a:ext cx="237744" cy="237744"/>
          </a:xfrm>
          <a:prstGeom prst="rect">
            <a:avLst/>
          </a:prstGeom>
        </p:spPr>
      </p:pic>
      <p:sp>
        <p:nvSpPr>
          <p:cNvPr id="18" name="equation 3 meaning"/>
          <p:cNvSpPr txBox="1"/>
          <p:nvPr/>
        </p:nvSpPr>
        <p:spPr>
          <a:xfrm>
            <a:off x="7726680" y="3337560"/>
            <a:ext cx="3749040" cy="731520"/>
          </a:xfrm>
          <a:prstGeom prst="rect">
            <a:avLst/>
          </a:prstGeom>
          <a:noFill/>
          <a:ln/>
        </p:spPr>
        <p:txBody>
          <a:bodyPr wrap="square" lIns="0" tIns="0" rIns="0" bIns="0" rtlCol="0" anchor="ctr"/>
          <a:lstStyle/>
          <a:p>
            <a:pPr marL="0" indent="0">
              <a:buNone/>
            </a:pPr>
            <a:r>
              <a:rPr lang="en-US" sz="1350" dirty="0">
                <a:solidFill>
                  <a:srgbClr val="F5F7FA"/>
                </a:solidFill>
              </a:rPr>
              <a:t>Sugar in (liver, food) minus sugar out (body, insulin, activity). D: what we can't explain</a:t>
            </a:r>
            <a:endParaRPr lang="en-US" sz="1350" dirty="0"/>
          </a:p>
        </p:txBody>
      </p:sp>
      <p:sp>
        <p:nvSpPr>
          <p:cNvPr id="19" name="equation 4"/>
          <p:cNvSpPr/>
          <p:nvPr/>
        </p:nvSpPr>
        <p:spPr>
          <a:xfrm>
            <a:off x="548640" y="4251960"/>
            <a:ext cx="11064240" cy="822960"/>
          </a:xfrm>
          <a:prstGeom prst="roundRect">
            <a:avLst>
              <a:gd name="adj" fmla="val 11111"/>
            </a:avLst>
          </a:prstGeom>
          <a:solidFill>
            <a:srgbClr val="141820"/>
          </a:solidFill>
          <a:ln w="9525">
            <a:solidFill>
              <a:srgbClr val="283040"/>
            </a:solidFill>
            <a:prstDash val="solid"/>
          </a:ln>
        </p:spPr>
        <p:txBody>
          <a:bodyPr/>
          <a:lstStyle/>
          <a:p>
            <a:endParaRPr/>
          </a:p>
        </p:txBody>
      </p:sp>
      <p:sp>
        <p:nvSpPr>
          <p:cNvPr id="20" name="equation"/>
          <p:cNvSpPr txBox="1"/>
          <p:nvPr/>
        </p:nvSpPr>
        <p:spPr>
          <a:xfrm>
            <a:off x="777240" y="4297680"/>
            <a:ext cx="6263640" cy="731520"/>
          </a:xfrm>
          <a:prstGeom prst="rect">
            <a:avLst/>
          </a:prstGeom>
          <a:noFill/>
          <a:ln/>
        </p:spPr>
        <p:txBody>
          <a:bodyPr wrap="square" lIns="0" tIns="0" rIns="0" bIns="0" rtlCol="0" anchor="ctr"/>
          <a:lstStyle/>
          <a:p>
            <a:pPr marL="0" indent="0">
              <a:buNone/>
            </a:pPr>
            <a:r>
              <a:rPr lang="en-US" sz="1900" dirty="0">
                <a:solidFill>
                  <a:srgbClr val="FFFFFF"/>
                </a:solidFill>
                <a:latin typeface="Cambria Math" pitchFamily="34" charset="0"/>
                <a:ea typeface="Cambria Math" pitchFamily="34" charset="-122"/>
                <a:cs typeface="Cambria Math" pitchFamily="34" charset="-120"/>
              </a:rPr>
              <a:t>R</a:t>
            </a:r>
            <a:r>
              <a:rPr lang="en-US" sz="1900" baseline="-40000" dirty="0">
                <a:solidFill>
                  <a:srgbClr val="FFFFFF"/>
                </a:solidFill>
                <a:latin typeface="Cambria Math" pitchFamily="34" charset="0"/>
                <a:ea typeface="Cambria Math" pitchFamily="34" charset="-122"/>
                <a:cs typeface="Cambria Math" pitchFamily="34" charset="-120"/>
              </a:rPr>
              <a:t>a</a:t>
            </a:r>
            <a:r>
              <a:rPr lang="en-US" sz="1900" dirty="0">
                <a:solidFill>
                  <a:srgbClr val="FFFFFF"/>
                </a:solidFill>
                <a:latin typeface="Cambria Math" pitchFamily="34" charset="0"/>
                <a:ea typeface="Cambria Math" pitchFamily="34" charset="-122"/>
                <a:cs typeface="Cambria Math" pitchFamily="34" charset="-120"/>
              </a:rPr>
              <a:t>(t) = (c / BW) · C · k</a:t>
            </a:r>
            <a:r>
              <a:rPr lang="en-US" sz="1900" baseline="30000" dirty="0">
                <a:solidFill>
                  <a:srgbClr val="FFFFFF"/>
                </a:solidFill>
                <a:latin typeface="Cambria Math" pitchFamily="34" charset="0"/>
                <a:ea typeface="Cambria Math" pitchFamily="34" charset="-122"/>
                <a:cs typeface="Cambria Math" pitchFamily="34" charset="-120"/>
              </a:rPr>
              <a:t>2</a:t>
            </a:r>
            <a:r>
              <a:rPr lang="en-US" sz="1900" dirty="0">
                <a:solidFill>
                  <a:srgbClr val="FFFFFF"/>
                </a:solidFill>
                <a:latin typeface="Cambria Math" pitchFamily="34" charset="0"/>
                <a:ea typeface="Cambria Math" pitchFamily="34" charset="-122"/>
                <a:cs typeface="Cambria Math" pitchFamily="34" charset="-120"/>
              </a:rPr>
              <a:t> t e</a:t>
            </a:r>
            <a:r>
              <a:rPr lang="en-US" sz="1900" baseline="30000" dirty="0">
                <a:solidFill>
                  <a:srgbClr val="FFFFFF"/>
                </a:solidFill>
                <a:latin typeface="Cambria Math" pitchFamily="34" charset="0"/>
                <a:ea typeface="Cambria Math" pitchFamily="34" charset="-122"/>
                <a:cs typeface="Cambria Math" pitchFamily="34" charset="-120"/>
              </a:rPr>
              <a:t>−kt</a:t>
            </a:r>
            <a:endParaRPr lang="en-US" sz="1400" dirty="0"/>
          </a:p>
        </p:txBody>
      </p:sp>
      <p:sp>
        <p:nvSpPr>
          <p:cNvPr id="21" name="equation 4 circle"/>
          <p:cNvSpPr/>
          <p:nvPr/>
        </p:nvSpPr>
        <p:spPr>
          <a:xfrm>
            <a:off x="7132320" y="4434840"/>
            <a:ext cx="457200" cy="457200"/>
          </a:xfrm>
          <a:prstGeom prst="ellipse">
            <a:avLst/>
          </a:prstGeom>
          <a:solidFill>
            <a:srgbClr val="1F5FBF"/>
          </a:solidFill>
          <a:ln w="12700">
            <a:solidFill>
              <a:srgbClr val="1F5FBF"/>
            </a:solidFill>
            <a:prstDash val="solid"/>
          </a:ln>
        </p:spPr>
        <p:txBody>
          <a:bodyPr/>
          <a:lstStyle/>
          <a:p>
            <a:endParaRPr/>
          </a:p>
        </p:txBody>
      </p:sp>
      <p:pic>
        <p:nvPicPr>
          <p:cNvPr id="22" name="equation 4 icon" descr="preencoded.png"/>
          <p:cNvPicPr>
            <a:picLocks noChangeAspect="1"/>
          </p:cNvPicPr>
          <p:nvPr/>
        </p:nvPicPr>
        <p:blipFill>
          <a:blip r:embed="rId6"/>
          <a:stretch>
            <a:fillRect/>
          </a:stretch>
        </p:blipFill>
        <p:spPr>
          <a:xfrm>
            <a:off x="7242048" y="4544568"/>
            <a:ext cx="237744" cy="237744"/>
          </a:xfrm>
          <a:prstGeom prst="rect">
            <a:avLst/>
          </a:prstGeom>
        </p:spPr>
      </p:pic>
      <p:sp>
        <p:nvSpPr>
          <p:cNvPr id="23" name="equation 4 meaning"/>
          <p:cNvSpPr txBox="1"/>
          <p:nvPr/>
        </p:nvSpPr>
        <p:spPr>
          <a:xfrm>
            <a:off x="7726680" y="4297680"/>
            <a:ext cx="3749040" cy="731520"/>
          </a:xfrm>
          <a:prstGeom prst="rect">
            <a:avLst/>
          </a:prstGeom>
          <a:noFill/>
          <a:ln/>
        </p:spPr>
        <p:txBody>
          <a:bodyPr wrap="square" lIns="0" tIns="0" rIns="0" bIns="0" rtlCol="0" anchor="ctr"/>
          <a:lstStyle/>
          <a:p>
            <a:pPr marL="0" indent="0">
              <a:buNone/>
            </a:pPr>
            <a:r>
              <a:rPr lang="en-US" sz="1350" dirty="0">
                <a:solidFill>
                  <a:srgbClr val="F5F7FA"/>
                </a:solidFill>
              </a:rPr>
              <a:t>Food reaches the blood as a wave, up then down. Fat, protein and fibre make it slower and flatter</a:t>
            </a:r>
            <a:endParaRPr lang="en-US" sz="1350" dirty="0"/>
          </a:p>
        </p:txBody>
      </p:sp>
      <p:sp>
        <p:nvSpPr>
          <p:cNvPr id="24" name="params card"/>
          <p:cNvSpPr/>
          <p:nvPr/>
        </p:nvSpPr>
        <p:spPr>
          <a:xfrm>
            <a:off x="548640" y="5257800"/>
            <a:ext cx="11064240" cy="685800"/>
          </a:xfrm>
          <a:prstGeom prst="roundRect">
            <a:avLst>
              <a:gd name="adj" fmla="val 13333"/>
            </a:avLst>
          </a:prstGeom>
          <a:solidFill>
            <a:srgbClr val="10284A"/>
          </a:solidFill>
          <a:ln w="9525">
            <a:solidFill>
              <a:srgbClr val="3D8BFF"/>
            </a:solidFill>
            <a:prstDash val="solid"/>
          </a:ln>
        </p:spPr>
        <p:txBody>
          <a:bodyPr/>
          <a:lstStyle/>
          <a:p>
            <a:endParaRPr/>
          </a:p>
        </p:txBody>
      </p:sp>
      <p:sp>
        <p:nvSpPr>
          <p:cNvPr id="25" name="params"/>
          <p:cNvSpPr txBox="1"/>
          <p:nvPr/>
        </p:nvSpPr>
        <p:spPr>
          <a:xfrm>
            <a:off x="777240" y="5285232"/>
            <a:ext cx="10698480" cy="640080"/>
          </a:xfrm>
          <a:prstGeom prst="rect">
            <a:avLst/>
          </a:prstGeom>
          <a:noFill/>
          <a:ln/>
        </p:spPr>
        <p:txBody>
          <a:bodyPr wrap="square" lIns="0" tIns="0" rIns="0" bIns="0" rtlCol="0" anchor="ctr"/>
          <a:lstStyle/>
          <a:p>
            <a:pPr marL="0" indent="0">
              <a:buNone/>
            </a:pPr>
            <a:r>
              <a:rPr lang="en-US" sz="1350" dirty="0">
                <a:solidFill>
                  <a:srgbClr val="FFFFFF"/>
                </a:solidFill>
                <a:latin typeface="Cambria Math" pitchFamily="34" charset="0"/>
                <a:ea typeface="Cambria Math" pitchFamily="34" charset="-122"/>
                <a:cs typeface="Cambria Math" pitchFamily="34" charset="-120"/>
              </a:rPr>
              <a:t>5 dials per person:  θ = ( G</a:t>
            </a:r>
            <a:r>
              <a:rPr lang="en-US" sz="1350" baseline="-40000" dirty="0">
                <a:solidFill>
                  <a:srgbClr val="FFFFFF"/>
                </a:solidFill>
                <a:latin typeface="Cambria Math" pitchFamily="34" charset="0"/>
                <a:ea typeface="Cambria Math" pitchFamily="34" charset="-122"/>
                <a:cs typeface="Cambria Math" pitchFamily="34" charset="-120"/>
              </a:rPr>
              <a:t>b</a:t>
            </a:r>
            <a:r>
              <a:rPr lang="en-US" sz="1350" dirty="0">
                <a:solidFill>
                  <a:srgbClr val="FFFFFF"/>
                </a:solidFill>
                <a:latin typeface="Cambria Math" pitchFamily="34" charset="0"/>
                <a:ea typeface="Cambria Math" pitchFamily="34" charset="-122"/>
                <a:cs typeface="Cambria Math" pitchFamily="34" charset="-120"/>
              </a:rPr>
              <a:t>, φ, k, c, β )   normal sugar level · insulin strength · digestion speed · sugar per gram of carbs · benefit of activity</a:t>
            </a:r>
            <a:endParaRPr lang="en-US" sz="1400" dirty="0"/>
          </a:p>
        </p:txBody>
      </p:sp>
      <p:sp>
        <p:nvSpPr>
          <p:cNvPr id="26"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7D8794"/>
                </a:solidFill>
              </a:rPr>
              <a:t>Variant of the minimal model [17]. φ combines insulin release and sensitivity: a glucose sensor only sees their product. n, p₂, S_G are shared constants. Code: twin/core.py.</a:t>
            </a:r>
            <a:endParaRPr lang="en-US" sz="1000" dirty="0"/>
          </a:p>
        </p:txBody>
      </p:sp>
      <p:sp>
        <p:nvSpPr>
          <p:cNvPr id="2"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How the twin learns each person: 128 guesses</a:t>
            </a:r>
            <a:endParaRPr lang="en-US" sz="3400" dirty="0"/>
          </a:p>
        </p:txBody>
      </p:sp>
      <p:sp>
        <p:nvSpPr>
          <p:cNvPr id="4" name="kf 1"/>
          <p:cNvSpPr/>
          <p:nvPr/>
        </p:nvSpPr>
        <p:spPr>
          <a:xfrm>
            <a:off x="548640" y="1371600"/>
            <a:ext cx="6675120" cy="868680"/>
          </a:xfrm>
          <a:prstGeom prst="roundRect">
            <a:avLst>
              <a:gd name="adj" fmla="val 10526"/>
            </a:avLst>
          </a:prstGeom>
          <a:solidFill>
            <a:srgbClr val="141820"/>
          </a:solidFill>
          <a:ln w="9525">
            <a:solidFill>
              <a:srgbClr val="283040"/>
            </a:solidFill>
            <a:prstDash val="solid"/>
          </a:ln>
        </p:spPr>
        <p:txBody>
          <a:bodyPr/>
          <a:lstStyle/>
          <a:p>
            <a:endParaRPr/>
          </a:p>
        </p:txBody>
      </p:sp>
      <p:sp>
        <p:nvSpPr>
          <p:cNvPr id="5" name="equation"/>
          <p:cNvSpPr txBox="1"/>
          <p:nvPr/>
        </p:nvSpPr>
        <p:spPr>
          <a:xfrm>
            <a:off x="731520" y="1408176"/>
            <a:ext cx="6309360" cy="411480"/>
          </a:xfrm>
          <a:prstGeom prst="rect">
            <a:avLst/>
          </a:prstGeom>
          <a:noFill/>
          <a:ln/>
        </p:spPr>
        <p:txBody>
          <a:bodyPr wrap="square" lIns="0" tIns="0" rIns="0" bIns="0" rtlCol="0" anchor="ctr"/>
          <a:lstStyle/>
          <a:p>
            <a:pPr marL="0" indent="0">
              <a:buNone/>
            </a:pPr>
            <a:r>
              <a:rPr lang="en-US" sz="1800" dirty="0">
                <a:solidFill>
                  <a:srgbClr val="FFFFFF"/>
                </a:solidFill>
                <a:latin typeface="Cambria Math" pitchFamily="34" charset="0"/>
                <a:ea typeface="Cambria Math" pitchFamily="34" charset="-122"/>
                <a:cs typeface="Cambria Math" pitchFamily="34" charset="-120"/>
              </a:rPr>
              <a:t>x = [ G, X, Z, D, log θ ]</a:t>
            </a:r>
            <a:endParaRPr lang="en-US" sz="1400" dirty="0"/>
          </a:p>
        </p:txBody>
      </p:sp>
      <p:sp>
        <p:nvSpPr>
          <p:cNvPr id="6" name="kf 1 meaning"/>
          <p:cNvSpPr txBox="1"/>
          <p:nvPr/>
        </p:nvSpPr>
        <p:spPr>
          <a:xfrm>
            <a:off x="731520" y="1828800"/>
            <a:ext cx="6309360" cy="365760"/>
          </a:xfrm>
          <a:prstGeom prst="rect">
            <a:avLst/>
          </a:prstGeom>
          <a:noFill/>
          <a:ln/>
        </p:spPr>
        <p:txBody>
          <a:bodyPr wrap="square" lIns="0" tIns="0" rIns="0" bIns="0" rtlCol="0" anchor="t"/>
          <a:lstStyle/>
          <a:p>
            <a:pPr marL="0" indent="0">
              <a:buNone/>
            </a:pPr>
            <a:r>
              <a:rPr lang="en-US" sz="1350" dirty="0">
                <a:solidFill>
                  <a:srgbClr val="B7C0CC"/>
                </a:solidFill>
              </a:rPr>
              <a:t>4 moving parts + 5 dials; 128 copies, each with different dials</a:t>
            </a:r>
            <a:endParaRPr lang="en-US" sz="1350" dirty="0"/>
          </a:p>
        </p:txBody>
      </p:sp>
      <p:sp>
        <p:nvSpPr>
          <p:cNvPr id="7" name="kf 2"/>
          <p:cNvSpPr/>
          <p:nvPr/>
        </p:nvSpPr>
        <p:spPr>
          <a:xfrm>
            <a:off x="548640" y="2377440"/>
            <a:ext cx="6675120" cy="868680"/>
          </a:xfrm>
          <a:prstGeom prst="roundRect">
            <a:avLst>
              <a:gd name="adj" fmla="val 10526"/>
            </a:avLst>
          </a:prstGeom>
          <a:solidFill>
            <a:srgbClr val="141820"/>
          </a:solidFill>
          <a:ln w="9525">
            <a:solidFill>
              <a:srgbClr val="283040"/>
            </a:solidFill>
            <a:prstDash val="solid"/>
          </a:ln>
        </p:spPr>
        <p:txBody>
          <a:bodyPr/>
          <a:lstStyle/>
          <a:p>
            <a:endParaRPr/>
          </a:p>
        </p:txBody>
      </p:sp>
      <p:sp>
        <p:nvSpPr>
          <p:cNvPr id="8" name="equation"/>
          <p:cNvSpPr txBox="1"/>
          <p:nvPr/>
        </p:nvSpPr>
        <p:spPr>
          <a:xfrm>
            <a:off x="731520" y="2414016"/>
            <a:ext cx="6309360" cy="411480"/>
          </a:xfrm>
          <a:prstGeom prst="rect">
            <a:avLst/>
          </a:prstGeom>
          <a:noFill/>
          <a:ln/>
        </p:spPr>
        <p:txBody>
          <a:bodyPr wrap="square" lIns="0" tIns="0" rIns="0" bIns="0" rtlCol="0" anchor="ctr"/>
          <a:lstStyle/>
          <a:p>
            <a:pPr marL="0" indent="0">
              <a:buNone/>
            </a:pPr>
            <a:r>
              <a:rPr lang="en-US" sz="1800" dirty="0">
                <a:solidFill>
                  <a:srgbClr val="FFFFFF"/>
                </a:solidFill>
                <a:latin typeface="Cambria Math" pitchFamily="34" charset="0"/>
                <a:ea typeface="Cambria Math" pitchFamily="34" charset="-122"/>
                <a:cs typeface="Cambria Math" pitchFamily="34" charset="-120"/>
              </a:rPr>
              <a:t>x</a:t>
            </a:r>
            <a:r>
              <a:rPr lang="en-US" sz="1800" baseline="-40000" dirty="0">
                <a:solidFill>
                  <a:srgbClr val="FFFFFF"/>
                </a:solidFill>
                <a:latin typeface="Cambria Math" pitchFamily="34" charset="0"/>
                <a:ea typeface="Cambria Math" pitchFamily="34" charset="-122"/>
                <a:cs typeface="Cambria Math" pitchFamily="34" charset="-120"/>
              </a:rPr>
              <a:t>i</a:t>
            </a:r>
            <a:r>
              <a:rPr lang="en-US" sz="1800" baseline="30000" dirty="0">
                <a:solidFill>
                  <a:srgbClr val="FFFFFF"/>
                </a:solidFill>
                <a:latin typeface="Cambria Math" pitchFamily="34" charset="0"/>
                <a:ea typeface="Cambria Math" pitchFamily="34" charset="-122"/>
                <a:cs typeface="Cambria Math" pitchFamily="34" charset="-120"/>
              </a:rPr>
              <a:t>−</a:t>
            </a:r>
            <a:r>
              <a:rPr lang="en-US" sz="1800" dirty="0">
                <a:solidFill>
                  <a:srgbClr val="FFFFFF"/>
                </a:solidFill>
                <a:latin typeface="Cambria Math" pitchFamily="34" charset="0"/>
                <a:ea typeface="Cambria Math" pitchFamily="34" charset="-122"/>
                <a:cs typeface="Cambria Math" pitchFamily="34" charset="-120"/>
              </a:rPr>
              <a:t> = model( x</a:t>
            </a:r>
            <a:r>
              <a:rPr lang="en-US" sz="1800" baseline="-40000" dirty="0">
                <a:solidFill>
                  <a:srgbClr val="FFFFFF"/>
                </a:solidFill>
                <a:latin typeface="Cambria Math" pitchFamily="34" charset="0"/>
                <a:ea typeface="Cambria Math" pitchFamily="34" charset="-122"/>
                <a:cs typeface="Cambria Math" pitchFamily="34" charset="-120"/>
              </a:rPr>
              <a:t>i</a:t>
            </a:r>
            <a:r>
              <a:rPr lang="en-US" sz="1800" dirty="0">
                <a:solidFill>
                  <a:srgbClr val="FFFFFF"/>
                </a:solidFill>
                <a:latin typeface="Cambria Math" pitchFamily="34" charset="0"/>
                <a:ea typeface="Cambria Math" pitchFamily="34" charset="-122"/>
                <a:cs typeface="Cambria Math" pitchFamily="34" charset="-120"/>
              </a:rPr>
              <a:t> )</a:t>
            </a:r>
            <a:endParaRPr lang="en-US" sz="1400" dirty="0"/>
          </a:p>
        </p:txBody>
      </p:sp>
      <p:sp>
        <p:nvSpPr>
          <p:cNvPr id="9" name="kf 2 meaning"/>
          <p:cNvSpPr txBox="1"/>
          <p:nvPr/>
        </p:nvSpPr>
        <p:spPr>
          <a:xfrm>
            <a:off x="731520" y="2834640"/>
            <a:ext cx="6309360" cy="365760"/>
          </a:xfrm>
          <a:prstGeom prst="rect">
            <a:avLst/>
          </a:prstGeom>
          <a:noFill/>
          <a:ln/>
        </p:spPr>
        <p:txBody>
          <a:bodyPr wrap="square" lIns="0" tIns="0" rIns="0" bIns="0" rtlCol="0" anchor="t"/>
          <a:lstStyle/>
          <a:p>
            <a:pPr marL="0" indent="0">
              <a:buNone/>
            </a:pPr>
            <a:r>
              <a:rPr lang="en-US" sz="1350" dirty="0">
                <a:solidFill>
                  <a:srgbClr val="B7C0CC"/>
                </a:solidFill>
              </a:rPr>
              <a:t>each copy predicts the next reading</a:t>
            </a:r>
            <a:endParaRPr lang="en-US" sz="1350" dirty="0"/>
          </a:p>
        </p:txBody>
      </p:sp>
      <p:sp>
        <p:nvSpPr>
          <p:cNvPr id="10" name="kf 3"/>
          <p:cNvSpPr/>
          <p:nvPr/>
        </p:nvSpPr>
        <p:spPr>
          <a:xfrm>
            <a:off x="548640" y="3383280"/>
            <a:ext cx="6675120" cy="868680"/>
          </a:xfrm>
          <a:prstGeom prst="roundRect">
            <a:avLst>
              <a:gd name="adj" fmla="val 10526"/>
            </a:avLst>
          </a:prstGeom>
          <a:solidFill>
            <a:srgbClr val="141820"/>
          </a:solidFill>
          <a:ln w="9525">
            <a:solidFill>
              <a:srgbClr val="283040"/>
            </a:solidFill>
            <a:prstDash val="solid"/>
          </a:ln>
        </p:spPr>
        <p:txBody>
          <a:bodyPr/>
          <a:lstStyle/>
          <a:p>
            <a:endParaRPr/>
          </a:p>
        </p:txBody>
      </p:sp>
      <p:sp>
        <p:nvSpPr>
          <p:cNvPr id="11" name="equation"/>
          <p:cNvSpPr txBox="1"/>
          <p:nvPr/>
        </p:nvSpPr>
        <p:spPr>
          <a:xfrm>
            <a:off x="731520" y="3419856"/>
            <a:ext cx="6309360" cy="411480"/>
          </a:xfrm>
          <a:prstGeom prst="rect">
            <a:avLst/>
          </a:prstGeom>
          <a:noFill/>
          <a:ln/>
        </p:spPr>
        <p:txBody>
          <a:bodyPr wrap="square" lIns="0" tIns="0" rIns="0" bIns="0" rtlCol="0" anchor="ctr"/>
          <a:lstStyle/>
          <a:p>
            <a:pPr marL="0" indent="0">
              <a:buNone/>
            </a:pPr>
            <a:r>
              <a:rPr lang="en-US" sz="1800" dirty="0">
                <a:solidFill>
                  <a:srgbClr val="FFFFFF"/>
                </a:solidFill>
                <a:latin typeface="Cambria Math" pitchFamily="34" charset="0"/>
                <a:ea typeface="Cambria Math" pitchFamily="34" charset="-122"/>
                <a:cs typeface="Cambria Math" pitchFamily="34" charset="-120"/>
              </a:rPr>
              <a:t>x</a:t>
            </a:r>
            <a:r>
              <a:rPr lang="en-US" sz="1800" baseline="-40000" dirty="0">
                <a:solidFill>
                  <a:srgbClr val="FFFFFF"/>
                </a:solidFill>
                <a:latin typeface="Cambria Math" pitchFamily="34" charset="0"/>
                <a:ea typeface="Cambria Math" pitchFamily="34" charset="-122"/>
                <a:cs typeface="Cambria Math" pitchFamily="34" charset="-120"/>
              </a:rPr>
              <a:t>i</a:t>
            </a:r>
            <a:r>
              <a:rPr lang="en-US" sz="1800" baseline="30000" dirty="0">
                <a:solidFill>
                  <a:srgbClr val="FFFFFF"/>
                </a:solidFill>
                <a:latin typeface="Cambria Math" pitchFamily="34" charset="0"/>
                <a:ea typeface="Cambria Math" pitchFamily="34" charset="-122"/>
                <a:cs typeface="Cambria Math" pitchFamily="34" charset="-120"/>
              </a:rPr>
              <a:t>+</a:t>
            </a:r>
            <a:r>
              <a:rPr lang="en-US" sz="1800" dirty="0">
                <a:solidFill>
                  <a:srgbClr val="FFFFFF"/>
                </a:solidFill>
                <a:latin typeface="Cambria Math" pitchFamily="34" charset="0"/>
                <a:ea typeface="Cambria Math" pitchFamily="34" charset="-122"/>
                <a:cs typeface="Cambria Math" pitchFamily="34" charset="-120"/>
              </a:rPr>
              <a:t> = x</a:t>
            </a:r>
            <a:r>
              <a:rPr lang="en-US" sz="1800" baseline="-40000" dirty="0">
                <a:solidFill>
                  <a:srgbClr val="FFFFFF"/>
                </a:solidFill>
                <a:latin typeface="Cambria Math" pitchFamily="34" charset="0"/>
                <a:ea typeface="Cambria Math" pitchFamily="34" charset="-122"/>
                <a:cs typeface="Cambria Math" pitchFamily="34" charset="-120"/>
              </a:rPr>
              <a:t>i</a:t>
            </a:r>
            <a:r>
              <a:rPr lang="en-US" sz="1800" baseline="30000" dirty="0">
                <a:solidFill>
                  <a:srgbClr val="FFFFFF"/>
                </a:solidFill>
                <a:latin typeface="Cambria Math" pitchFamily="34" charset="0"/>
                <a:ea typeface="Cambria Math" pitchFamily="34" charset="-122"/>
                <a:cs typeface="Cambria Math" pitchFamily="34" charset="-120"/>
              </a:rPr>
              <a:t>−</a:t>
            </a:r>
            <a:r>
              <a:rPr lang="en-US" sz="1800" dirty="0">
                <a:solidFill>
                  <a:srgbClr val="FFFFFF"/>
                </a:solidFill>
                <a:latin typeface="Cambria Math" pitchFamily="34" charset="0"/>
                <a:ea typeface="Cambria Math" pitchFamily="34" charset="-122"/>
                <a:cs typeface="Cambria Math" pitchFamily="34" charset="-120"/>
              </a:rPr>
              <a:t> + K · ( y + ε</a:t>
            </a:r>
            <a:r>
              <a:rPr lang="en-US" sz="1800" baseline="-40000" dirty="0">
                <a:solidFill>
                  <a:srgbClr val="FFFFFF"/>
                </a:solidFill>
                <a:latin typeface="Cambria Math" pitchFamily="34" charset="0"/>
                <a:ea typeface="Cambria Math" pitchFamily="34" charset="-122"/>
                <a:cs typeface="Cambria Math" pitchFamily="34" charset="-120"/>
              </a:rPr>
              <a:t>i</a:t>
            </a:r>
            <a:r>
              <a:rPr lang="en-US" sz="1800" dirty="0">
                <a:solidFill>
                  <a:srgbClr val="FFFFFF"/>
                </a:solidFill>
                <a:latin typeface="Cambria Math" pitchFamily="34" charset="0"/>
                <a:ea typeface="Cambria Math" pitchFamily="34" charset="-122"/>
                <a:cs typeface="Cambria Math" pitchFamily="34" charset="-120"/>
              </a:rPr>
              <a:t> − G</a:t>
            </a:r>
            <a:r>
              <a:rPr lang="en-US" sz="1800" baseline="-40000" dirty="0">
                <a:solidFill>
                  <a:srgbClr val="FFFFFF"/>
                </a:solidFill>
                <a:latin typeface="Cambria Math" pitchFamily="34" charset="0"/>
                <a:ea typeface="Cambria Math" pitchFamily="34" charset="-122"/>
                <a:cs typeface="Cambria Math" pitchFamily="34" charset="-120"/>
              </a:rPr>
              <a:t>i</a:t>
            </a:r>
            <a:r>
              <a:rPr lang="en-US" sz="1800" baseline="30000" dirty="0">
                <a:solidFill>
                  <a:srgbClr val="FFFFFF"/>
                </a:solidFill>
                <a:latin typeface="Cambria Math" pitchFamily="34" charset="0"/>
                <a:ea typeface="Cambria Math" pitchFamily="34" charset="-122"/>
                <a:cs typeface="Cambria Math" pitchFamily="34" charset="-120"/>
              </a:rPr>
              <a:t>−</a:t>
            </a:r>
            <a:r>
              <a:rPr lang="en-US" sz="1800" dirty="0">
                <a:solidFill>
                  <a:srgbClr val="FFFFFF"/>
                </a:solidFill>
                <a:latin typeface="Cambria Math" pitchFamily="34" charset="0"/>
                <a:ea typeface="Cambria Math" pitchFamily="34" charset="-122"/>
                <a:cs typeface="Cambria Math" pitchFamily="34" charset="-120"/>
              </a:rPr>
              <a:t> )</a:t>
            </a:r>
            <a:endParaRPr lang="en-US" sz="1400" dirty="0"/>
          </a:p>
        </p:txBody>
      </p:sp>
      <p:sp>
        <p:nvSpPr>
          <p:cNvPr id="12" name="kf 3 meaning"/>
          <p:cNvSpPr txBox="1"/>
          <p:nvPr/>
        </p:nvSpPr>
        <p:spPr>
          <a:xfrm>
            <a:off x="731520" y="3840480"/>
            <a:ext cx="6309360" cy="365760"/>
          </a:xfrm>
          <a:prstGeom prst="rect">
            <a:avLst/>
          </a:prstGeom>
          <a:noFill/>
          <a:ln/>
        </p:spPr>
        <p:txBody>
          <a:bodyPr wrap="square" lIns="0" tIns="0" rIns="0" bIns="0" rtlCol="0" anchor="t"/>
          <a:lstStyle/>
          <a:p>
            <a:pPr marL="0" indent="0">
              <a:buNone/>
            </a:pPr>
            <a:r>
              <a:rPr lang="en-US" sz="1350" dirty="0">
                <a:solidFill>
                  <a:srgbClr val="B7C0CC"/>
                </a:solidFill>
              </a:rPr>
              <a:t>reading y arrives: pull each copy toward it, more if it was further off</a:t>
            </a:r>
            <a:endParaRPr lang="en-US" sz="1350" dirty="0"/>
          </a:p>
        </p:txBody>
      </p:sp>
      <p:sp>
        <p:nvSpPr>
          <p:cNvPr id="13" name="kf 4"/>
          <p:cNvSpPr/>
          <p:nvPr/>
        </p:nvSpPr>
        <p:spPr>
          <a:xfrm>
            <a:off x="548640" y="4389120"/>
            <a:ext cx="6675120" cy="868680"/>
          </a:xfrm>
          <a:prstGeom prst="roundRect">
            <a:avLst>
              <a:gd name="adj" fmla="val 10526"/>
            </a:avLst>
          </a:prstGeom>
          <a:solidFill>
            <a:srgbClr val="141820"/>
          </a:solidFill>
          <a:ln w="9525">
            <a:solidFill>
              <a:srgbClr val="283040"/>
            </a:solidFill>
            <a:prstDash val="solid"/>
          </a:ln>
        </p:spPr>
        <p:txBody>
          <a:bodyPr/>
          <a:lstStyle/>
          <a:p>
            <a:endParaRPr/>
          </a:p>
        </p:txBody>
      </p:sp>
      <p:sp>
        <p:nvSpPr>
          <p:cNvPr id="14" name="equation"/>
          <p:cNvSpPr txBox="1"/>
          <p:nvPr/>
        </p:nvSpPr>
        <p:spPr>
          <a:xfrm>
            <a:off x="731520" y="4425696"/>
            <a:ext cx="6309360" cy="411480"/>
          </a:xfrm>
          <a:prstGeom prst="rect">
            <a:avLst/>
          </a:prstGeom>
          <a:noFill/>
          <a:ln/>
        </p:spPr>
        <p:txBody>
          <a:bodyPr wrap="square" lIns="0" tIns="0" rIns="0" bIns="0" rtlCol="0" anchor="ctr"/>
          <a:lstStyle/>
          <a:p>
            <a:pPr marL="0" indent="0">
              <a:buNone/>
            </a:pPr>
            <a:r>
              <a:rPr lang="en-US" sz="1800" dirty="0">
                <a:solidFill>
                  <a:srgbClr val="FFFFFF"/>
                </a:solidFill>
                <a:latin typeface="Cambria Math" pitchFamily="34" charset="0"/>
                <a:ea typeface="Cambria Math" pitchFamily="34" charset="-122"/>
                <a:cs typeface="Cambria Math" pitchFamily="34" charset="-120"/>
              </a:rPr>
              <a:t>K = Cov( x, G</a:t>
            </a:r>
            <a:r>
              <a:rPr lang="en-US" sz="1800" baseline="30000" dirty="0">
                <a:solidFill>
                  <a:srgbClr val="FFFFFF"/>
                </a:solidFill>
                <a:latin typeface="Cambria Math" pitchFamily="34" charset="0"/>
                <a:ea typeface="Cambria Math" pitchFamily="34" charset="-122"/>
                <a:cs typeface="Cambria Math" pitchFamily="34" charset="-120"/>
              </a:rPr>
              <a:t>−</a:t>
            </a:r>
            <a:r>
              <a:rPr lang="en-US" sz="1800" dirty="0">
                <a:solidFill>
                  <a:srgbClr val="FFFFFF"/>
                </a:solidFill>
                <a:latin typeface="Cambria Math" pitchFamily="34" charset="0"/>
                <a:ea typeface="Cambria Math" pitchFamily="34" charset="-122"/>
                <a:cs typeface="Cambria Math" pitchFamily="34" charset="-120"/>
              </a:rPr>
              <a:t> ) / ( Var( G</a:t>
            </a:r>
            <a:r>
              <a:rPr lang="en-US" sz="1800" baseline="30000" dirty="0">
                <a:solidFill>
                  <a:srgbClr val="FFFFFF"/>
                </a:solidFill>
                <a:latin typeface="Cambria Math" pitchFamily="34" charset="0"/>
                <a:ea typeface="Cambria Math" pitchFamily="34" charset="-122"/>
                <a:cs typeface="Cambria Math" pitchFamily="34" charset="-120"/>
              </a:rPr>
              <a:t>−</a:t>
            </a:r>
            <a:r>
              <a:rPr lang="en-US" sz="1800" dirty="0">
                <a:solidFill>
                  <a:srgbClr val="FFFFFF"/>
                </a:solidFill>
                <a:latin typeface="Cambria Math" pitchFamily="34" charset="0"/>
                <a:ea typeface="Cambria Math" pitchFamily="34" charset="-122"/>
                <a:cs typeface="Cambria Math" pitchFamily="34" charset="-120"/>
              </a:rPr>
              <a:t> ) + R )</a:t>
            </a:r>
            <a:endParaRPr lang="en-US" sz="1400" dirty="0"/>
          </a:p>
        </p:txBody>
      </p:sp>
      <p:sp>
        <p:nvSpPr>
          <p:cNvPr id="15" name="kf 4 meaning"/>
          <p:cNvSpPr txBox="1"/>
          <p:nvPr/>
        </p:nvSpPr>
        <p:spPr>
          <a:xfrm>
            <a:off x="731520" y="4846320"/>
            <a:ext cx="6309360" cy="365760"/>
          </a:xfrm>
          <a:prstGeom prst="rect">
            <a:avLst/>
          </a:prstGeom>
          <a:noFill/>
          <a:ln/>
        </p:spPr>
        <p:txBody>
          <a:bodyPr wrap="square" lIns="0" tIns="0" rIns="0" bIns="0" rtlCol="0" anchor="t"/>
          <a:lstStyle/>
          <a:p>
            <a:pPr marL="0" indent="0">
              <a:buNone/>
            </a:pPr>
            <a:r>
              <a:rPr lang="en-US" sz="1350" dirty="0">
                <a:solidFill>
                  <a:srgbClr val="B7C0CC"/>
                </a:solidFill>
              </a:rPr>
              <a:t>pull hard if the copies disagree, gently if the sensor is noisy (R)</a:t>
            </a:r>
            <a:endParaRPr lang="en-US" sz="1350" dirty="0"/>
          </a:p>
        </p:txBody>
      </p:sp>
      <p:sp>
        <p:nvSpPr>
          <p:cNvPr id="16" name="learning panel frame"/>
          <p:cNvSpPr/>
          <p:nvPr/>
        </p:nvSpPr>
        <p:spPr>
          <a:xfrm>
            <a:off x="7580376" y="1408176"/>
            <a:ext cx="4041648" cy="2439755"/>
          </a:xfrm>
          <a:prstGeom prst="rect">
            <a:avLst/>
          </a:prstGeom>
          <a:solidFill>
            <a:srgbClr val="FFFFFF"/>
          </a:solidFill>
          <a:ln w="12700">
            <a:solidFill>
              <a:srgbClr val="FFFFFF"/>
            </a:solidFill>
            <a:prstDash val="solid"/>
          </a:ln>
          <a:effectLst>
            <a:outerShdw blurRad="127000" dist="50800" dir="5400000" algn="bl" rotWithShape="0">
              <a:srgbClr val="000000">
                <a:alpha val="60000"/>
              </a:srgbClr>
            </a:outerShdw>
          </a:effectLst>
        </p:spPr>
        <p:txBody>
          <a:bodyPr/>
          <a:lstStyle/>
          <a:p>
            <a:endParaRPr/>
          </a:p>
        </p:txBody>
      </p:sp>
      <p:pic>
        <p:nvPicPr>
          <p:cNvPr id="17" name="learning panel" descr="C:\Users\tharu\AppData\Local\Temp\claude\D--Mechanical-Engineering-Hackathons-Digital-Twin\df663d0f-c1be-4cb9-9e41-502d36bbd372\scratchpad\deck/dash_learning.png"/>
          <p:cNvPicPr>
            <a:picLocks noChangeAspect="1"/>
          </p:cNvPicPr>
          <p:nvPr/>
        </p:nvPicPr>
        <p:blipFill>
          <a:blip r:embed="rId3"/>
          <a:stretch>
            <a:fillRect/>
          </a:stretch>
        </p:blipFill>
        <p:spPr>
          <a:xfrm>
            <a:off x="7635240" y="1463040"/>
            <a:ext cx="3931920" cy="2330027"/>
          </a:xfrm>
          <a:prstGeom prst="rect">
            <a:avLst/>
          </a:prstGeom>
        </p:spPr>
      </p:pic>
      <p:sp>
        <p:nvSpPr>
          <p:cNvPr id="18" name="learning caption"/>
          <p:cNvSpPr txBox="1"/>
          <p:nvPr/>
        </p:nvSpPr>
        <p:spPr>
          <a:xfrm>
            <a:off x="7589520" y="3931920"/>
            <a:ext cx="4023360" cy="731520"/>
          </a:xfrm>
          <a:prstGeom prst="rect">
            <a:avLst/>
          </a:prstGeom>
          <a:noFill/>
          <a:ln/>
        </p:spPr>
        <p:txBody>
          <a:bodyPr wrap="square" lIns="0" tIns="0" rIns="0" bIns="0" rtlCol="0" anchor="t"/>
          <a:lstStyle/>
          <a:p>
            <a:pPr marL="0" indent="0">
              <a:buNone/>
            </a:pPr>
            <a:r>
              <a:rPr lang="en-US" sz="1300" dirty="0">
                <a:solidFill>
                  <a:srgbClr val="B7C0CC"/>
                </a:solidFill>
              </a:rPr>
              <a:t>From the dashboard: this patient's normal sugar level settles within a day and tracks the lab fasting glucose</a:t>
            </a:r>
            <a:endParaRPr lang="en-US" sz="1300" dirty="0"/>
          </a:p>
        </p:txBody>
      </p:sp>
      <p:sp>
        <p:nvSpPr>
          <p:cNvPr id="19" name="gps card"/>
          <p:cNvSpPr/>
          <p:nvPr/>
        </p:nvSpPr>
        <p:spPr>
          <a:xfrm>
            <a:off x="7589520" y="4754880"/>
            <a:ext cx="4023360" cy="1097280"/>
          </a:xfrm>
          <a:prstGeom prst="roundRect">
            <a:avLst>
              <a:gd name="adj" fmla="val 8333"/>
            </a:avLst>
          </a:prstGeom>
          <a:solidFill>
            <a:srgbClr val="10284A"/>
          </a:solidFill>
          <a:ln w="9525">
            <a:solidFill>
              <a:srgbClr val="3D8BFF"/>
            </a:solidFill>
            <a:prstDash val="solid"/>
          </a:ln>
        </p:spPr>
        <p:txBody>
          <a:bodyPr/>
          <a:lstStyle/>
          <a:p>
            <a:endParaRPr/>
          </a:p>
        </p:txBody>
      </p:sp>
      <p:sp>
        <p:nvSpPr>
          <p:cNvPr id="20" name="gps text"/>
          <p:cNvSpPr txBox="1"/>
          <p:nvPr/>
        </p:nvSpPr>
        <p:spPr>
          <a:xfrm>
            <a:off x="7772400" y="4754880"/>
            <a:ext cx="3657600" cy="1097280"/>
          </a:xfrm>
          <a:prstGeom prst="rect">
            <a:avLst/>
          </a:prstGeom>
          <a:noFill/>
          <a:ln/>
        </p:spPr>
        <p:txBody>
          <a:bodyPr wrap="square" lIns="0" tIns="0" rIns="0" bIns="0" rtlCol="0" anchor="ctr"/>
          <a:lstStyle/>
          <a:p>
            <a:pPr marL="0" indent="0">
              <a:buNone/>
            </a:pPr>
            <a:r>
              <a:rPr lang="en-US" sz="1400" b="1" dirty="0">
                <a:solidFill>
                  <a:srgbClr val="F5F7FA"/>
                </a:solidFill>
              </a:rPr>
              <a:t>A running estimate, corrected at every new reading. Never fitted to its own patient in advance</a:t>
            </a:r>
            <a:endParaRPr lang="en-US" sz="1400" dirty="0"/>
          </a:p>
        </p:txBody>
      </p:sp>
      <p:sp>
        <p:nvSpPr>
          <p:cNvPr id="21"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7D8794"/>
                </a:solidFill>
              </a:rPr>
              <a:t>Ensemble Kalman filter [18]: moving parts and dials corrected together; it coasts through sensor gaps.</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From the twin to a forecast, a range and an alert</a:t>
            </a:r>
            <a:endParaRPr lang="en-US" sz="3400" dirty="0"/>
          </a:p>
        </p:txBody>
      </p:sp>
      <p:sp>
        <p:nvSpPr>
          <p:cNvPr id="4" name="fx 1"/>
          <p:cNvSpPr/>
          <p:nvPr/>
        </p:nvSpPr>
        <p:spPr>
          <a:xfrm>
            <a:off x="548640" y="1371600"/>
            <a:ext cx="11064240" cy="987552"/>
          </a:xfrm>
          <a:prstGeom prst="roundRect">
            <a:avLst>
              <a:gd name="adj" fmla="val 9259"/>
            </a:avLst>
          </a:prstGeom>
          <a:solidFill>
            <a:srgbClr val="141820"/>
          </a:solidFill>
          <a:ln w="9525">
            <a:solidFill>
              <a:srgbClr val="2ECC8F"/>
            </a:solidFill>
            <a:prstDash val="solid"/>
          </a:ln>
        </p:spPr>
      </p:sp>
      <p:sp>
        <p:nvSpPr>
          <p:cNvPr id="5" name="equation"/>
          <p:cNvSpPr txBox="1"/>
          <p:nvPr/>
        </p:nvSpPr>
        <p:spPr>
          <a:xfrm>
            <a:off x="777240" y="1417320"/>
            <a:ext cx="6949440" cy="896112"/>
          </a:xfrm>
          <a:prstGeom prst="rect">
            <a:avLst/>
          </a:prstGeom>
          <a:noFill/>
          <a:ln/>
        </p:spPr>
        <p:txBody>
          <a:bodyPr wrap="square" lIns="0" tIns="0" rIns="0" bIns="0" rtlCol="0" anchor="ctr"/>
          <a:lstStyle/>
          <a:p>
            <a:pPr marL="0" indent="0">
              <a:buNone/>
            </a:pPr>
            <a:r>
              <a:rPr lang="en-US" sz="1800" dirty="0">
                <a:solidFill>
                  <a:srgbClr val="FFFFFF"/>
                </a:solidFill>
                <a:latin typeface="Cambria Math" pitchFamily="34" charset="0"/>
                <a:ea typeface="Cambria Math" pitchFamily="34" charset="-122"/>
                <a:cs typeface="Cambria Math" pitchFamily="34" charset="-120"/>
              </a:rPr>
              <a:t>ŷ</a:t>
            </a:r>
            <a:r>
              <a:rPr lang="en-US" sz="1800" baseline="-40000" dirty="0">
                <a:solidFill>
                  <a:srgbClr val="FFFFFF"/>
                </a:solidFill>
                <a:latin typeface="Cambria Math" pitchFamily="34" charset="0"/>
                <a:ea typeface="Cambria Math" pitchFamily="34" charset="-122"/>
                <a:cs typeface="Cambria Math" pitchFamily="34" charset="-120"/>
              </a:rPr>
              <a:t>hybrid</a:t>
            </a:r>
            <a:r>
              <a:rPr lang="en-US" sz="1800" dirty="0">
                <a:solidFill>
                  <a:srgbClr val="FFFFFF"/>
                </a:solidFill>
                <a:latin typeface="Cambria Math" pitchFamily="34" charset="0"/>
                <a:ea typeface="Cambria Math" pitchFamily="34" charset="-122"/>
                <a:cs typeface="Cambria Math" pitchFamily="34" charset="-120"/>
              </a:rPr>
              <a:t> = ŷ</a:t>
            </a:r>
            <a:r>
              <a:rPr lang="en-US" sz="1800" baseline="-40000" dirty="0">
                <a:solidFill>
                  <a:srgbClr val="FFFFFF"/>
                </a:solidFill>
                <a:latin typeface="Cambria Math" pitchFamily="34" charset="0"/>
                <a:ea typeface="Cambria Math" pitchFamily="34" charset="-122"/>
                <a:cs typeface="Cambria Math" pitchFamily="34" charset="-120"/>
              </a:rPr>
              <a:t>physics</a:t>
            </a:r>
            <a:r>
              <a:rPr lang="en-US" sz="1800" dirty="0">
                <a:solidFill>
                  <a:srgbClr val="FFFFFF"/>
                </a:solidFill>
                <a:latin typeface="Cambria Math" pitchFamily="34" charset="0"/>
                <a:ea typeface="Cambria Math" pitchFamily="34" charset="-122"/>
                <a:cs typeface="Cambria Math" pitchFamily="34" charset="-120"/>
              </a:rPr>
              <a:t> + clip( f</a:t>
            </a:r>
            <a:r>
              <a:rPr lang="en-US" sz="1800" baseline="-40000" dirty="0">
                <a:solidFill>
                  <a:srgbClr val="FFFFFF"/>
                </a:solidFill>
                <a:latin typeface="Cambria Math" pitchFamily="34" charset="0"/>
                <a:ea typeface="Cambria Math" pitchFamily="34" charset="-122"/>
                <a:cs typeface="Cambria Math" pitchFamily="34" charset="-120"/>
              </a:rPr>
              <a:t>LGBM</a:t>
            </a:r>
            <a:r>
              <a:rPr lang="en-US" sz="1800" dirty="0">
                <a:solidFill>
                  <a:srgbClr val="FFFFFF"/>
                </a:solidFill>
                <a:latin typeface="Cambria Math" pitchFamily="34" charset="0"/>
                <a:ea typeface="Cambria Math" pitchFamily="34" charset="-122"/>
                <a:cs typeface="Cambria Math" pitchFamily="34" charset="-120"/>
              </a:rPr>
              <a:t>( x ), ± c )</a:t>
            </a:r>
            <a:endParaRPr lang="en-US" sz="1400" dirty="0"/>
          </a:p>
        </p:txBody>
      </p:sp>
      <p:sp>
        <p:nvSpPr>
          <p:cNvPr id="6" name="fx 1 meaning"/>
          <p:cNvSpPr txBox="1"/>
          <p:nvPr/>
        </p:nvSpPr>
        <p:spPr>
          <a:xfrm>
            <a:off x="7863840" y="1417320"/>
            <a:ext cx="3611880" cy="896112"/>
          </a:xfrm>
          <a:prstGeom prst="rect">
            <a:avLst/>
          </a:prstGeom>
          <a:noFill/>
          <a:ln/>
        </p:spPr>
        <p:txBody>
          <a:bodyPr wrap="square" lIns="0" tIns="0" rIns="0" bIns="0" rtlCol="0" anchor="ctr"/>
          <a:lstStyle/>
          <a:p>
            <a:pPr marL="0" indent="0">
              <a:buNone/>
            </a:pPr>
            <a:r>
              <a:rPr lang="en-US" sz="1350" dirty="0">
                <a:solidFill>
                  <a:srgbClr val="F5F7FA"/>
                </a:solidFill>
              </a:rPr>
              <a:t>physics forecast + a small learned fix, never more than c = 20 to 40 mg/dL. The physics drives; the learning only nudges</a:t>
            </a:r>
            <a:endParaRPr lang="en-US" sz="1350" dirty="0"/>
          </a:p>
        </p:txBody>
      </p:sp>
      <p:sp>
        <p:nvSpPr>
          <p:cNvPr id="7" name="fx 2"/>
          <p:cNvSpPr/>
          <p:nvPr/>
        </p:nvSpPr>
        <p:spPr>
          <a:xfrm>
            <a:off x="548640" y="2487168"/>
            <a:ext cx="11064240" cy="987552"/>
          </a:xfrm>
          <a:prstGeom prst="roundRect">
            <a:avLst>
              <a:gd name="adj" fmla="val 9259"/>
            </a:avLst>
          </a:prstGeom>
          <a:solidFill>
            <a:srgbClr val="141820"/>
          </a:solidFill>
          <a:ln w="9525">
            <a:solidFill>
              <a:srgbClr val="2ECC8F"/>
            </a:solidFill>
            <a:prstDash val="solid"/>
          </a:ln>
        </p:spPr>
      </p:sp>
      <p:sp>
        <p:nvSpPr>
          <p:cNvPr id="8" name="equation"/>
          <p:cNvSpPr txBox="1"/>
          <p:nvPr/>
        </p:nvSpPr>
        <p:spPr>
          <a:xfrm>
            <a:off x="777240" y="2532888"/>
            <a:ext cx="6949440" cy="896112"/>
          </a:xfrm>
          <a:prstGeom prst="rect">
            <a:avLst/>
          </a:prstGeom>
          <a:noFill/>
          <a:ln/>
        </p:spPr>
        <p:txBody>
          <a:bodyPr wrap="square" lIns="0" tIns="0" rIns="0" bIns="0" rtlCol="0" anchor="ctr"/>
          <a:lstStyle/>
          <a:p>
            <a:pPr marL="0" indent="0">
              <a:buNone/>
            </a:pPr>
            <a:r>
              <a:rPr lang="en-US" sz="1800" dirty="0">
                <a:solidFill>
                  <a:srgbClr val="FFFFFF"/>
                </a:solidFill>
                <a:latin typeface="Cambria Math" pitchFamily="34" charset="0"/>
                <a:ea typeface="Cambria Math" pitchFamily="34" charset="-122"/>
                <a:cs typeface="Cambria Math" pitchFamily="34" charset="-120"/>
              </a:rPr>
              <a:t>ŷ = ½ ŷ</a:t>
            </a:r>
            <a:r>
              <a:rPr lang="en-US" sz="1800" baseline="-40000" dirty="0">
                <a:solidFill>
                  <a:srgbClr val="FFFFFF"/>
                </a:solidFill>
                <a:latin typeface="Cambria Math" pitchFamily="34" charset="0"/>
                <a:ea typeface="Cambria Math" pitchFamily="34" charset="-122"/>
                <a:cs typeface="Cambria Math" pitchFamily="34" charset="-120"/>
              </a:rPr>
              <a:t>hybrid</a:t>
            </a:r>
            <a:r>
              <a:rPr lang="en-US" sz="1800" dirty="0">
                <a:solidFill>
                  <a:srgbClr val="FFFFFF"/>
                </a:solidFill>
                <a:latin typeface="Cambria Math" pitchFamily="34" charset="0"/>
                <a:ea typeface="Cambria Math" pitchFamily="34" charset="-122"/>
                <a:cs typeface="Cambria Math" pitchFamily="34" charset="-120"/>
              </a:rPr>
              <a:t> + ½ ŷ</a:t>
            </a:r>
            <a:r>
              <a:rPr lang="en-US" sz="1800" baseline="-40000" dirty="0">
                <a:solidFill>
                  <a:srgbClr val="FFFFFF"/>
                </a:solidFill>
                <a:latin typeface="Cambria Math" pitchFamily="34" charset="0"/>
                <a:ea typeface="Cambria Math" pitchFamily="34" charset="-122"/>
                <a:cs typeface="Cambria Math" pitchFamily="34" charset="-120"/>
              </a:rPr>
              <a:t>Chronos-2</a:t>
            </a:r>
            <a:endParaRPr lang="en-US" sz="1400" dirty="0"/>
          </a:p>
        </p:txBody>
      </p:sp>
      <p:sp>
        <p:nvSpPr>
          <p:cNvPr id="9" name="fx 2 meaning"/>
          <p:cNvSpPr txBox="1"/>
          <p:nvPr/>
        </p:nvSpPr>
        <p:spPr>
          <a:xfrm>
            <a:off x="7863840" y="2532888"/>
            <a:ext cx="3611880" cy="896112"/>
          </a:xfrm>
          <a:prstGeom prst="rect">
            <a:avLst/>
          </a:prstGeom>
          <a:noFill/>
          <a:ln/>
        </p:spPr>
        <p:txBody>
          <a:bodyPr wrap="square" lIns="0" tIns="0" rIns="0" bIns="0" rtlCol="0" anchor="ctr"/>
          <a:lstStyle/>
          <a:p>
            <a:pPr marL="0" indent="0">
              <a:buNone/>
            </a:pPr>
            <a:r>
              <a:rPr lang="en-US" sz="1350" dirty="0">
                <a:solidFill>
                  <a:srgbClr val="F5F7FA"/>
                </a:solidFill>
              </a:rPr>
              <a:t>two forecasters with different blind spots, simply averaged (fixed before testing)</a:t>
            </a:r>
            <a:endParaRPr lang="en-US" sz="1350" dirty="0"/>
          </a:p>
        </p:txBody>
      </p:sp>
      <p:sp>
        <p:nvSpPr>
          <p:cNvPr id="10" name="fx 3"/>
          <p:cNvSpPr/>
          <p:nvPr/>
        </p:nvSpPr>
        <p:spPr>
          <a:xfrm>
            <a:off x="548640" y="3602736"/>
            <a:ext cx="11064240" cy="987552"/>
          </a:xfrm>
          <a:prstGeom prst="roundRect">
            <a:avLst>
              <a:gd name="adj" fmla="val 9259"/>
            </a:avLst>
          </a:prstGeom>
          <a:solidFill>
            <a:srgbClr val="141820"/>
          </a:solidFill>
          <a:ln w="9525">
            <a:solidFill>
              <a:srgbClr val="3D8BFF"/>
            </a:solidFill>
            <a:prstDash val="solid"/>
          </a:ln>
        </p:spPr>
      </p:sp>
      <p:sp>
        <p:nvSpPr>
          <p:cNvPr id="11" name="equation"/>
          <p:cNvSpPr txBox="1"/>
          <p:nvPr/>
        </p:nvSpPr>
        <p:spPr>
          <a:xfrm>
            <a:off x="777240" y="3648456"/>
            <a:ext cx="6949440" cy="896112"/>
          </a:xfrm>
          <a:prstGeom prst="rect">
            <a:avLst/>
          </a:prstGeom>
          <a:noFill/>
          <a:ln/>
        </p:spPr>
        <p:txBody>
          <a:bodyPr wrap="square" lIns="0" tIns="0" rIns="0" bIns="0" rtlCol="0" anchor="ctr"/>
          <a:lstStyle/>
          <a:p>
            <a:pPr marL="0" indent="0">
              <a:buNone/>
            </a:pPr>
            <a:r>
              <a:rPr lang="en-US" sz="1800" dirty="0">
                <a:solidFill>
                  <a:srgbClr val="FFFFFF"/>
                </a:solidFill>
                <a:latin typeface="Cambria Math" pitchFamily="34" charset="0"/>
                <a:ea typeface="Cambria Math" pitchFamily="34" charset="-122"/>
                <a:cs typeface="Cambria Math" pitchFamily="34" charset="-120"/>
              </a:rPr>
              <a:t>band = [ q̂</a:t>
            </a:r>
            <a:r>
              <a:rPr lang="en-US" sz="1800" baseline="-40000" dirty="0">
                <a:solidFill>
                  <a:srgbClr val="FFFFFF"/>
                </a:solidFill>
                <a:latin typeface="Cambria Math" pitchFamily="34" charset="0"/>
                <a:ea typeface="Cambria Math" pitchFamily="34" charset="-122"/>
                <a:cs typeface="Cambria Math" pitchFamily="34" charset="-120"/>
              </a:rPr>
              <a:t>5</a:t>
            </a:r>
            <a:r>
              <a:rPr lang="en-US" sz="1800" dirty="0">
                <a:solidFill>
                  <a:srgbClr val="FFFFFF"/>
                </a:solidFill>
                <a:latin typeface="Cambria Math" pitchFamily="34" charset="0"/>
                <a:ea typeface="Cambria Math" pitchFamily="34" charset="-122"/>
                <a:cs typeface="Cambria Math" pitchFamily="34" charset="-120"/>
              </a:rPr>
              <a:t> − Q,  q̂</a:t>
            </a:r>
            <a:r>
              <a:rPr lang="en-US" sz="1800" baseline="-40000" dirty="0">
                <a:solidFill>
                  <a:srgbClr val="FFFFFF"/>
                </a:solidFill>
                <a:latin typeface="Cambria Math" pitchFamily="34" charset="0"/>
                <a:ea typeface="Cambria Math" pitchFamily="34" charset="-122"/>
                <a:cs typeface="Cambria Math" pitchFamily="34" charset="-120"/>
              </a:rPr>
              <a:t>95</a:t>
            </a:r>
            <a:r>
              <a:rPr lang="en-US" sz="1800" dirty="0">
                <a:solidFill>
                  <a:srgbClr val="FFFFFF"/>
                </a:solidFill>
                <a:latin typeface="Cambria Math" pitchFamily="34" charset="0"/>
                <a:ea typeface="Cambria Math" pitchFamily="34" charset="-122"/>
                <a:cs typeface="Cambria Math" pitchFamily="34" charset="-120"/>
              </a:rPr>
              <a:t> + Q ],   α</a:t>
            </a:r>
            <a:r>
              <a:rPr lang="en-US" sz="1800" baseline="-40000" dirty="0">
                <a:solidFill>
                  <a:srgbClr val="FFFFFF"/>
                </a:solidFill>
                <a:latin typeface="Cambria Math" pitchFamily="34" charset="0"/>
                <a:ea typeface="Cambria Math" pitchFamily="34" charset="-122"/>
                <a:cs typeface="Cambria Math" pitchFamily="34" charset="-120"/>
              </a:rPr>
              <a:t>t+1</a:t>
            </a:r>
            <a:r>
              <a:rPr lang="en-US" sz="1800" dirty="0">
                <a:solidFill>
                  <a:srgbClr val="FFFFFF"/>
                </a:solidFill>
                <a:latin typeface="Cambria Math" pitchFamily="34" charset="0"/>
                <a:ea typeface="Cambria Math" pitchFamily="34" charset="-122"/>
                <a:cs typeface="Cambria Math" pitchFamily="34" charset="-120"/>
              </a:rPr>
              <a:t> = α</a:t>
            </a:r>
            <a:r>
              <a:rPr lang="en-US" sz="1800" baseline="-40000" dirty="0">
                <a:solidFill>
                  <a:srgbClr val="FFFFFF"/>
                </a:solidFill>
                <a:latin typeface="Cambria Math" pitchFamily="34" charset="0"/>
                <a:ea typeface="Cambria Math" pitchFamily="34" charset="-122"/>
                <a:cs typeface="Cambria Math" pitchFamily="34" charset="-120"/>
              </a:rPr>
              <a:t>t</a:t>
            </a:r>
            <a:r>
              <a:rPr lang="en-US" sz="1800" dirty="0">
                <a:solidFill>
                  <a:srgbClr val="FFFFFF"/>
                </a:solidFill>
                <a:latin typeface="Cambria Math" pitchFamily="34" charset="0"/>
                <a:ea typeface="Cambria Math" pitchFamily="34" charset="-122"/>
                <a:cs typeface="Cambria Math" pitchFamily="34" charset="-120"/>
              </a:rPr>
              <a:t> + γ( α − miss</a:t>
            </a:r>
            <a:r>
              <a:rPr lang="en-US" sz="1800" baseline="-40000" dirty="0">
                <a:solidFill>
                  <a:srgbClr val="FFFFFF"/>
                </a:solidFill>
                <a:latin typeface="Cambria Math" pitchFamily="34" charset="0"/>
                <a:ea typeface="Cambria Math" pitchFamily="34" charset="-122"/>
                <a:cs typeface="Cambria Math" pitchFamily="34" charset="-120"/>
              </a:rPr>
              <a:t>t</a:t>
            </a:r>
            <a:r>
              <a:rPr lang="en-US" sz="1800" dirty="0">
                <a:solidFill>
                  <a:srgbClr val="FFFFFF"/>
                </a:solidFill>
                <a:latin typeface="Cambria Math" pitchFamily="34" charset="0"/>
                <a:ea typeface="Cambria Math" pitchFamily="34" charset="-122"/>
                <a:cs typeface="Cambria Math" pitchFamily="34" charset="-120"/>
              </a:rPr>
              <a:t> )</a:t>
            </a:r>
            <a:endParaRPr lang="en-US" sz="1400" dirty="0"/>
          </a:p>
        </p:txBody>
      </p:sp>
      <p:sp>
        <p:nvSpPr>
          <p:cNvPr id="12" name="fx 3 meaning"/>
          <p:cNvSpPr txBox="1"/>
          <p:nvPr/>
        </p:nvSpPr>
        <p:spPr>
          <a:xfrm>
            <a:off x="7863840" y="3648456"/>
            <a:ext cx="3611880" cy="896112"/>
          </a:xfrm>
          <a:prstGeom prst="rect">
            <a:avLst/>
          </a:prstGeom>
          <a:noFill/>
          <a:ln/>
        </p:spPr>
        <p:txBody>
          <a:bodyPr wrap="square" lIns="0" tIns="0" rIns="0" bIns="0" rtlCol="0" anchor="ctr"/>
          <a:lstStyle/>
          <a:p>
            <a:pPr marL="0" indent="0">
              <a:buNone/>
            </a:pPr>
            <a:r>
              <a:rPr lang="en-US" sz="1350" dirty="0">
                <a:solidFill>
                  <a:srgbClr val="F5F7FA"/>
                </a:solidFill>
              </a:rPr>
              <a:t>a range that should hold 9 readings in 10. A miss widens it a little, a hit narrows it, for each patient</a:t>
            </a:r>
            <a:endParaRPr lang="en-US" sz="1350" dirty="0"/>
          </a:p>
        </p:txBody>
      </p:sp>
      <p:sp>
        <p:nvSpPr>
          <p:cNvPr id="13" name="fx 4"/>
          <p:cNvSpPr/>
          <p:nvPr/>
        </p:nvSpPr>
        <p:spPr>
          <a:xfrm>
            <a:off x="548640" y="4718304"/>
            <a:ext cx="11064240" cy="987552"/>
          </a:xfrm>
          <a:prstGeom prst="roundRect">
            <a:avLst>
              <a:gd name="adj" fmla="val 9259"/>
            </a:avLst>
          </a:prstGeom>
          <a:solidFill>
            <a:srgbClr val="141820"/>
          </a:solidFill>
          <a:ln w="9525">
            <a:solidFill>
              <a:srgbClr val="F5A623"/>
            </a:solidFill>
            <a:prstDash val="solid"/>
          </a:ln>
        </p:spPr>
      </p:sp>
      <p:sp>
        <p:nvSpPr>
          <p:cNvPr id="14" name="equation"/>
          <p:cNvSpPr txBox="1"/>
          <p:nvPr/>
        </p:nvSpPr>
        <p:spPr>
          <a:xfrm>
            <a:off x="777240" y="4764024"/>
            <a:ext cx="6949440" cy="896112"/>
          </a:xfrm>
          <a:prstGeom prst="rect">
            <a:avLst/>
          </a:prstGeom>
          <a:noFill/>
          <a:ln/>
        </p:spPr>
        <p:txBody>
          <a:bodyPr wrap="square" lIns="0" tIns="0" rIns="0" bIns="0" rtlCol="0" anchor="ctr"/>
          <a:lstStyle/>
          <a:p>
            <a:pPr marL="0" indent="0">
              <a:buNone/>
            </a:pPr>
            <a:r>
              <a:rPr lang="en-US" sz="1800" dirty="0">
                <a:solidFill>
                  <a:srgbClr val="FFFFFF"/>
                </a:solidFill>
                <a:latin typeface="Cambria Math" pitchFamily="34" charset="0"/>
                <a:ea typeface="Cambria Math" pitchFamily="34" charset="-122"/>
                <a:cs typeface="Cambria Math" pitchFamily="34" charset="-120"/>
              </a:rPr>
              <a:t>p = P( G &gt; 180 for ≥ 15 min within 2 h ),   alert if p ≥ τ</a:t>
            </a:r>
            <a:endParaRPr lang="en-US" sz="1400" dirty="0"/>
          </a:p>
        </p:txBody>
      </p:sp>
      <p:sp>
        <p:nvSpPr>
          <p:cNvPr id="15" name="fx 4 meaning"/>
          <p:cNvSpPr txBox="1"/>
          <p:nvPr/>
        </p:nvSpPr>
        <p:spPr>
          <a:xfrm>
            <a:off x="7863840" y="4764024"/>
            <a:ext cx="3611880" cy="896112"/>
          </a:xfrm>
          <a:prstGeom prst="rect">
            <a:avLst/>
          </a:prstGeom>
          <a:noFill/>
          <a:ln/>
        </p:spPr>
        <p:txBody>
          <a:bodyPr wrap="square" lIns="0" tIns="0" rIns="0" bIns="0" rtlCol="0" anchor="ctr"/>
          <a:lstStyle/>
          <a:p>
            <a:pPr marL="0" indent="0">
              <a:buNone/>
            </a:pPr>
            <a:r>
              <a:rPr lang="en-US" sz="1350" dirty="0">
                <a:solidFill>
                  <a:srgbClr val="F5F7FA"/>
                </a:solidFill>
              </a:rPr>
              <a:t>the chance of a spike in the next 2 hours; the bell rings above τ, set for about one false alarm a day</a:t>
            </a:r>
            <a:endParaRPr lang="en-US" sz="1350" dirty="0"/>
          </a:p>
        </p:txBody>
      </p:sp>
      <p:sp>
        <p:nvSpPr>
          <p:cNvPr id="16"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7D8794"/>
                </a:solidFill>
              </a:rPr>
              <a:t>LightGBM [19]; Chronos-2 [20]; conformalized quantile regression [21]; adaptive conformal inference [22]. Code: twin/hybrid.py.</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Why, what-if, and a suggestion</a:t>
            </a:r>
            <a:endParaRPr lang="en-US" sz="3400" dirty="0"/>
          </a:p>
        </p:txBody>
      </p:sp>
      <p:sp>
        <p:nvSpPr>
          <p:cNvPr id="4" name="dc 1"/>
          <p:cNvSpPr/>
          <p:nvPr/>
        </p:nvSpPr>
        <p:spPr>
          <a:xfrm>
            <a:off x="548640" y="1371600"/>
            <a:ext cx="6858000" cy="1298448"/>
          </a:xfrm>
          <a:prstGeom prst="roundRect">
            <a:avLst>
              <a:gd name="adj" fmla="val 7042"/>
            </a:avLst>
          </a:prstGeom>
          <a:solidFill>
            <a:srgbClr val="141820"/>
          </a:solidFill>
          <a:ln w="9525">
            <a:solidFill>
              <a:srgbClr val="C792EA"/>
            </a:solidFill>
            <a:prstDash val="solid"/>
          </a:ln>
        </p:spPr>
      </p:sp>
      <p:sp>
        <p:nvSpPr>
          <p:cNvPr id="5" name="dc 1 head"/>
          <p:cNvSpPr txBox="1"/>
          <p:nvPr/>
        </p:nvSpPr>
        <p:spPr>
          <a:xfrm>
            <a:off x="777240" y="1463040"/>
            <a:ext cx="1828800" cy="365760"/>
          </a:xfrm>
          <a:prstGeom prst="rect">
            <a:avLst/>
          </a:prstGeom>
          <a:noFill/>
          <a:ln/>
        </p:spPr>
        <p:txBody>
          <a:bodyPr wrap="square" lIns="0" tIns="0" rIns="0" bIns="0" rtlCol="0" anchor="t"/>
          <a:lstStyle/>
          <a:p>
            <a:pPr marL="0" indent="0">
              <a:buNone/>
            </a:pPr>
            <a:r>
              <a:rPr lang="en-US" sz="1800" b="1" dirty="0">
                <a:solidFill>
                  <a:srgbClr val="C792EA"/>
                </a:solidFill>
              </a:rPr>
              <a:t>Why</a:t>
            </a:r>
            <a:endParaRPr lang="en-US" sz="1800" dirty="0"/>
          </a:p>
        </p:txBody>
      </p:sp>
      <p:sp>
        <p:nvSpPr>
          <p:cNvPr id="6" name="equation"/>
          <p:cNvSpPr txBox="1"/>
          <p:nvPr/>
        </p:nvSpPr>
        <p:spPr>
          <a:xfrm>
            <a:off x="777240" y="1810512"/>
            <a:ext cx="6400800" cy="411480"/>
          </a:xfrm>
          <a:prstGeom prst="rect">
            <a:avLst/>
          </a:prstGeom>
          <a:noFill/>
          <a:ln/>
        </p:spPr>
        <p:txBody>
          <a:bodyPr wrap="square" lIns="0" tIns="0" rIns="0" bIns="0" rtlCol="0" anchor="ctr"/>
          <a:lstStyle/>
          <a:p>
            <a:pPr marL="0" indent="0">
              <a:buNone/>
            </a:pPr>
            <a:r>
              <a:rPr lang="en-US" sz="1650" dirty="0">
                <a:solidFill>
                  <a:srgbClr val="FFFFFF"/>
                </a:solidFill>
                <a:latin typeface="Cambria Math" pitchFamily="34" charset="0"/>
                <a:ea typeface="Cambria Math" pitchFamily="34" charset="-122"/>
                <a:cs typeface="Cambria Math" pitchFamily="34" charset="-120"/>
              </a:rPr>
              <a:t>Δ</a:t>
            </a:r>
            <a:r>
              <a:rPr lang="en-US" sz="1650" baseline="-40000" dirty="0">
                <a:solidFill>
                  <a:srgbClr val="FFFFFF"/>
                </a:solidFill>
                <a:latin typeface="Cambria Math" pitchFamily="34" charset="0"/>
                <a:ea typeface="Cambria Math" pitchFamily="34" charset="-122"/>
                <a:cs typeface="Cambria Math" pitchFamily="34" charset="-120"/>
              </a:rPr>
              <a:t>k</a:t>
            </a:r>
            <a:r>
              <a:rPr lang="en-US" sz="1650" dirty="0">
                <a:solidFill>
                  <a:srgbClr val="FFFFFF"/>
                </a:solidFill>
                <a:latin typeface="Cambria Math" pitchFamily="34" charset="0"/>
                <a:ea typeface="Cambria Math" pitchFamily="34" charset="-122"/>
                <a:cs typeface="Cambria Math" pitchFamily="34" charset="-120"/>
              </a:rPr>
              <a:t> = peak − peak without cause k</a:t>
            </a:r>
            <a:endParaRPr lang="en-US" sz="1400" dirty="0"/>
          </a:p>
        </p:txBody>
      </p:sp>
      <p:sp>
        <p:nvSpPr>
          <p:cNvPr id="7" name="dc 1 meaning"/>
          <p:cNvSpPr txBox="1"/>
          <p:nvPr/>
        </p:nvSpPr>
        <p:spPr>
          <a:xfrm>
            <a:off x="777240" y="2221992"/>
            <a:ext cx="6400800" cy="384048"/>
          </a:xfrm>
          <a:prstGeom prst="rect">
            <a:avLst/>
          </a:prstGeom>
          <a:noFill/>
          <a:ln/>
        </p:spPr>
        <p:txBody>
          <a:bodyPr wrap="square" lIns="0" tIns="0" rIns="0" bIns="0" rtlCol="0" anchor="t"/>
          <a:lstStyle/>
          <a:p>
            <a:pPr marL="0" indent="0">
              <a:buNone/>
            </a:pPr>
            <a:r>
              <a:rPr lang="en-US" sz="1350" dirty="0">
                <a:solidFill>
                  <a:srgbClr val="F5F7FA"/>
                </a:solidFill>
              </a:rPr>
              <a:t>remove one cause (food, activity, drift), replay, see how much the peak drops</a:t>
            </a:r>
            <a:endParaRPr lang="en-US" sz="1350" dirty="0"/>
          </a:p>
        </p:txBody>
      </p:sp>
      <p:sp>
        <p:nvSpPr>
          <p:cNvPr id="8" name="dc 2"/>
          <p:cNvSpPr/>
          <p:nvPr/>
        </p:nvSpPr>
        <p:spPr>
          <a:xfrm>
            <a:off x="548640" y="2834640"/>
            <a:ext cx="6858000" cy="1298448"/>
          </a:xfrm>
          <a:prstGeom prst="roundRect">
            <a:avLst>
              <a:gd name="adj" fmla="val 7042"/>
            </a:avLst>
          </a:prstGeom>
          <a:solidFill>
            <a:srgbClr val="141820"/>
          </a:solidFill>
          <a:ln w="9525">
            <a:solidFill>
              <a:srgbClr val="C792EA"/>
            </a:solidFill>
            <a:prstDash val="solid"/>
          </a:ln>
        </p:spPr>
      </p:sp>
      <p:sp>
        <p:nvSpPr>
          <p:cNvPr id="9" name="dc 2 head"/>
          <p:cNvSpPr txBox="1"/>
          <p:nvPr/>
        </p:nvSpPr>
        <p:spPr>
          <a:xfrm>
            <a:off x="777240" y="2926080"/>
            <a:ext cx="1828800" cy="365760"/>
          </a:xfrm>
          <a:prstGeom prst="rect">
            <a:avLst/>
          </a:prstGeom>
          <a:noFill/>
          <a:ln/>
        </p:spPr>
        <p:txBody>
          <a:bodyPr wrap="square" lIns="0" tIns="0" rIns="0" bIns="0" rtlCol="0" anchor="t"/>
          <a:lstStyle/>
          <a:p>
            <a:pPr marL="0" indent="0">
              <a:buNone/>
            </a:pPr>
            <a:r>
              <a:rPr lang="en-US" sz="1800" b="1" dirty="0">
                <a:solidFill>
                  <a:srgbClr val="C792EA"/>
                </a:solidFill>
              </a:rPr>
              <a:t>What-if</a:t>
            </a:r>
            <a:endParaRPr lang="en-US" sz="1800" dirty="0"/>
          </a:p>
        </p:txBody>
      </p:sp>
      <p:sp>
        <p:nvSpPr>
          <p:cNvPr id="10" name="equation"/>
          <p:cNvSpPr txBox="1"/>
          <p:nvPr/>
        </p:nvSpPr>
        <p:spPr>
          <a:xfrm>
            <a:off x="777240" y="3273552"/>
            <a:ext cx="6400800" cy="411480"/>
          </a:xfrm>
          <a:prstGeom prst="rect">
            <a:avLst/>
          </a:prstGeom>
          <a:noFill/>
          <a:ln/>
        </p:spPr>
        <p:txBody>
          <a:bodyPr wrap="square" lIns="0" tIns="0" rIns="0" bIns="0" rtlCol="0" anchor="ctr"/>
          <a:lstStyle/>
          <a:p>
            <a:pPr marL="0" indent="0">
              <a:buNone/>
            </a:pPr>
            <a:r>
              <a:rPr lang="en-US" sz="1650" dirty="0">
                <a:solidFill>
                  <a:srgbClr val="FFFFFF"/>
                </a:solidFill>
                <a:latin typeface="Cambria Math" pitchFamily="34" charset="0"/>
                <a:ea typeface="Cambria Math" pitchFamily="34" charset="-122"/>
                <a:cs typeface="Cambria Math" pitchFamily="34" charset="-120"/>
              </a:rPr>
              <a:t>inputs u → u′, same twin, same moment</a:t>
            </a:r>
            <a:endParaRPr lang="en-US" sz="1400" dirty="0"/>
          </a:p>
        </p:txBody>
      </p:sp>
      <p:sp>
        <p:nvSpPr>
          <p:cNvPr id="11" name="dc 2 meaning"/>
          <p:cNvSpPr txBox="1"/>
          <p:nvPr/>
        </p:nvSpPr>
        <p:spPr>
          <a:xfrm>
            <a:off x="777240" y="3685032"/>
            <a:ext cx="6400800" cy="384048"/>
          </a:xfrm>
          <a:prstGeom prst="rect">
            <a:avLst/>
          </a:prstGeom>
          <a:noFill/>
          <a:ln/>
        </p:spPr>
        <p:txBody>
          <a:bodyPr wrap="square" lIns="0" tIns="0" rIns="0" bIns="0" rtlCol="0" anchor="t"/>
          <a:lstStyle/>
          <a:p>
            <a:pPr marL="0" indent="0">
              <a:buNone/>
            </a:pPr>
            <a:r>
              <a:rPr lang="en-US" sz="1350" dirty="0">
                <a:solidFill>
                  <a:srgbClr val="F5F7FA"/>
                </a:solidFill>
              </a:rPr>
              <a:t>change the plan (a smaller portion, a walk) and replay the twin from right now</a:t>
            </a:r>
            <a:endParaRPr lang="en-US" sz="1350" dirty="0"/>
          </a:p>
        </p:txBody>
      </p:sp>
      <p:sp>
        <p:nvSpPr>
          <p:cNvPr id="12" name="dc 3"/>
          <p:cNvSpPr/>
          <p:nvPr/>
        </p:nvSpPr>
        <p:spPr>
          <a:xfrm>
            <a:off x="548640" y="4297680"/>
            <a:ext cx="6858000" cy="1298448"/>
          </a:xfrm>
          <a:prstGeom prst="roundRect">
            <a:avLst>
              <a:gd name="adj" fmla="val 7042"/>
            </a:avLst>
          </a:prstGeom>
          <a:solidFill>
            <a:srgbClr val="141820"/>
          </a:solidFill>
          <a:ln w="9525">
            <a:solidFill>
              <a:srgbClr val="C792EA"/>
            </a:solidFill>
            <a:prstDash val="solid"/>
          </a:ln>
        </p:spPr>
      </p:sp>
      <p:sp>
        <p:nvSpPr>
          <p:cNvPr id="13" name="dc 3 head"/>
          <p:cNvSpPr txBox="1"/>
          <p:nvPr/>
        </p:nvSpPr>
        <p:spPr>
          <a:xfrm>
            <a:off x="777240" y="4389120"/>
            <a:ext cx="1828800" cy="365760"/>
          </a:xfrm>
          <a:prstGeom prst="rect">
            <a:avLst/>
          </a:prstGeom>
          <a:noFill/>
          <a:ln/>
        </p:spPr>
        <p:txBody>
          <a:bodyPr wrap="square" lIns="0" tIns="0" rIns="0" bIns="0" rtlCol="0" anchor="t"/>
          <a:lstStyle/>
          <a:p>
            <a:pPr marL="0" indent="0">
              <a:buNone/>
            </a:pPr>
            <a:r>
              <a:rPr lang="en-US" sz="1800" b="1" dirty="0">
                <a:solidFill>
                  <a:srgbClr val="C792EA"/>
                </a:solidFill>
              </a:rPr>
              <a:t>Suggestion</a:t>
            </a:r>
            <a:endParaRPr lang="en-US" sz="1800" dirty="0"/>
          </a:p>
        </p:txBody>
      </p:sp>
      <p:sp>
        <p:nvSpPr>
          <p:cNvPr id="14" name="equation"/>
          <p:cNvSpPr txBox="1"/>
          <p:nvPr/>
        </p:nvSpPr>
        <p:spPr>
          <a:xfrm>
            <a:off x="777240" y="4736592"/>
            <a:ext cx="6400800" cy="411480"/>
          </a:xfrm>
          <a:prstGeom prst="rect">
            <a:avLst/>
          </a:prstGeom>
          <a:noFill/>
          <a:ln/>
        </p:spPr>
        <p:txBody>
          <a:bodyPr wrap="square" lIns="0" tIns="0" rIns="0" bIns="0" rtlCol="0" anchor="ctr"/>
          <a:lstStyle/>
          <a:p>
            <a:pPr marL="0" indent="0">
              <a:buNone/>
            </a:pPr>
            <a:r>
              <a:rPr lang="en-US" sz="1650" dirty="0">
                <a:solidFill>
                  <a:srgbClr val="FFFFFF"/>
                </a:solidFill>
                <a:latin typeface="Cambria Math" pitchFamily="34" charset="0"/>
                <a:ea typeface="Cambria Math" pitchFamily="34" charset="-122"/>
                <a:cs typeface="Cambria Math" pitchFamily="34" charset="-120"/>
              </a:rPr>
              <a:t>a* = argmin effort( a )  s.t.  P( spike | a ) &lt; 0.30</a:t>
            </a:r>
            <a:endParaRPr lang="en-US" sz="1400" dirty="0"/>
          </a:p>
        </p:txBody>
      </p:sp>
      <p:sp>
        <p:nvSpPr>
          <p:cNvPr id="15" name="dc 3 meaning"/>
          <p:cNvSpPr txBox="1"/>
          <p:nvPr/>
        </p:nvSpPr>
        <p:spPr>
          <a:xfrm>
            <a:off x="777240" y="5148072"/>
            <a:ext cx="6400800" cy="384048"/>
          </a:xfrm>
          <a:prstGeom prst="rect">
            <a:avLst/>
          </a:prstGeom>
          <a:noFill/>
          <a:ln/>
        </p:spPr>
        <p:txBody>
          <a:bodyPr wrap="square" lIns="0" tIns="0" rIns="0" bIns="0" rtlCol="0" anchor="t"/>
          <a:lstStyle/>
          <a:p>
            <a:pPr marL="0" indent="0">
              <a:buNone/>
            </a:pPr>
            <a:r>
              <a:rPr lang="en-US" sz="1350" dirty="0">
                <a:solidFill>
                  <a:srgbClr val="F5F7FA"/>
                </a:solidFill>
              </a:rPr>
              <a:t>8 easy changes (portion × walk); pick the easiest that keeps the risk under 30%</a:t>
            </a:r>
            <a:endParaRPr lang="en-US" sz="1350" dirty="0"/>
          </a:p>
        </p:txBody>
      </p:sp>
      <p:pic>
        <p:nvPicPr>
          <p:cNvPr id="16" name="walk photo" descr="C:\Users\tharu\AppData\Local\Temp\claude\D--Mechanical-Engineering-Hackathons-Digital-Twin\df663d0f-c1be-4cb9-9e41-502d36bbd372\scratchpad\deck/walk_park.jpg"/>
          <p:cNvPicPr>
            <a:picLocks noChangeAspect="1"/>
          </p:cNvPicPr>
          <p:nvPr/>
        </p:nvPicPr>
        <p:blipFill>
          <a:blip r:embed="rId3"/>
          <a:srcRect/>
          <a:stretch/>
        </p:blipFill>
        <p:spPr>
          <a:xfrm>
            <a:off x="7726680" y="1371600"/>
            <a:ext cx="3886200" cy="4224528"/>
          </a:xfrm>
          <a:prstGeom prst="rect">
            <a:avLst/>
          </a:prstGeom>
        </p:spPr>
      </p:pic>
      <p:sp>
        <p:nvSpPr>
          <p:cNvPr id="17" name="walk caption"/>
          <p:cNvSpPr txBox="1"/>
          <p:nvPr/>
        </p:nvSpPr>
        <p:spPr>
          <a:xfrm>
            <a:off x="7726680" y="5623560"/>
            <a:ext cx="3886200" cy="320040"/>
          </a:xfrm>
          <a:prstGeom prst="rect">
            <a:avLst/>
          </a:prstGeom>
          <a:noFill/>
          <a:ln/>
        </p:spPr>
        <p:txBody>
          <a:bodyPr wrap="square" lIns="0" tIns="0" rIns="0" bIns="0" rtlCol="0" anchor="t"/>
          <a:lstStyle/>
          <a:p>
            <a:pPr marL="0" indent="0">
              <a:buNone/>
            </a:pPr>
            <a:r>
              <a:rPr lang="en-US" sz="1100" dirty="0">
                <a:solidFill>
                  <a:srgbClr val="B7C0CC"/>
                </a:solidFill>
              </a:rPr>
              <a:t>A 15-minute walk after lunch is one of the eight options the twin tries</a:t>
            </a:r>
            <a:endParaRPr lang="en-US" sz="1100" dirty="0"/>
          </a:p>
        </p:txBody>
      </p:sp>
      <p:sp>
        <p:nvSpPr>
          <p:cNvPr id="18" name="source"/>
          <p:cNvSpPr txBox="1"/>
          <p:nvPr/>
        </p:nvSpPr>
        <p:spPr>
          <a:xfrm>
            <a:off x="548640" y="5943600"/>
            <a:ext cx="6949440" cy="384048"/>
          </a:xfrm>
          <a:prstGeom prst="rect">
            <a:avLst/>
          </a:prstGeom>
          <a:noFill/>
          <a:ln/>
        </p:spPr>
        <p:txBody>
          <a:bodyPr wrap="square" lIns="0" tIns="0" rIns="0" bIns="0" rtlCol="0" anchor="b"/>
          <a:lstStyle/>
          <a:p>
            <a:pPr marL="0" indent="0">
              <a:buNone/>
            </a:pPr>
            <a:r>
              <a:rPr lang="en-US" sz="1000" dirty="0">
                <a:solidFill>
                  <a:srgbClr val="7D8794"/>
                </a:solidFill>
              </a:rPr>
              <a:t>Portion 100, 75 or 50% × walk 0, 15 or 30 min. Lifestyle options only, never medication. Photo: a park walk, Ravi Kumar (CC BY 3.0), Wikimedia Commons</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Twelve forecasters, the same test</a:t>
            </a:r>
            <a:endParaRPr lang="en-US" sz="3400" dirty="0"/>
          </a:p>
        </p:txBody>
      </p:sp>
      <p:graphicFrame>
        <p:nvGraphicFramePr>
          <p:cNvPr id="15" name="tournament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520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Forecaster</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Kind</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American (home)</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Shanghai (abroad)</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Indian (simulated)</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extLst>
                  <a:ext uri="{0D108BD9-81ED-4DB2-BD59-A6C34878D82A}">
                    <a16:rowId xmlns:a16="http://schemas.microsoft.com/office/drawing/2014/main" val="10000"/>
                  </a:ext>
                </a:extLst>
              </a:tr>
              <a:tr h="3520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Repeat last reading</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baseline</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30.1</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29.4</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31.5</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1"/>
                  </a:ext>
                </a:extLst>
              </a:tr>
              <a:tr h="3520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LightGBM</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gradient-boosted trees</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25.0</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28.4</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15.7</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2"/>
                  </a:ext>
                </a:extLst>
              </a:tr>
              <a:tr h="3520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GRU</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recurrent network</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25.1</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43.2</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3"/>
                  </a:ext>
                </a:extLst>
              </a:tr>
              <a:tr h="3520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LSTM</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recurrent network</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25.3</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40.0</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4"/>
                  </a:ext>
                </a:extLst>
              </a:tr>
              <a:tr h="3520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Patch transformer</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transformer (PatchTST-style)</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24.7</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34.1</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5"/>
                  </a:ext>
                </a:extLst>
              </a:tr>
              <a:tr h="3520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TS2Vec</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contrastive encoder + ridge</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25.9</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26.8</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21.0</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6"/>
                  </a:ext>
                </a:extLst>
              </a:tr>
              <a:tr h="3520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MOMENT</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foundation model, head trained</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26.8</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29.2</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18.6</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7"/>
                  </a:ext>
                </a:extLst>
              </a:tr>
              <a:tr h="3520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Chronos-2, zero-shot</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foundation model</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26.9</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26.6</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8"/>
                  </a:ext>
                </a:extLst>
              </a:tr>
              <a:tr h="3520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Chronos-2, fine-tuned</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foundation model, fine-tuned</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24.4</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24.2</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17.6</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9"/>
                  </a:ext>
                </a:extLst>
              </a:tr>
              <a:tr h="3520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Physics twin</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our physiology + filter</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26.6</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25.5</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20.4</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10"/>
                  </a:ext>
                </a:extLst>
              </a:tr>
              <a:tr h="3520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Hybrid twin</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physics + capped LightGBM</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24.9</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26.4</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15.3</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0284A"/>
                    </a:solidFill>
                  </a:tcPr>
                </a:tc>
                <a:extLst>
                  <a:ext uri="{0D108BD9-81ED-4DB2-BD59-A6C34878D82A}">
                    <a16:rowId xmlns:a16="http://schemas.microsoft.com/office/drawing/2014/main" val="10011"/>
                  </a:ext>
                </a:extLst>
              </a:tr>
              <a:tr h="3520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Hybrid twin + Chronos-2 (ours)</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028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equal average</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028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23.6</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028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24.0</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0284A"/>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15.5</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12"/>
                  </a:ext>
                </a:extLst>
              </a:tr>
            </a:tbl>
          </a:graphicData>
        </a:graphic>
      </p:graphicFrame>
      <p:sp>
        <p:nvSpPr>
          <p:cNvPr id="5"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7D8794"/>
                </a:solidFill>
              </a:rPr>
              <a:t>Error 60 minutes ahead (RMSE, mg/dL; lower is better), same patients and moments for every model. [19, 26, 25, 24, 23, 20] 95% intervals: results/RESULTS.md, results/ROUND2.md.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Why the twin plus Chronos-2 wins</a:t>
            </a:r>
            <a:endParaRPr lang="en-US" sz="3400" dirty="0"/>
          </a:p>
        </p:txBody>
      </p:sp>
      <p:sp>
        <p:nvSpPr>
          <p:cNvPr id="4" name="formula card"/>
          <p:cNvSpPr/>
          <p:nvPr/>
        </p:nvSpPr>
        <p:spPr>
          <a:xfrm>
            <a:off x="548640" y="1325880"/>
            <a:ext cx="5760720" cy="1417320"/>
          </a:xfrm>
          <a:prstGeom prst="roundRect">
            <a:avLst>
              <a:gd name="adj" fmla="val 6452"/>
            </a:avLst>
          </a:prstGeom>
          <a:solidFill>
            <a:srgbClr val="10284A"/>
          </a:solidFill>
          <a:ln w="9525">
            <a:solidFill>
              <a:srgbClr val="3D8BFF"/>
            </a:solidFill>
            <a:prstDash val="solid"/>
          </a:ln>
        </p:spPr>
        <p:txBody>
          <a:bodyPr/>
          <a:lstStyle/>
          <a:p>
            <a:endParaRPr/>
          </a:p>
        </p:txBody>
      </p:sp>
      <p:sp>
        <p:nvSpPr>
          <p:cNvPr id="5" name="equation"/>
          <p:cNvSpPr txBox="1"/>
          <p:nvPr/>
        </p:nvSpPr>
        <p:spPr>
          <a:xfrm>
            <a:off x="777240" y="1371600"/>
            <a:ext cx="5394960" cy="640080"/>
          </a:xfrm>
          <a:prstGeom prst="rect">
            <a:avLst/>
          </a:prstGeom>
          <a:noFill/>
          <a:ln/>
        </p:spPr>
        <p:txBody>
          <a:bodyPr wrap="square" lIns="0" tIns="0" rIns="0" bIns="0" rtlCol="0" anchor="ctr"/>
          <a:lstStyle/>
          <a:p>
            <a:pPr marL="0" indent="0">
              <a:buNone/>
            </a:pPr>
            <a:r>
              <a:rPr lang="en-US" sz="2100" dirty="0">
                <a:solidFill>
                  <a:srgbClr val="FFFFFF"/>
                </a:solidFill>
                <a:latin typeface="Cambria Math" pitchFamily="34" charset="0"/>
                <a:ea typeface="Cambria Math" pitchFamily="34" charset="-122"/>
                <a:cs typeface="Cambria Math" pitchFamily="34" charset="-120"/>
              </a:rPr>
              <a:t>RMSE</a:t>
            </a:r>
            <a:r>
              <a:rPr lang="en-US" sz="2100" baseline="30000" dirty="0">
                <a:solidFill>
                  <a:srgbClr val="FFFFFF"/>
                </a:solidFill>
                <a:latin typeface="Cambria Math" pitchFamily="34" charset="0"/>
                <a:ea typeface="Cambria Math" pitchFamily="34" charset="-122"/>
                <a:cs typeface="Cambria Math" pitchFamily="34" charset="-120"/>
              </a:rPr>
              <a:t>2</a:t>
            </a:r>
            <a:r>
              <a:rPr lang="en-US" sz="2100" baseline="-40000" dirty="0">
                <a:solidFill>
                  <a:srgbClr val="FFFFFF"/>
                </a:solidFill>
                <a:latin typeface="Cambria Math" pitchFamily="34" charset="0"/>
                <a:ea typeface="Cambria Math" pitchFamily="34" charset="-122"/>
                <a:cs typeface="Cambria Math" pitchFamily="34" charset="-120"/>
              </a:rPr>
              <a:t>avg</a:t>
            </a:r>
            <a:r>
              <a:rPr lang="en-US" sz="2100" dirty="0">
                <a:solidFill>
                  <a:srgbClr val="FFFFFF"/>
                </a:solidFill>
                <a:latin typeface="Cambria Math" pitchFamily="34" charset="0"/>
                <a:ea typeface="Cambria Math" pitchFamily="34" charset="-122"/>
                <a:cs typeface="Cambria Math" pitchFamily="34" charset="-120"/>
              </a:rPr>
              <a:t> = ¼ ( σ</a:t>
            </a:r>
            <a:r>
              <a:rPr lang="en-US" sz="2100" baseline="-40000" dirty="0">
                <a:solidFill>
                  <a:srgbClr val="FFFFFF"/>
                </a:solidFill>
                <a:latin typeface="Cambria Math" pitchFamily="34" charset="0"/>
                <a:ea typeface="Cambria Math" pitchFamily="34" charset="-122"/>
                <a:cs typeface="Cambria Math" pitchFamily="34" charset="-120"/>
              </a:rPr>
              <a:t>1</a:t>
            </a:r>
            <a:r>
              <a:rPr lang="en-US" sz="2100" baseline="30000" dirty="0">
                <a:solidFill>
                  <a:srgbClr val="FFFFFF"/>
                </a:solidFill>
                <a:latin typeface="Cambria Math" pitchFamily="34" charset="0"/>
                <a:ea typeface="Cambria Math" pitchFamily="34" charset="-122"/>
                <a:cs typeface="Cambria Math" pitchFamily="34" charset="-120"/>
              </a:rPr>
              <a:t>2</a:t>
            </a:r>
            <a:r>
              <a:rPr lang="en-US" sz="2100" dirty="0">
                <a:solidFill>
                  <a:srgbClr val="FFFFFF"/>
                </a:solidFill>
                <a:latin typeface="Cambria Math" pitchFamily="34" charset="0"/>
                <a:ea typeface="Cambria Math" pitchFamily="34" charset="-122"/>
                <a:cs typeface="Cambria Math" pitchFamily="34" charset="-120"/>
              </a:rPr>
              <a:t> + σ</a:t>
            </a:r>
            <a:r>
              <a:rPr lang="en-US" sz="2100" baseline="-40000" dirty="0">
                <a:solidFill>
                  <a:srgbClr val="FFFFFF"/>
                </a:solidFill>
                <a:latin typeface="Cambria Math" pitchFamily="34" charset="0"/>
                <a:ea typeface="Cambria Math" pitchFamily="34" charset="-122"/>
                <a:cs typeface="Cambria Math" pitchFamily="34" charset="-120"/>
              </a:rPr>
              <a:t>2</a:t>
            </a:r>
            <a:r>
              <a:rPr lang="en-US" sz="2100" baseline="30000" dirty="0">
                <a:solidFill>
                  <a:srgbClr val="FFFFFF"/>
                </a:solidFill>
                <a:latin typeface="Cambria Math" pitchFamily="34" charset="0"/>
                <a:ea typeface="Cambria Math" pitchFamily="34" charset="-122"/>
                <a:cs typeface="Cambria Math" pitchFamily="34" charset="-120"/>
              </a:rPr>
              <a:t>2</a:t>
            </a:r>
            <a:r>
              <a:rPr lang="en-US" sz="2100" dirty="0">
                <a:solidFill>
                  <a:srgbClr val="FFFFFF"/>
                </a:solidFill>
                <a:latin typeface="Cambria Math" pitchFamily="34" charset="0"/>
                <a:ea typeface="Cambria Math" pitchFamily="34" charset="-122"/>
                <a:cs typeface="Cambria Math" pitchFamily="34" charset="-120"/>
              </a:rPr>
              <a:t> + 2 ρ σ</a:t>
            </a:r>
            <a:r>
              <a:rPr lang="en-US" sz="2100" baseline="-40000" dirty="0">
                <a:solidFill>
                  <a:srgbClr val="FFFFFF"/>
                </a:solidFill>
                <a:latin typeface="Cambria Math" pitchFamily="34" charset="0"/>
                <a:ea typeface="Cambria Math" pitchFamily="34" charset="-122"/>
                <a:cs typeface="Cambria Math" pitchFamily="34" charset="-120"/>
              </a:rPr>
              <a:t>1</a:t>
            </a:r>
            <a:r>
              <a:rPr lang="en-US" sz="2100" dirty="0">
                <a:solidFill>
                  <a:srgbClr val="FFFFFF"/>
                </a:solidFill>
                <a:latin typeface="Cambria Math" pitchFamily="34" charset="0"/>
                <a:ea typeface="Cambria Math" pitchFamily="34" charset="-122"/>
                <a:cs typeface="Cambria Math" pitchFamily="34" charset="-120"/>
              </a:rPr>
              <a:t> σ</a:t>
            </a:r>
            <a:r>
              <a:rPr lang="en-US" sz="2100" baseline="-40000" dirty="0">
                <a:solidFill>
                  <a:srgbClr val="FFFFFF"/>
                </a:solidFill>
                <a:latin typeface="Cambria Math" pitchFamily="34" charset="0"/>
                <a:ea typeface="Cambria Math" pitchFamily="34" charset="-122"/>
                <a:cs typeface="Cambria Math" pitchFamily="34" charset="-120"/>
              </a:rPr>
              <a:t>2</a:t>
            </a:r>
            <a:r>
              <a:rPr lang="en-US" sz="2100" dirty="0">
                <a:solidFill>
                  <a:srgbClr val="FFFFFF"/>
                </a:solidFill>
                <a:latin typeface="Cambria Math" pitchFamily="34" charset="0"/>
                <a:ea typeface="Cambria Math" pitchFamily="34" charset="-122"/>
                <a:cs typeface="Cambria Math" pitchFamily="34" charset="-120"/>
              </a:rPr>
              <a:t> )</a:t>
            </a:r>
            <a:endParaRPr lang="en-US" sz="1400" dirty="0"/>
          </a:p>
        </p:txBody>
      </p:sp>
      <p:sp>
        <p:nvSpPr>
          <p:cNvPr id="6" name="equation"/>
          <p:cNvSpPr txBox="1"/>
          <p:nvPr/>
        </p:nvSpPr>
        <p:spPr>
          <a:xfrm>
            <a:off x="777240" y="2011680"/>
            <a:ext cx="5394960" cy="548640"/>
          </a:xfrm>
          <a:prstGeom prst="rect">
            <a:avLst/>
          </a:prstGeom>
          <a:noFill/>
          <a:ln/>
        </p:spPr>
        <p:txBody>
          <a:bodyPr wrap="square" lIns="0" tIns="0" rIns="0" bIns="0" rtlCol="0" anchor="ctr"/>
          <a:lstStyle/>
          <a:p>
            <a:pPr marL="0" indent="0">
              <a:buNone/>
            </a:pPr>
            <a:r>
              <a:rPr lang="en-US" sz="1500" dirty="0">
                <a:solidFill>
                  <a:srgbClr val="B7C0CC"/>
                </a:solidFill>
                <a:latin typeface="Cambria Math" pitchFamily="34" charset="0"/>
                <a:ea typeface="Cambria Math" pitchFamily="34" charset="-122"/>
                <a:cs typeface="Cambria Math" pitchFamily="34" charset="-120"/>
              </a:rPr>
              <a:t>√( ¼ ( 24.9</a:t>
            </a:r>
            <a:r>
              <a:rPr lang="en-US" sz="1500" baseline="30000" dirty="0">
                <a:solidFill>
                  <a:srgbClr val="B7C0CC"/>
                </a:solidFill>
                <a:latin typeface="Cambria Math" pitchFamily="34" charset="0"/>
                <a:ea typeface="Cambria Math" pitchFamily="34" charset="-122"/>
                <a:cs typeface="Cambria Math" pitchFamily="34" charset="-120"/>
              </a:rPr>
              <a:t>2</a:t>
            </a:r>
            <a:r>
              <a:rPr lang="en-US" sz="1500" dirty="0">
                <a:solidFill>
                  <a:srgbClr val="B7C0CC"/>
                </a:solidFill>
                <a:latin typeface="Cambria Math" pitchFamily="34" charset="0"/>
                <a:ea typeface="Cambria Math" pitchFamily="34" charset="-122"/>
                <a:cs typeface="Cambria Math" pitchFamily="34" charset="-120"/>
              </a:rPr>
              <a:t> + 24.4</a:t>
            </a:r>
            <a:r>
              <a:rPr lang="en-US" sz="1500" baseline="30000" dirty="0">
                <a:solidFill>
                  <a:srgbClr val="B7C0CC"/>
                </a:solidFill>
                <a:latin typeface="Cambria Math" pitchFamily="34" charset="0"/>
                <a:ea typeface="Cambria Math" pitchFamily="34" charset="-122"/>
                <a:cs typeface="Cambria Math" pitchFamily="34" charset="-120"/>
              </a:rPr>
              <a:t>2</a:t>
            </a:r>
            <a:r>
              <a:rPr lang="en-US" sz="1500" dirty="0">
                <a:solidFill>
                  <a:srgbClr val="B7C0CC"/>
                </a:solidFill>
                <a:latin typeface="Cambria Math" pitchFamily="34" charset="0"/>
                <a:ea typeface="Cambria Math" pitchFamily="34" charset="-122"/>
                <a:cs typeface="Cambria Math" pitchFamily="34" charset="-120"/>
              </a:rPr>
              <a:t> + 2 · 0.84 · 24.9 · 24.4 ) ) = 23.6</a:t>
            </a:r>
            <a:endParaRPr lang="en-US" sz="1400" dirty="0"/>
          </a:p>
        </p:txBody>
      </p:sp>
      <p:sp>
        <p:nvSpPr>
          <p:cNvPr id="7" name="in words"/>
          <p:cNvSpPr txBox="1"/>
          <p:nvPr/>
        </p:nvSpPr>
        <p:spPr>
          <a:xfrm>
            <a:off x="548640" y="2834640"/>
            <a:ext cx="5760720" cy="594360"/>
          </a:xfrm>
          <a:prstGeom prst="rect">
            <a:avLst/>
          </a:prstGeom>
          <a:noFill/>
          <a:ln/>
        </p:spPr>
        <p:txBody>
          <a:bodyPr wrap="square" lIns="0" tIns="0" rIns="0" bIns="0" rtlCol="0" anchor="ctr"/>
          <a:lstStyle/>
          <a:p>
            <a:pPr marL="0" indent="0">
              <a:buNone/>
            </a:pPr>
            <a:r>
              <a:rPr lang="en-US" sz="1500" b="1" dirty="0">
                <a:solidFill>
                  <a:srgbClr val="2ECC8F"/>
                </a:solidFill>
              </a:rPr>
              <a:t>In words: an average is good when both are good (small σ) and wrong in different ways (small ρ)</a:t>
            </a:r>
            <a:endParaRPr lang="en-US" sz="1500" dirty="0"/>
          </a:p>
        </p:txBody>
      </p:sp>
      <p:graphicFrame>
        <p:nvGraphicFramePr>
          <p:cNvPr id="8" name="partner chart"/>
          <p:cNvGraphicFramePr/>
          <p:nvPr/>
        </p:nvGraphicFramePr>
        <p:xfrm>
          <a:off x="548640" y="3474720"/>
          <a:ext cx="576072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9" name="why 1"/>
          <p:cNvSpPr/>
          <p:nvPr/>
        </p:nvSpPr>
        <p:spPr>
          <a:xfrm>
            <a:off x="6583680" y="1325880"/>
            <a:ext cx="5029200" cy="1389888"/>
          </a:xfrm>
          <a:prstGeom prst="roundRect">
            <a:avLst>
              <a:gd name="adj" fmla="val 6579"/>
            </a:avLst>
          </a:prstGeom>
          <a:solidFill>
            <a:srgbClr val="141820"/>
          </a:solidFill>
          <a:ln w="9525">
            <a:solidFill>
              <a:srgbClr val="283040"/>
            </a:solidFill>
            <a:prstDash val="solid"/>
          </a:ln>
        </p:spPr>
        <p:txBody>
          <a:bodyPr/>
          <a:lstStyle/>
          <a:p>
            <a:endParaRPr/>
          </a:p>
        </p:txBody>
      </p:sp>
      <p:sp>
        <p:nvSpPr>
          <p:cNvPr id="10" name="why 1 text"/>
          <p:cNvSpPr txBox="1"/>
          <p:nvPr/>
        </p:nvSpPr>
        <p:spPr>
          <a:xfrm>
            <a:off x="6812280" y="1399032"/>
            <a:ext cx="4663440" cy="1261872"/>
          </a:xfrm>
          <a:prstGeom prst="rect">
            <a:avLst/>
          </a:prstGeom>
          <a:noFill/>
          <a:ln/>
        </p:spPr>
        <p:txBody>
          <a:bodyPr wrap="square" lIns="0" tIns="0" rIns="0" bIns="0" rtlCol="0" anchor="ctr"/>
          <a:lstStyle/>
          <a:p>
            <a:pPr marL="0" indent="0">
              <a:buNone/>
            </a:pPr>
            <a:r>
              <a:rPr lang="en-US" sz="1600" b="1" dirty="0">
                <a:solidFill>
                  <a:srgbClr val="2ECC8F"/>
                </a:solidFill>
              </a:rPr>
              <a:t>Accurate, and wrong differently</a:t>
            </a:r>
            <a:endParaRPr lang="en-US" sz="1400" dirty="0"/>
          </a:p>
          <a:p>
            <a:pPr marL="0" indent="0">
              <a:buNone/>
            </a:pPr>
            <a:r>
              <a:rPr lang="en-US" sz="1350" dirty="0">
                <a:solidFill>
                  <a:srgbClr val="B7C0CC"/>
                </a:solidFill>
              </a:rPr>
              <a:t>both are accurate, and their errors only partly line up (ρ = 0.84), so averaging cancels part of each</a:t>
            </a:r>
            <a:endParaRPr lang="en-US" sz="1400" dirty="0"/>
          </a:p>
        </p:txBody>
      </p:sp>
      <p:sp>
        <p:nvSpPr>
          <p:cNvPr id="11" name="why 2"/>
          <p:cNvSpPr/>
          <p:nvPr/>
        </p:nvSpPr>
        <p:spPr>
          <a:xfrm>
            <a:off x="6583680" y="2862072"/>
            <a:ext cx="5029200" cy="1389888"/>
          </a:xfrm>
          <a:prstGeom prst="roundRect">
            <a:avLst>
              <a:gd name="adj" fmla="val 6579"/>
            </a:avLst>
          </a:prstGeom>
          <a:solidFill>
            <a:srgbClr val="141820"/>
          </a:solidFill>
          <a:ln w="9525">
            <a:solidFill>
              <a:srgbClr val="283040"/>
            </a:solidFill>
            <a:prstDash val="solid"/>
          </a:ln>
        </p:spPr>
        <p:txBody>
          <a:bodyPr/>
          <a:lstStyle/>
          <a:p>
            <a:endParaRPr/>
          </a:p>
        </p:txBody>
      </p:sp>
      <p:sp>
        <p:nvSpPr>
          <p:cNvPr id="12" name="why 2 text"/>
          <p:cNvSpPr txBox="1"/>
          <p:nvPr/>
        </p:nvSpPr>
        <p:spPr>
          <a:xfrm>
            <a:off x="6812280" y="2935224"/>
            <a:ext cx="4663440" cy="1261872"/>
          </a:xfrm>
          <a:prstGeom prst="rect">
            <a:avLst/>
          </a:prstGeom>
          <a:noFill/>
          <a:ln/>
        </p:spPr>
        <p:txBody>
          <a:bodyPr wrap="square" lIns="0" tIns="0" rIns="0" bIns="0" rtlCol="0" anchor="ctr"/>
          <a:lstStyle/>
          <a:p>
            <a:pPr marL="0" indent="0">
              <a:buNone/>
            </a:pPr>
            <a:r>
              <a:rPr lang="en-US" sz="1600" b="1" dirty="0">
                <a:solidFill>
                  <a:srgbClr val="F5A623"/>
                </a:solidFill>
              </a:rPr>
              <a:t>Abroad, the errors cancel</a:t>
            </a:r>
            <a:endParaRPr lang="en-US" sz="1400" dirty="0"/>
          </a:p>
          <a:p>
            <a:pPr marL="0" indent="0">
              <a:buNone/>
            </a:pPr>
            <a:r>
              <a:rPr lang="en-US" sz="1350" dirty="0">
                <a:solidFill>
                  <a:srgbClr val="B7C0CC"/>
                </a:solidFill>
              </a:rPr>
              <a:t>the twin guesses 5.4 too high, Chronos-2 3.4 too low: averaged, 24.0</a:t>
            </a:r>
            <a:endParaRPr lang="en-US" sz="1400" dirty="0"/>
          </a:p>
        </p:txBody>
      </p:sp>
      <p:sp>
        <p:nvSpPr>
          <p:cNvPr id="13" name="why 3"/>
          <p:cNvSpPr/>
          <p:nvPr/>
        </p:nvSpPr>
        <p:spPr>
          <a:xfrm>
            <a:off x="6583680" y="4398264"/>
            <a:ext cx="5029200" cy="1389888"/>
          </a:xfrm>
          <a:prstGeom prst="roundRect">
            <a:avLst>
              <a:gd name="adj" fmla="val 6579"/>
            </a:avLst>
          </a:prstGeom>
          <a:solidFill>
            <a:srgbClr val="141820"/>
          </a:solidFill>
          <a:ln w="9525">
            <a:solidFill>
              <a:srgbClr val="283040"/>
            </a:solidFill>
            <a:prstDash val="solid"/>
          </a:ln>
        </p:spPr>
        <p:txBody>
          <a:bodyPr/>
          <a:lstStyle/>
          <a:p>
            <a:endParaRPr/>
          </a:p>
        </p:txBody>
      </p:sp>
      <p:sp>
        <p:nvSpPr>
          <p:cNvPr id="14" name="why 3 text"/>
          <p:cNvSpPr txBox="1"/>
          <p:nvPr/>
        </p:nvSpPr>
        <p:spPr>
          <a:xfrm>
            <a:off x="6812280" y="4471416"/>
            <a:ext cx="4663440" cy="1261872"/>
          </a:xfrm>
          <a:prstGeom prst="rect">
            <a:avLst/>
          </a:prstGeom>
          <a:noFill/>
          <a:ln/>
        </p:spPr>
        <p:txBody>
          <a:bodyPr wrap="square" lIns="0" tIns="0" rIns="0" bIns="0" rtlCol="0" anchor="ctr"/>
          <a:lstStyle/>
          <a:p>
            <a:pPr marL="0" indent="0">
              <a:buNone/>
            </a:pPr>
            <a:r>
              <a:rPr lang="en-US" sz="1600" b="1" dirty="0">
                <a:solidFill>
                  <a:srgbClr val="3D8BFF"/>
                </a:solidFill>
              </a:rPr>
              <a:t>Both adapt to a new person</a:t>
            </a:r>
            <a:endParaRPr lang="en-US" sz="1400" dirty="0"/>
          </a:p>
          <a:p>
            <a:pPr marL="0" indent="0">
              <a:buNone/>
            </a:pPr>
            <a:r>
              <a:rPr lang="en-US" sz="1350" dirty="0">
                <a:solidFill>
                  <a:srgbClr val="B7C0CC"/>
                </a:solidFill>
              </a:rPr>
              <a:t>the twin re-tunes its 5 dials at every reading; Chronos-2 re-reads the last 24 hours</a:t>
            </a:r>
            <a:endParaRPr lang="en-US" sz="1400" dirty="0"/>
          </a:p>
        </p:txBody>
      </p:sp>
      <p:sp>
        <p:nvSpPr>
          <p:cNvPr id="15"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7D8794"/>
                </a:solidFill>
              </a:rPr>
              <a:t>σ: each forecast's own error; ρ: how alike the two forecasts' errors are (correlation, 0 to 1), measured on the 41,669 held-out forecasts.</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Why the others lost</a:t>
            </a:r>
            <a:endParaRPr lang="en-US" sz="3400" dirty="0"/>
          </a:p>
        </p:txBody>
      </p:sp>
      <p:graphicFrame>
        <p:nvGraphicFramePr>
          <p:cNvPr id="17" name="why lost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24028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62179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How it works, in plain words</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went wrong</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Evidence, 60 min unless noted</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extLst>
                  <a:ext uri="{0D108BD9-81ED-4DB2-BD59-A6C34878D82A}">
                    <a16:rowId xmlns:a16="http://schemas.microsoft.com/office/drawing/2014/main" val="10000"/>
                  </a:ext>
                </a:extLst>
              </a:tr>
              <a:tr h="62179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LightGBM</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learns one fixed rule from one group of people</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a new group: half on insulin, a slower sensor</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25.0 at home, 28.4 abroad; guesses 6.5 too high</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1"/>
                  </a:ext>
                </a:extLst>
              </a:tr>
              <a:tr h="62179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GRU, LSTM, transformer</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neural networks: one rule for everyone, from a few dozen people</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can't adjust to a new person; never saw insulin</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24.7 to 25.3 at home, 34 to 43 abroad; 13 to 19 too high</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2"/>
                  </a:ext>
                </a:extLst>
              </a:tr>
              <a:tr h="62179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MOMENT</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reads each signal on its own, in a fixed 512-step window</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never sees the meals; most of the window is empty</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30 min: 20.6, the same as repeating the last reading</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3"/>
                  </a:ext>
                </a:extLst>
              </a:tr>
              <a:tr h="62179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TS2Vec</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learns to tell series apart</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built to recognise, not to forecast</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30 min: 18.5, against 17.2 for the hybrid</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4"/>
                  </a:ext>
                </a:extLst>
              </a:tr>
              <a:tr h="62179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Chronos-2, zero-shot</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patterns learned from many other kinds of data</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has never seen how meals move glucose</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26.9, then 24.4 once fine-tuned</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5"/>
                  </a:ext>
                </a:extLst>
              </a:tr>
              <a:tr h="62179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Physics twin alone</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the right shape, simplified</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misses what 5 dials can't describe</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00" dirty="0">
                          <a:solidFill>
                            <a:srgbClr val="B7C0CC"/>
                          </a:solidFill>
                          <a:latin typeface="Calibri" pitchFamily="34" charset="0"/>
                          <a:ea typeface="Calibri" pitchFamily="34" charset="-122"/>
                          <a:cs typeface="Calibri" pitchFamily="34" charset="-120"/>
                        </a:rPr>
                        <a:t>26.6, then 24.9 with the small learned fix</a:t>
                      </a:r>
                      <a:endParaRPr lang="en-US" sz="130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6"/>
                  </a:ext>
                </a:extLst>
              </a:tr>
            </a:tbl>
          </a:graphicData>
        </a:graphic>
      </p:graphicFrame>
      <p:sp>
        <p:nvSpPr>
          <p:cNvPr id="5"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7D8794"/>
                </a:solidFill>
              </a:rPr>
              <a:t>"Too high": the average error is positive, forecasts above what happened. [23, 24, 20]</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Earlier warnings, honest uncertainty</a:t>
            </a:r>
            <a:endParaRPr lang="en-US" sz="3400" dirty="0"/>
          </a:p>
        </p:txBody>
      </p:sp>
      <p:sp>
        <p:nvSpPr>
          <p:cNvPr id="4" name="stat 1"/>
          <p:cNvSpPr/>
          <p:nvPr/>
        </p:nvSpPr>
        <p:spPr>
          <a:xfrm>
            <a:off x="548640" y="1371600"/>
            <a:ext cx="4023360" cy="1325880"/>
          </a:xfrm>
          <a:prstGeom prst="roundRect">
            <a:avLst>
              <a:gd name="adj" fmla="val 6897"/>
            </a:avLst>
          </a:prstGeom>
          <a:solidFill>
            <a:srgbClr val="141820"/>
          </a:solidFill>
          <a:ln w="9525">
            <a:solidFill>
              <a:srgbClr val="283040"/>
            </a:solidFill>
            <a:prstDash val="solid"/>
          </a:ln>
        </p:spPr>
      </p:sp>
      <p:sp>
        <p:nvSpPr>
          <p:cNvPr id="5" name="stat 1 value"/>
          <p:cNvSpPr txBox="1"/>
          <p:nvPr/>
        </p:nvSpPr>
        <p:spPr>
          <a:xfrm>
            <a:off x="777240" y="1481328"/>
            <a:ext cx="3566160" cy="566928"/>
          </a:xfrm>
          <a:prstGeom prst="rect">
            <a:avLst/>
          </a:prstGeom>
          <a:noFill/>
          <a:ln/>
        </p:spPr>
        <p:txBody>
          <a:bodyPr wrap="square" lIns="0" tIns="0" rIns="0" bIns="0" rtlCol="0" anchor="ctr"/>
          <a:lstStyle/>
          <a:p>
            <a:pPr marL="0" indent="0">
              <a:buNone/>
            </a:pPr>
            <a:r>
              <a:rPr lang="en-US" sz="2800" b="1" dirty="0">
                <a:solidFill>
                  <a:srgbClr val="F5A623"/>
                </a:solidFill>
              </a:rPr>
              <a:t>61% vs 52%</a:t>
            </a:r>
            <a:endParaRPr lang="en-US" sz="2800" dirty="0"/>
          </a:p>
        </p:txBody>
      </p:sp>
      <p:sp>
        <p:nvSpPr>
          <p:cNvPr id="6" name="stat 1 label"/>
          <p:cNvSpPr txBox="1"/>
          <p:nvPr/>
        </p:nvSpPr>
        <p:spPr>
          <a:xfrm>
            <a:off x="777240" y="2066544"/>
            <a:ext cx="3566160" cy="566928"/>
          </a:xfrm>
          <a:prstGeom prst="rect">
            <a:avLst/>
          </a:prstGeom>
          <a:noFill/>
          <a:ln/>
        </p:spPr>
        <p:txBody>
          <a:bodyPr wrap="square" lIns="0" tIns="0" rIns="0" bIns="0" rtlCol="0" anchor="t"/>
          <a:lstStyle/>
          <a:p>
            <a:pPr marL="0" indent="0">
              <a:buNone/>
            </a:pPr>
            <a:r>
              <a:rPr lang="en-US" sz="1300" dirty="0">
                <a:solidFill>
                  <a:srgbClr val="B7C0CC"/>
                </a:solidFill>
              </a:rPr>
              <a:t>of 693 real spikes warned of before they began, twin vs standard model, at about one false alarm per patient-day</a:t>
            </a:r>
            <a:endParaRPr lang="en-US" sz="1300" dirty="0"/>
          </a:p>
        </p:txBody>
      </p:sp>
      <p:sp>
        <p:nvSpPr>
          <p:cNvPr id="7" name="stat 2"/>
          <p:cNvSpPr/>
          <p:nvPr/>
        </p:nvSpPr>
        <p:spPr>
          <a:xfrm>
            <a:off x="548640" y="2852928"/>
            <a:ext cx="4023360" cy="1325880"/>
          </a:xfrm>
          <a:prstGeom prst="roundRect">
            <a:avLst>
              <a:gd name="adj" fmla="val 6897"/>
            </a:avLst>
          </a:prstGeom>
          <a:solidFill>
            <a:srgbClr val="141820"/>
          </a:solidFill>
          <a:ln w="9525">
            <a:solidFill>
              <a:srgbClr val="283040"/>
            </a:solidFill>
            <a:prstDash val="solid"/>
          </a:ln>
        </p:spPr>
      </p:sp>
      <p:sp>
        <p:nvSpPr>
          <p:cNvPr id="8" name="stat 2 value"/>
          <p:cNvSpPr txBox="1"/>
          <p:nvPr/>
        </p:nvSpPr>
        <p:spPr>
          <a:xfrm>
            <a:off x="777240" y="2962656"/>
            <a:ext cx="3566160" cy="566928"/>
          </a:xfrm>
          <a:prstGeom prst="rect">
            <a:avLst/>
          </a:prstGeom>
          <a:noFill/>
          <a:ln/>
        </p:spPr>
        <p:txBody>
          <a:bodyPr wrap="square" lIns="0" tIns="0" rIns="0" bIns="0" rtlCol="0" anchor="ctr"/>
          <a:lstStyle/>
          <a:p>
            <a:pPr marL="0" indent="0">
              <a:buNone/>
            </a:pPr>
            <a:r>
              <a:rPr lang="en-US" sz="2800" b="1" dirty="0">
                <a:solidFill>
                  <a:srgbClr val="3D8BFF"/>
                </a:solidFill>
              </a:rPr>
              <a:t>30 min</a:t>
            </a:r>
            <a:endParaRPr lang="en-US" sz="2800" dirty="0"/>
          </a:p>
        </p:txBody>
      </p:sp>
      <p:sp>
        <p:nvSpPr>
          <p:cNvPr id="9" name="stat 2 label"/>
          <p:cNvSpPr txBox="1"/>
          <p:nvPr/>
        </p:nvSpPr>
        <p:spPr>
          <a:xfrm>
            <a:off x="777240" y="3547872"/>
            <a:ext cx="3566160" cy="566928"/>
          </a:xfrm>
          <a:prstGeom prst="rect">
            <a:avLst/>
          </a:prstGeom>
          <a:noFill/>
          <a:ln/>
        </p:spPr>
        <p:txBody>
          <a:bodyPr wrap="square" lIns="0" tIns="0" rIns="0" bIns="0" rtlCol="0" anchor="t"/>
          <a:lstStyle/>
          <a:p>
            <a:pPr marL="0" indent="0">
              <a:buNone/>
            </a:pPr>
            <a:r>
              <a:rPr lang="en-US" sz="1300" dirty="0">
                <a:solidFill>
                  <a:srgbClr val="B7C0CC"/>
                </a:solidFill>
              </a:rPr>
              <a:t>median warning before glucose stays above 180 mg/dL</a:t>
            </a:r>
            <a:endParaRPr lang="en-US" sz="1300" dirty="0"/>
          </a:p>
        </p:txBody>
      </p:sp>
      <p:sp>
        <p:nvSpPr>
          <p:cNvPr id="10" name="stat 3"/>
          <p:cNvSpPr/>
          <p:nvPr/>
        </p:nvSpPr>
        <p:spPr>
          <a:xfrm>
            <a:off x="548640" y="4334256"/>
            <a:ext cx="4023360" cy="1325880"/>
          </a:xfrm>
          <a:prstGeom prst="roundRect">
            <a:avLst>
              <a:gd name="adj" fmla="val 6897"/>
            </a:avLst>
          </a:prstGeom>
          <a:solidFill>
            <a:srgbClr val="141820"/>
          </a:solidFill>
          <a:ln w="9525">
            <a:solidFill>
              <a:srgbClr val="283040"/>
            </a:solidFill>
            <a:prstDash val="solid"/>
          </a:ln>
        </p:spPr>
      </p:sp>
      <p:sp>
        <p:nvSpPr>
          <p:cNvPr id="11" name="stat 3 value"/>
          <p:cNvSpPr txBox="1"/>
          <p:nvPr/>
        </p:nvSpPr>
        <p:spPr>
          <a:xfrm>
            <a:off x="777240" y="4443984"/>
            <a:ext cx="3566160" cy="566928"/>
          </a:xfrm>
          <a:prstGeom prst="rect">
            <a:avLst/>
          </a:prstGeom>
          <a:noFill/>
          <a:ln/>
        </p:spPr>
        <p:txBody>
          <a:bodyPr wrap="square" lIns="0" tIns="0" rIns="0" bIns="0" rtlCol="0" anchor="ctr"/>
          <a:lstStyle/>
          <a:p>
            <a:pPr marL="0" indent="0">
              <a:buNone/>
            </a:pPr>
            <a:r>
              <a:rPr lang="en-US" sz="2800" b="1" dirty="0">
                <a:solidFill>
                  <a:srgbClr val="2ECC8F"/>
                </a:solidFill>
              </a:rPr>
              <a:t>0.45 vs 0.36</a:t>
            </a:r>
            <a:endParaRPr lang="en-US" sz="2800" dirty="0"/>
          </a:p>
        </p:txBody>
      </p:sp>
      <p:sp>
        <p:nvSpPr>
          <p:cNvPr id="12" name="stat 3 label"/>
          <p:cNvSpPr txBox="1"/>
          <p:nvPr/>
        </p:nvSpPr>
        <p:spPr>
          <a:xfrm>
            <a:off x="777240" y="5029200"/>
            <a:ext cx="3566160" cy="566928"/>
          </a:xfrm>
          <a:prstGeom prst="rect">
            <a:avLst/>
          </a:prstGeom>
          <a:noFill/>
          <a:ln/>
        </p:spPr>
        <p:txBody>
          <a:bodyPr wrap="square" lIns="0" tIns="0" rIns="0" bIns="0" rtlCol="0" anchor="t"/>
          <a:lstStyle/>
          <a:p>
            <a:pPr marL="0" indent="0">
              <a:buNone/>
            </a:pPr>
            <a:r>
              <a:rPr lang="en-US" sz="1300" dirty="0">
                <a:solidFill>
                  <a:srgbClr val="B7C0CC"/>
                </a:solidFill>
              </a:rPr>
              <a:t>alert score on the unseen Shanghai cohort (precision-recall area; higher is better)</a:t>
            </a:r>
            <a:endParaRPr lang="en-US" sz="1300" dirty="0"/>
          </a:p>
        </p:txBody>
      </p:sp>
      <p:sp>
        <p:nvSpPr>
          <p:cNvPr id="13" name="calibration figure frame"/>
          <p:cNvSpPr/>
          <p:nvPr/>
        </p:nvSpPr>
        <p:spPr>
          <a:xfrm>
            <a:off x="4956048" y="1389888"/>
            <a:ext cx="6684264" cy="2642616"/>
          </a:xfrm>
          <a:prstGeom prst="rect">
            <a:avLst/>
          </a:prstGeom>
          <a:solidFill>
            <a:srgbClr val="FFFFFF"/>
          </a:solidFill>
          <a:ln w="12700">
            <a:solidFill>
              <a:srgbClr val="FFFFFF"/>
            </a:solidFill>
            <a:prstDash val="solid"/>
          </a:ln>
          <a:effectLst>
            <a:outerShdw blurRad="127000" dist="50800" dir="5400000" algn="bl" rotWithShape="0">
              <a:srgbClr val="000000">
                <a:alpha val="60000"/>
              </a:srgbClr>
            </a:outerShdw>
          </a:effectLst>
        </p:spPr>
      </p:sp>
      <p:pic>
        <p:nvPicPr>
          <p:cNvPr id="14" name="calibration figure" descr="C:\Users\tharu\AppData\Local\Temp\claude\D--Mechanical-Engineering-Hackathons-Digital-Twin\df663d0f-c1be-4cb9-9e41-502d36bbd372\scratchpad\deck/image-11-1.png"/>
          <p:cNvPicPr>
            <a:picLocks noChangeAspect="1"/>
          </p:cNvPicPr>
          <p:nvPr/>
        </p:nvPicPr>
        <p:blipFill>
          <a:blip r:embed="rId3"/>
          <a:stretch>
            <a:fillRect/>
          </a:stretch>
        </p:blipFill>
        <p:spPr>
          <a:xfrm>
            <a:off x="5029200" y="1463040"/>
            <a:ext cx="6537960" cy="2496312"/>
          </a:xfrm>
          <a:prstGeom prst="rect">
            <a:avLst/>
          </a:prstGeom>
        </p:spPr>
      </p:pic>
      <p:sp>
        <p:nvSpPr>
          <p:cNvPr id="15" name="coverage card"/>
          <p:cNvSpPr/>
          <p:nvPr/>
        </p:nvSpPr>
        <p:spPr>
          <a:xfrm>
            <a:off x="4937760" y="4206240"/>
            <a:ext cx="6675120" cy="1463040"/>
          </a:xfrm>
          <a:prstGeom prst="roundRect">
            <a:avLst>
              <a:gd name="adj" fmla="val 6250"/>
            </a:avLst>
          </a:prstGeom>
          <a:solidFill>
            <a:srgbClr val="0F3326"/>
          </a:solidFill>
          <a:ln w="9525">
            <a:solidFill>
              <a:srgbClr val="2ECC8F"/>
            </a:solidFill>
            <a:prstDash val="solid"/>
          </a:ln>
        </p:spPr>
      </p:sp>
      <p:sp>
        <p:nvSpPr>
          <p:cNvPr id="16" name="coverage text"/>
          <p:cNvSpPr txBox="1"/>
          <p:nvPr/>
        </p:nvSpPr>
        <p:spPr>
          <a:xfrm>
            <a:off x="5166360" y="4251960"/>
            <a:ext cx="6309360" cy="1371600"/>
          </a:xfrm>
          <a:prstGeom prst="rect">
            <a:avLst/>
          </a:prstGeom>
          <a:noFill/>
          <a:ln/>
        </p:spPr>
        <p:txBody>
          <a:bodyPr wrap="square" lIns="0" tIns="0" rIns="0" bIns="0" rtlCol="0" anchor="ctr"/>
          <a:lstStyle/>
          <a:p>
            <a:pPr marL="0" indent="0">
              <a:buNone/>
            </a:pPr>
            <a:r>
              <a:rPr lang="en-US" sz="2400" b="1" dirty="0">
                <a:solidFill>
                  <a:srgbClr val="2ECC8F"/>
                </a:solidFill>
              </a:rPr>
              <a:t>89% vs 78%  </a:t>
            </a:r>
            <a:r>
              <a:rPr lang="en-US" sz="1500" dirty="0">
                <a:solidFill>
                  <a:srgbClr val="F5F7FA"/>
                </a:solidFill>
              </a:rPr>
              <a:t>of readings inside the 90% range for the worst patient: adapting per patient vs set once for everyone. Abroad: 88% vs 64%.</a:t>
            </a:r>
            <a:endParaRPr lang="en-US" sz="1400" dirty="0"/>
          </a:p>
        </p:txBody>
      </p:sp>
      <p:sp>
        <p:nvSpPr>
          <p:cNvPr id="17"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7D8794"/>
                </a:solidFill>
              </a:rPr>
              <a:t>Alert threshold fixed on calibration patients, then run unchanged on test patients. Each dot in the right panel is one patient.</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What-ifs and advice, checked</a:t>
            </a:r>
            <a:endParaRPr lang="en-US" sz="3400" dirty="0"/>
          </a:p>
        </p:txBody>
      </p:sp>
      <p:sp>
        <p:nvSpPr>
          <p:cNvPr id="4" name="what-if figure frame"/>
          <p:cNvSpPr/>
          <p:nvPr/>
        </p:nvSpPr>
        <p:spPr>
          <a:xfrm>
            <a:off x="566928" y="1344168"/>
            <a:ext cx="5632704" cy="2241111"/>
          </a:xfrm>
          <a:prstGeom prst="rect">
            <a:avLst/>
          </a:prstGeom>
          <a:solidFill>
            <a:srgbClr val="FFFFFF"/>
          </a:solidFill>
          <a:ln w="12700">
            <a:solidFill>
              <a:srgbClr val="FFFFFF"/>
            </a:solidFill>
            <a:prstDash val="solid"/>
          </a:ln>
          <a:effectLst>
            <a:outerShdw blurRad="127000" dist="50800" dir="5400000" algn="bl" rotWithShape="0">
              <a:srgbClr val="000000">
                <a:alpha val="60000"/>
              </a:srgbClr>
            </a:outerShdw>
          </a:effectLst>
        </p:spPr>
      </p:sp>
      <p:pic>
        <p:nvPicPr>
          <p:cNvPr id="5" name="what-if figure" descr="C:\Users\tharu\AppData\Local\Temp\claude\D--Mechanical-Engineering-Hackathons-Digital-Twin\df663d0f-c1be-4cb9-9e41-502d36bbd372\scratchpad\deck/image-12-1.png"/>
          <p:cNvPicPr>
            <a:picLocks noChangeAspect="1"/>
          </p:cNvPicPr>
          <p:nvPr/>
        </p:nvPicPr>
        <p:blipFill>
          <a:blip r:embed="rId3"/>
          <a:stretch>
            <a:fillRect/>
          </a:stretch>
        </p:blipFill>
        <p:spPr>
          <a:xfrm>
            <a:off x="640080" y="1417320"/>
            <a:ext cx="5486400" cy="2094807"/>
          </a:xfrm>
          <a:prstGeom prst="rect">
            <a:avLst/>
          </a:prstGeom>
        </p:spPr>
      </p:pic>
      <p:sp>
        <p:nvSpPr>
          <p:cNvPr id="6" name="advice figure frame"/>
          <p:cNvSpPr/>
          <p:nvPr/>
        </p:nvSpPr>
        <p:spPr>
          <a:xfrm>
            <a:off x="566928" y="3759015"/>
            <a:ext cx="4946904" cy="2173224"/>
          </a:xfrm>
          <a:prstGeom prst="rect">
            <a:avLst/>
          </a:prstGeom>
          <a:solidFill>
            <a:srgbClr val="FFFFFF"/>
          </a:solidFill>
          <a:ln w="12700">
            <a:solidFill>
              <a:srgbClr val="FFFFFF"/>
            </a:solidFill>
            <a:prstDash val="solid"/>
          </a:ln>
          <a:effectLst>
            <a:outerShdw blurRad="127000" dist="50800" dir="5400000" algn="bl" rotWithShape="0">
              <a:srgbClr val="000000">
                <a:alpha val="60000"/>
              </a:srgbClr>
            </a:outerShdw>
          </a:effectLst>
        </p:spPr>
      </p:sp>
      <p:pic>
        <p:nvPicPr>
          <p:cNvPr id="7" name="advice figure" descr="C:\Users\tharu\AppData\Local\Temp\claude\D--Mechanical-Engineering-Hackathons-Digital-Twin\df663d0f-c1be-4cb9-9e41-502d36bbd372\scratchpad\deck/image-20-1.png"/>
          <p:cNvPicPr>
            <a:picLocks noChangeAspect="1"/>
          </p:cNvPicPr>
          <p:nvPr/>
        </p:nvPicPr>
        <p:blipFill>
          <a:blip r:embed="rId4"/>
          <a:stretch>
            <a:fillRect/>
          </a:stretch>
        </p:blipFill>
        <p:spPr>
          <a:xfrm>
            <a:off x="640080" y="3832167"/>
            <a:ext cx="4800600" cy="2026920"/>
          </a:xfrm>
          <a:prstGeom prst="rect">
            <a:avLst/>
          </a:prstGeom>
        </p:spPr>
      </p:pic>
      <p:sp>
        <p:nvSpPr>
          <p:cNvPr id="8" name="stat 1"/>
          <p:cNvSpPr/>
          <p:nvPr/>
        </p:nvSpPr>
        <p:spPr>
          <a:xfrm>
            <a:off x="6537960" y="1325880"/>
            <a:ext cx="5074920" cy="987552"/>
          </a:xfrm>
          <a:prstGeom prst="roundRect">
            <a:avLst>
              <a:gd name="adj" fmla="val 9259"/>
            </a:avLst>
          </a:prstGeom>
          <a:solidFill>
            <a:srgbClr val="141820"/>
          </a:solidFill>
          <a:ln w="9525">
            <a:solidFill>
              <a:srgbClr val="283040"/>
            </a:solidFill>
            <a:prstDash val="solid"/>
          </a:ln>
        </p:spPr>
      </p:sp>
      <p:sp>
        <p:nvSpPr>
          <p:cNvPr id="9" name="stat 1 value"/>
          <p:cNvSpPr txBox="1"/>
          <p:nvPr/>
        </p:nvSpPr>
        <p:spPr>
          <a:xfrm>
            <a:off x="6766560" y="1435608"/>
            <a:ext cx="4617720" cy="566928"/>
          </a:xfrm>
          <a:prstGeom prst="rect">
            <a:avLst/>
          </a:prstGeom>
          <a:noFill/>
          <a:ln/>
        </p:spPr>
        <p:txBody>
          <a:bodyPr wrap="square" lIns="0" tIns="0" rIns="0" bIns="0" rtlCol="0" anchor="ctr"/>
          <a:lstStyle/>
          <a:p>
            <a:pPr marL="0" indent="0">
              <a:buNone/>
            </a:pPr>
            <a:r>
              <a:rPr lang="en-US" sz="2800" b="1" dirty="0">
                <a:solidFill>
                  <a:srgbClr val="3D8BFF"/>
                </a:solidFill>
              </a:rPr>
              <a:t>66% · 61%</a:t>
            </a:r>
            <a:endParaRPr lang="en-US" sz="2800" dirty="0"/>
          </a:p>
        </p:txBody>
      </p:sp>
      <p:sp>
        <p:nvSpPr>
          <p:cNvPr id="10" name="stat 1 label"/>
          <p:cNvSpPr txBox="1"/>
          <p:nvPr/>
        </p:nvSpPr>
        <p:spPr>
          <a:xfrm>
            <a:off x="6766560" y="2020824"/>
            <a:ext cx="4617720" cy="228600"/>
          </a:xfrm>
          <a:prstGeom prst="rect">
            <a:avLst/>
          </a:prstGeom>
          <a:noFill/>
          <a:ln/>
        </p:spPr>
        <p:txBody>
          <a:bodyPr wrap="square" lIns="0" tIns="0" rIns="0" bIns="0" rtlCol="0" anchor="t"/>
          <a:lstStyle/>
          <a:p>
            <a:pPr marL="0" indent="0">
              <a:buNone/>
            </a:pPr>
            <a:r>
              <a:rPr lang="en-US" sz="1300" dirty="0">
                <a:solidFill>
                  <a:srgbClr val="B7C0CC"/>
                </a:solidFill>
              </a:rPr>
              <a:t>direction right on real meal pairs: carbohydrate (2,015), activity (324)</a:t>
            </a:r>
            <a:endParaRPr lang="en-US" sz="1300" dirty="0"/>
          </a:p>
        </p:txBody>
      </p:sp>
      <p:sp>
        <p:nvSpPr>
          <p:cNvPr id="11" name="stat 2"/>
          <p:cNvSpPr/>
          <p:nvPr/>
        </p:nvSpPr>
        <p:spPr>
          <a:xfrm>
            <a:off x="6537960" y="2468880"/>
            <a:ext cx="5074920" cy="987552"/>
          </a:xfrm>
          <a:prstGeom prst="roundRect">
            <a:avLst>
              <a:gd name="adj" fmla="val 9259"/>
            </a:avLst>
          </a:prstGeom>
          <a:solidFill>
            <a:srgbClr val="141820"/>
          </a:solidFill>
          <a:ln w="9525">
            <a:solidFill>
              <a:srgbClr val="283040"/>
            </a:solidFill>
            <a:prstDash val="solid"/>
          </a:ln>
        </p:spPr>
      </p:sp>
      <p:sp>
        <p:nvSpPr>
          <p:cNvPr id="12" name="stat 2 value"/>
          <p:cNvSpPr txBox="1"/>
          <p:nvPr/>
        </p:nvSpPr>
        <p:spPr>
          <a:xfrm>
            <a:off x="6766560" y="2578608"/>
            <a:ext cx="4617720" cy="566928"/>
          </a:xfrm>
          <a:prstGeom prst="rect">
            <a:avLst/>
          </a:prstGeom>
          <a:noFill/>
          <a:ln/>
        </p:spPr>
        <p:txBody>
          <a:bodyPr wrap="square" lIns="0" tIns="0" rIns="0" bIns="0" rtlCol="0" anchor="ctr"/>
          <a:lstStyle/>
          <a:p>
            <a:pPr marL="0" indent="0">
              <a:buNone/>
            </a:pPr>
            <a:r>
              <a:rPr lang="en-US" sz="2800" b="1" dirty="0">
                <a:solidFill>
                  <a:srgbClr val="3D8BFF"/>
                </a:solidFill>
              </a:rPr>
              <a:t>−10.7 vs −9.1</a:t>
            </a:r>
            <a:endParaRPr lang="en-US" sz="2800" dirty="0"/>
          </a:p>
        </p:txBody>
      </p:sp>
      <p:sp>
        <p:nvSpPr>
          <p:cNvPr id="13" name="stat 2 label"/>
          <p:cNvSpPr txBox="1"/>
          <p:nvPr/>
        </p:nvSpPr>
        <p:spPr>
          <a:xfrm>
            <a:off x="6766560" y="3163824"/>
            <a:ext cx="4617720" cy="228600"/>
          </a:xfrm>
          <a:prstGeom prst="rect">
            <a:avLst/>
          </a:prstGeom>
          <a:noFill/>
          <a:ln/>
        </p:spPr>
        <p:txBody>
          <a:bodyPr wrap="square" lIns="0" tIns="0" rIns="0" bIns="0" rtlCol="0" anchor="t"/>
          <a:lstStyle/>
          <a:p>
            <a:pPr marL="0" indent="0">
              <a:buNone/>
            </a:pPr>
            <a:r>
              <a:rPr lang="en-US" sz="1300" dirty="0">
                <a:solidFill>
                  <a:srgbClr val="B7C0CC"/>
                </a:solidFill>
              </a:rPr>
              <a:t>active hour after a meal, mg/dL: observed vs the twin</a:t>
            </a:r>
            <a:endParaRPr lang="en-US" sz="1300" dirty="0"/>
          </a:p>
        </p:txBody>
      </p:sp>
      <p:sp>
        <p:nvSpPr>
          <p:cNvPr id="14" name="stat 3"/>
          <p:cNvSpPr/>
          <p:nvPr/>
        </p:nvSpPr>
        <p:spPr>
          <a:xfrm>
            <a:off x="6537960" y="3611880"/>
            <a:ext cx="5074920" cy="987552"/>
          </a:xfrm>
          <a:prstGeom prst="roundRect">
            <a:avLst>
              <a:gd name="adj" fmla="val 9259"/>
            </a:avLst>
          </a:prstGeom>
          <a:solidFill>
            <a:srgbClr val="141820"/>
          </a:solidFill>
          <a:ln w="9525">
            <a:solidFill>
              <a:srgbClr val="283040"/>
            </a:solidFill>
            <a:prstDash val="solid"/>
          </a:ln>
        </p:spPr>
      </p:sp>
      <p:sp>
        <p:nvSpPr>
          <p:cNvPr id="15" name="stat 3 value"/>
          <p:cNvSpPr txBox="1"/>
          <p:nvPr/>
        </p:nvSpPr>
        <p:spPr>
          <a:xfrm>
            <a:off x="6766560" y="3721608"/>
            <a:ext cx="4617720" cy="566928"/>
          </a:xfrm>
          <a:prstGeom prst="rect">
            <a:avLst/>
          </a:prstGeom>
          <a:noFill/>
          <a:ln/>
        </p:spPr>
        <p:txBody>
          <a:bodyPr wrap="square" lIns="0" tIns="0" rIns="0" bIns="0" rtlCol="0" anchor="ctr"/>
          <a:lstStyle/>
          <a:p>
            <a:pPr marL="0" indent="0">
              <a:buNone/>
            </a:pPr>
            <a:r>
              <a:rPr lang="en-US" sz="2800" b="1" dirty="0">
                <a:solidFill>
                  <a:srgbClr val="2ECC8F"/>
                </a:solidFill>
              </a:rPr>
              <a:t>r = 0.88</a:t>
            </a:r>
            <a:endParaRPr lang="en-US" sz="2800" dirty="0"/>
          </a:p>
        </p:txBody>
      </p:sp>
      <p:sp>
        <p:nvSpPr>
          <p:cNvPr id="16" name="stat 3 label"/>
          <p:cNvSpPr txBox="1"/>
          <p:nvPr/>
        </p:nvSpPr>
        <p:spPr>
          <a:xfrm>
            <a:off x="6766560" y="4306824"/>
            <a:ext cx="4617720" cy="228600"/>
          </a:xfrm>
          <a:prstGeom prst="rect">
            <a:avLst/>
          </a:prstGeom>
          <a:noFill/>
          <a:ln/>
        </p:spPr>
        <p:txBody>
          <a:bodyPr wrap="square" lIns="0" tIns="0" rIns="0" bIns="0" rtlCol="0" anchor="t"/>
          <a:lstStyle/>
          <a:p>
            <a:pPr marL="0" indent="0">
              <a:buNone/>
            </a:pPr>
            <a:r>
              <a:rPr lang="en-US" sz="1300" dirty="0">
                <a:solidFill>
                  <a:srgbClr val="B7C0CC"/>
                </a:solidFill>
              </a:rPr>
              <a:t>twin vs true effect of 40% less carbohydrate (synthetic truth)</a:t>
            </a:r>
            <a:endParaRPr lang="en-US" sz="1300" dirty="0"/>
          </a:p>
        </p:txBody>
      </p:sp>
      <p:sp>
        <p:nvSpPr>
          <p:cNvPr id="17" name="stat 4"/>
          <p:cNvSpPr/>
          <p:nvPr/>
        </p:nvSpPr>
        <p:spPr>
          <a:xfrm>
            <a:off x="6537960" y="4754880"/>
            <a:ext cx="5074920" cy="987552"/>
          </a:xfrm>
          <a:prstGeom prst="roundRect">
            <a:avLst>
              <a:gd name="adj" fmla="val 9259"/>
            </a:avLst>
          </a:prstGeom>
          <a:solidFill>
            <a:srgbClr val="141820"/>
          </a:solidFill>
          <a:ln w="9525">
            <a:solidFill>
              <a:srgbClr val="283040"/>
            </a:solidFill>
            <a:prstDash val="solid"/>
          </a:ln>
        </p:spPr>
      </p:sp>
      <p:sp>
        <p:nvSpPr>
          <p:cNvPr id="18" name="stat 4 value"/>
          <p:cNvSpPr txBox="1"/>
          <p:nvPr/>
        </p:nvSpPr>
        <p:spPr>
          <a:xfrm>
            <a:off x="6766560" y="4864608"/>
            <a:ext cx="4617720" cy="566928"/>
          </a:xfrm>
          <a:prstGeom prst="rect">
            <a:avLst/>
          </a:prstGeom>
          <a:noFill/>
          <a:ln/>
        </p:spPr>
        <p:txBody>
          <a:bodyPr wrap="square" lIns="0" tIns="0" rIns="0" bIns="0" rtlCol="0" anchor="ctr"/>
          <a:lstStyle/>
          <a:p>
            <a:pPr marL="0" indent="0">
              <a:buNone/>
            </a:pPr>
            <a:r>
              <a:rPr lang="en-US" sz="2800" b="1" dirty="0">
                <a:solidFill>
                  <a:srgbClr val="F5A623"/>
                </a:solidFill>
              </a:rPr>
              <a:t>35% → 18%</a:t>
            </a:r>
            <a:endParaRPr lang="en-US" sz="2800" dirty="0"/>
          </a:p>
        </p:txBody>
      </p:sp>
      <p:sp>
        <p:nvSpPr>
          <p:cNvPr id="19" name="stat 4 label"/>
          <p:cNvSpPr txBox="1"/>
          <p:nvPr/>
        </p:nvSpPr>
        <p:spPr>
          <a:xfrm>
            <a:off x="6766560" y="5449824"/>
            <a:ext cx="4617720" cy="228600"/>
          </a:xfrm>
          <a:prstGeom prst="rect">
            <a:avLst/>
          </a:prstGeom>
          <a:noFill/>
          <a:ln/>
        </p:spPr>
        <p:txBody>
          <a:bodyPr wrap="square" lIns="0" tIns="0" rIns="0" bIns="0" rtlCol="0" anchor="t"/>
          <a:lstStyle/>
          <a:p>
            <a:pPr marL="0" indent="0">
              <a:buNone/>
            </a:pPr>
            <a:r>
              <a:rPr lang="en-US" sz="1300" dirty="0">
                <a:solidFill>
                  <a:srgbClr val="B7C0CC"/>
                </a:solidFill>
              </a:rPr>
              <a:t>meals with a spike, no change vs the twin's suggestion (simulation; a carb rule: 28%)</a:t>
            </a:r>
            <a:endParaRPr lang="en-US" sz="1300" dirty="0"/>
          </a:p>
        </p:txBody>
      </p:sp>
      <p:sp>
        <p:nvSpPr>
          <p:cNvPr id="20"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7D8794"/>
                </a:solidFill>
              </a:rPr>
              <a:t>Real pairs are matched, not randomised: a consistency check. Simulated results are an upper bound, not a trial.</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Built for India: six regional plates</a:t>
            </a:r>
            <a:endParaRPr lang="en-US" sz="3400" dirty="0"/>
          </a:p>
        </p:txBody>
      </p:sp>
      <p:graphicFrame>
        <p:nvGraphicFramePr>
          <p:cNvPr id="4" name="india chart"/>
          <p:cNvGraphicFramePr/>
          <p:nvPr/>
        </p:nvGraphicFramePr>
        <p:xfrm>
          <a:off x="548640" y="1325880"/>
          <a:ext cx="603504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5" name="region North"/>
          <p:cNvSpPr/>
          <p:nvPr/>
        </p:nvSpPr>
        <p:spPr>
          <a:xfrm>
            <a:off x="6858000" y="1325880"/>
            <a:ext cx="2286000" cy="1078992"/>
          </a:xfrm>
          <a:prstGeom prst="roundRect">
            <a:avLst>
              <a:gd name="adj" fmla="val 8475"/>
            </a:avLst>
          </a:prstGeom>
          <a:solidFill>
            <a:srgbClr val="141820"/>
          </a:solidFill>
          <a:ln w="9525">
            <a:solidFill>
              <a:srgbClr val="283040"/>
            </a:solidFill>
            <a:prstDash val="solid"/>
          </a:ln>
        </p:spPr>
      </p:sp>
      <p:sp>
        <p:nvSpPr>
          <p:cNvPr id="6" name="region North text"/>
          <p:cNvSpPr txBox="1"/>
          <p:nvPr/>
        </p:nvSpPr>
        <p:spPr>
          <a:xfrm>
            <a:off x="6995160" y="1371600"/>
            <a:ext cx="2057400" cy="987552"/>
          </a:xfrm>
          <a:prstGeom prst="rect">
            <a:avLst/>
          </a:prstGeom>
          <a:noFill/>
          <a:ln/>
        </p:spPr>
        <p:txBody>
          <a:bodyPr wrap="square" lIns="0" tIns="0" rIns="0" bIns="0" rtlCol="0" anchor="ctr"/>
          <a:lstStyle/>
          <a:p>
            <a:pPr marL="0" indent="0">
              <a:buNone/>
            </a:pPr>
            <a:r>
              <a:rPr lang="en-US" sz="1500" b="1" dirty="0">
                <a:solidFill>
                  <a:srgbClr val="F5A623"/>
                </a:solidFill>
              </a:rPr>
              <a:t>North</a:t>
            </a:r>
            <a:endParaRPr lang="en-US" sz="1400" dirty="0"/>
          </a:p>
          <a:p>
            <a:pPr marL="0" indent="0">
              <a:buNone/>
            </a:pPr>
            <a:r>
              <a:rPr lang="en-US" sz="1300" dirty="0">
                <a:solidFill>
                  <a:srgbClr val="F5F7FA"/>
                </a:solidFill>
              </a:rPr>
              <a:t>roti, dal, aloo gobhi</a:t>
            </a:r>
            <a:endParaRPr lang="en-US" sz="1400" dirty="0"/>
          </a:p>
          <a:p>
            <a:pPr marL="0" indent="0">
              <a:buNone/>
            </a:pPr>
            <a:r>
              <a:rPr lang="en-US" sz="1100" dirty="0">
                <a:solidFill>
                  <a:srgbClr val="B7C0CC"/>
                </a:solidFill>
              </a:rPr>
              <a:t>meals with a spike: 24%</a:t>
            </a:r>
            <a:endParaRPr lang="en-US" sz="1400" dirty="0"/>
          </a:p>
        </p:txBody>
      </p:sp>
      <p:sp>
        <p:nvSpPr>
          <p:cNvPr id="7" name="region South"/>
          <p:cNvSpPr/>
          <p:nvPr/>
        </p:nvSpPr>
        <p:spPr>
          <a:xfrm>
            <a:off x="9281160" y="1325880"/>
            <a:ext cx="2286000" cy="1078992"/>
          </a:xfrm>
          <a:prstGeom prst="roundRect">
            <a:avLst>
              <a:gd name="adj" fmla="val 8475"/>
            </a:avLst>
          </a:prstGeom>
          <a:solidFill>
            <a:srgbClr val="141820"/>
          </a:solidFill>
          <a:ln w="9525">
            <a:solidFill>
              <a:srgbClr val="283040"/>
            </a:solidFill>
            <a:prstDash val="solid"/>
          </a:ln>
        </p:spPr>
      </p:sp>
      <p:sp>
        <p:nvSpPr>
          <p:cNvPr id="8" name="region South text"/>
          <p:cNvSpPr txBox="1"/>
          <p:nvPr/>
        </p:nvSpPr>
        <p:spPr>
          <a:xfrm>
            <a:off x="9418320" y="1371600"/>
            <a:ext cx="2057400" cy="987552"/>
          </a:xfrm>
          <a:prstGeom prst="rect">
            <a:avLst/>
          </a:prstGeom>
          <a:noFill/>
          <a:ln/>
        </p:spPr>
        <p:txBody>
          <a:bodyPr wrap="square" lIns="0" tIns="0" rIns="0" bIns="0" rtlCol="0" anchor="ctr"/>
          <a:lstStyle/>
          <a:p>
            <a:pPr marL="0" indent="0">
              <a:buNone/>
            </a:pPr>
            <a:r>
              <a:rPr lang="en-US" sz="1500" b="1" dirty="0">
                <a:solidFill>
                  <a:srgbClr val="F5A623"/>
                </a:solidFill>
              </a:rPr>
              <a:t>South</a:t>
            </a:r>
            <a:endParaRPr lang="en-US" sz="1400" dirty="0"/>
          </a:p>
          <a:p>
            <a:pPr marL="0" indent="0">
              <a:buNone/>
            </a:pPr>
            <a:r>
              <a:rPr lang="en-US" sz="1300" dirty="0">
                <a:solidFill>
                  <a:srgbClr val="F5F7FA"/>
                </a:solidFill>
              </a:rPr>
              <a:t>rice, sambar, rasam</a:t>
            </a:r>
            <a:endParaRPr lang="en-US" sz="1400" dirty="0"/>
          </a:p>
          <a:p>
            <a:pPr marL="0" indent="0">
              <a:buNone/>
            </a:pPr>
            <a:r>
              <a:rPr lang="en-US" sz="1100" dirty="0">
                <a:solidFill>
                  <a:srgbClr val="B7C0CC"/>
                </a:solidFill>
              </a:rPr>
              <a:t>meals with a spike: 32%</a:t>
            </a:r>
            <a:endParaRPr lang="en-US" sz="1400" dirty="0"/>
          </a:p>
        </p:txBody>
      </p:sp>
      <p:sp>
        <p:nvSpPr>
          <p:cNvPr id="9" name="region East"/>
          <p:cNvSpPr/>
          <p:nvPr/>
        </p:nvSpPr>
        <p:spPr>
          <a:xfrm>
            <a:off x="6858000" y="2532888"/>
            <a:ext cx="2286000" cy="1078992"/>
          </a:xfrm>
          <a:prstGeom prst="roundRect">
            <a:avLst>
              <a:gd name="adj" fmla="val 8475"/>
            </a:avLst>
          </a:prstGeom>
          <a:solidFill>
            <a:srgbClr val="141820"/>
          </a:solidFill>
          <a:ln w="9525">
            <a:solidFill>
              <a:srgbClr val="283040"/>
            </a:solidFill>
            <a:prstDash val="solid"/>
          </a:ln>
        </p:spPr>
      </p:sp>
      <p:sp>
        <p:nvSpPr>
          <p:cNvPr id="10" name="region East text"/>
          <p:cNvSpPr txBox="1"/>
          <p:nvPr/>
        </p:nvSpPr>
        <p:spPr>
          <a:xfrm>
            <a:off x="6995160" y="2578608"/>
            <a:ext cx="2057400" cy="987552"/>
          </a:xfrm>
          <a:prstGeom prst="rect">
            <a:avLst/>
          </a:prstGeom>
          <a:noFill/>
          <a:ln/>
        </p:spPr>
        <p:txBody>
          <a:bodyPr wrap="square" lIns="0" tIns="0" rIns="0" bIns="0" rtlCol="0" anchor="ctr"/>
          <a:lstStyle/>
          <a:p>
            <a:pPr marL="0" indent="0">
              <a:buNone/>
            </a:pPr>
            <a:r>
              <a:rPr lang="en-US" sz="1500" b="1" dirty="0">
                <a:solidFill>
                  <a:srgbClr val="F5A623"/>
                </a:solidFill>
              </a:rPr>
              <a:t>East</a:t>
            </a:r>
            <a:endParaRPr lang="en-US" sz="1400" dirty="0"/>
          </a:p>
          <a:p>
            <a:pPr marL="0" indent="0">
              <a:buNone/>
            </a:pPr>
            <a:r>
              <a:rPr lang="en-US" sz="1300" dirty="0">
                <a:solidFill>
                  <a:srgbClr val="F5F7FA"/>
                </a:solidFill>
              </a:rPr>
              <a:t>rice, dalma</a:t>
            </a:r>
            <a:endParaRPr lang="en-US" sz="1400" dirty="0"/>
          </a:p>
          <a:p>
            <a:pPr marL="0" indent="0">
              <a:buNone/>
            </a:pPr>
            <a:r>
              <a:rPr lang="en-US" sz="1100" dirty="0">
                <a:solidFill>
                  <a:srgbClr val="B7C0CC"/>
                </a:solidFill>
              </a:rPr>
              <a:t>meals with a spike: 42%</a:t>
            </a:r>
            <a:endParaRPr lang="en-US" sz="1400" dirty="0"/>
          </a:p>
        </p:txBody>
      </p:sp>
      <p:sp>
        <p:nvSpPr>
          <p:cNvPr id="11" name="region West"/>
          <p:cNvSpPr/>
          <p:nvPr/>
        </p:nvSpPr>
        <p:spPr>
          <a:xfrm>
            <a:off x="9281160" y="2532888"/>
            <a:ext cx="2286000" cy="1078992"/>
          </a:xfrm>
          <a:prstGeom prst="roundRect">
            <a:avLst>
              <a:gd name="adj" fmla="val 8475"/>
            </a:avLst>
          </a:prstGeom>
          <a:solidFill>
            <a:srgbClr val="141820"/>
          </a:solidFill>
          <a:ln w="9525">
            <a:solidFill>
              <a:srgbClr val="283040"/>
            </a:solidFill>
            <a:prstDash val="solid"/>
          </a:ln>
        </p:spPr>
      </p:sp>
      <p:sp>
        <p:nvSpPr>
          <p:cNvPr id="12" name="region West text"/>
          <p:cNvSpPr txBox="1"/>
          <p:nvPr/>
        </p:nvSpPr>
        <p:spPr>
          <a:xfrm>
            <a:off x="9418320" y="2578608"/>
            <a:ext cx="2057400" cy="987552"/>
          </a:xfrm>
          <a:prstGeom prst="rect">
            <a:avLst/>
          </a:prstGeom>
          <a:noFill/>
          <a:ln/>
        </p:spPr>
        <p:txBody>
          <a:bodyPr wrap="square" lIns="0" tIns="0" rIns="0" bIns="0" rtlCol="0" anchor="ctr"/>
          <a:lstStyle/>
          <a:p>
            <a:pPr marL="0" indent="0">
              <a:buNone/>
            </a:pPr>
            <a:r>
              <a:rPr lang="en-US" sz="1500" b="1" dirty="0">
                <a:solidFill>
                  <a:srgbClr val="F5A623"/>
                </a:solidFill>
              </a:rPr>
              <a:t>West</a:t>
            </a:r>
            <a:endParaRPr lang="en-US" sz="1400" dirty="0"/>
          </a:p>
          <a:p>
            <a:pPr marL="0" indent="0">
              <a:buNone/>
            </a:pPr>
            <a:r>
              <a:rPr lang="en-US" sz="1300" dirty="0">
                <a:solidFill>
                  <a:srgbClr val="F5F7FA"/>
                </a:solidFill>
              </a:rPr>
              <a:t>rotli, dal, bhat, shaak</a:t>
            </a:r>
            <a:endParaRPr lang="en-US" sz="1400" dirty="0"/>
          </a:p>
          <a:p>
            <a:pPr marL="0" indent="0">
              <a:buNone/>
            </a:pPr>
            <a:r>
              <a:rPr lang="en-US" sz="1100" dirty="0">
                <a:solidFill>
                  <a:srgbClr val="B7C0CC"/>
                </a:solidFill>
              </a:rPr>
              <a:t>meals with a spike: 32%</a:t>
            </a:r>
            <a:endParaRPr lang="en-US" sz="1400" dirty="0"/>
          </a:p>
        </p:txBody>
      </p:sp>
      <p:sp>
        <p:nvSpPr>
          <p:cNvPr id="13" name="region Central"/>
          <p:cNvSpPr/>
          <p:nvPr/>
        </p:nvSpPr>
        <p:spPr>
          <a:xfrm>
            <a:off x="6858000" y="3739896"/>
            <a:ext cx="2286000" cy="1078992"/>
          </a:xfrm>
          <a:prstGeom prst="roundRect">
            <a:avLst>
              <a:gd name="adj" fmla="val 8475"/>
            </a:avLst>
          </a:prstGeom>
          <a:solidFill>
            <a:srgbClr val="141820"/>
          </a:solidFill>
          <a:ln w="9525">
            <a:solidFill>
              <a:srgbClr val="283040"/>
            </a:solidFill>
            <a:prstDash val="solid"/>
          </a:ln>
        </p:spPr>
      </p:sp>
      <p:sp>
        <p:nvSpPr>
          <p:cNvPr id="14" name="region Central text"/>
          <p:cNvSpPr txBox="1"/>
          <p:nvPr/>
        </p:nvSpPr>
        <p:spPr>
          <a:xfrm>
            <a:off x="6995160" y="3785616"/>
            <a:ext cx="2057400" cy="987552"/>
          </a:xfrm>
          <a:prstGeom prst="rect">
            <a:avLst/>
          </a:prstGeom>
          <a:noFill/>
          <a:ln/>
        </p:spPr>
        <p:txBody>
          <a:bodyPr wrap="square" lIns="0" tIns="0" rIns="0" bIns="0" rtlCol="0" anchor="ctr"/>
          <a:lstStyle/>
          <a:p>
            <a:pPr marL="0" indent="0">
              <a:buNone/>
            </a:pPr>
            <a:r>
              <a:rPr lang="en-US" sz="1500" b="1" dirty="0">
                <a:solidFill>
                  <a:srgbClr val="F5A623"/>
                </a:solidFill>
              </a:rPr>
              <a:t>Central</a:t>
            </a:r>
            <a:endParaRPr lang="en-US" sz="1400" dirty="0"/>
          </a:p>
          <a:p>
            <a:pPr marL="0" indent="0">
              <a:buNone/>
            </a:pPr>
            <a:r>
              <a:rPr lang="en-US" sz="1300" dirty="0">
                <a:solidFill>
                  <a:srgbClr val="F5F7FA"/>
                </a:solidFill>
              </a:rPr>
              <a:t>dal, chawal, roti</a:t>
            </a:r>
            <a:endParaRPr lang="en-US" sz="1400" dirty="0"/>
          </a:p>
          <a:p>
            <a:pPr marL="0" indent="0">
              <a:buNone/>
            </a:pPr>
            <a:r>
              <a:rPr lang="en-US" sz="1100" dirty="0">
                <a:solidFill>
                  <a:srgbClr val="B7C0CC"/>
                </a:solidFill>
              </a:rPr>
              <a:t>meals with a spike: 29%</a:t>
            </a:r>
            <a:endParaRPr lang="en-US" sz="1400" dirty="0"/>
          </a:p>
        </p:txBody>
      </p:sp>
      <p:sp>
        <p:nvSpPr>
          <p:cNvPr id="15" name="region Northeast"/>
          <p:cNvSpPr/>
          <p:nvPr/>
        </p:nvSpPr>
        <p:spPr>
          <a:xfrm>
            <a:off x="9281160" y="3739896"/>
            <a:ext cx="2286000" cy="1078992"/>
          </a:xfrm>
          <a:prstGeom prst="roundRect">
            <a:avLst>
              <a:gd name="adj" fmla="val 8475"/>
            </a:avLst>
          </a:prstGeom>
          <a:solidFill>
            <a:srgbClr val="141820"/>
          </a:solidFill>
          <a:ln w="9525">
            <a:solidFill>
              <a:srgbClr val="283040"/>
            </a:solidFill>
            <a:prstDash val="solid"/>
          </a:ln>
        </p:spPr>
      </p:sp>
      <p:sp>
        <p:nvSpPr>
          <p:cNvPr id="16" name="region Northeast text"/>
          <p:cNvSpPr txBox="1"/>
          <p:nvPr/>
        </p:nvSpPr>
        <p:spPr>
          <a:xfrm>
            <a:off x="9418320" y="3785616"/>
            <a:ext cx="2057400" cy="987552"/>
          </a:xfrm>
          <a:prstGeom prst="rect">
            <a:avLst/>
          </a:prstGeom>
          <a:noFill/>
          <a:ln/>
        </p:spPr>
        <p:txBody>
          <a:bodyPr wrap="square" lIns="0" tIns="0" rIns="0" bIns="0" rtlCol="0" anchor="ctr"/>
          <a:lstStyle/>
          <a:p>
            <a:pPr marL="0" indent="0">
              <a:buNone/>
            </a:pPr>
            <a:r>
              <a:rPr lang="en-US" sz="1500" b="1" dirty="0">
                <a:solidFill>
                  <a:srgbClr val="F5A623"/>
                </a:solidFill>
              </a:rPr>
              <a:t>Northeast</a:t>
            </a:r>
            <a:endParaRPr lang="en-US" sz="1400" dirty="0"/>
          </a:p>
          <a:p>
            <a:pPr marL="0" indent="0">
              <a:buNone/>
            </a:pPr>
            <a:r>
              <a:rPr lang="en-US" sz="1300" dirty="0">
                <a:solidFill>
                  <a:srgbClr val="F5F7FA"/>
                </a:solidFill>
              </a:rPr>
              <a:t>rice, dal, fish tenga</a:t>
            </a:r>
            <a:endParaRPr lang="en-US" sz="1400" dirty="0"/>
          </a:p>
          <a:p>
            <a:pPr marL="0" indent="0">
              <a:buNone/>
            </a:pPr>
            <a:r>
              <a:rPr lang="en-US" sz="1100" dirty="0">
                <a:solidFill>
                  <a:srgbClr val="B7C0CC"/>
                </a:solidFill>
              </a:rPr>
              <a:t>meals with a spike: 37%</a:t>
            </a:r>
            <a:endParaRPr lang="en-US" sz="1400" dirty="0"/>
          </a:p>
        </p:txBody>
      </p:sp>
      <p:sp>
        <p:nvSpPr>
          <p:cNvPr id="17" name="home advantage"/>
          <p:cNvSpPr/>
          <p:nvPr/>
        </p:nvSpPr>
        <p:spPr>
          <a:xfrm>
            <a:off x="6858000" y="5029200"/>
            <a:ext cx="4709160" cy="822960"/>
          </a:xfrm>
          <a:prstGeom prst="roundRect">
            <a:avLst>
              <a:gd name="adj" fmla="val 11111"/>
            </a:avLst>
          </a:prstGeom>
          <a:solidFill>
            <a:srgbClr val="3A2A10"/>
          </a:solidFill>
          <a:ln w="9525">
            <a:solidFill>
              <a:srgbClr val="F5A623"/>
            </a:solidFill>
            <a:prstDash val="solid"/>
          </a:ln>
        </p:spPr>
      </p:sp>
      <p:sp>
        <p:nvSpPr>
          <p:cNvPr id="18" name="home advantage text"/>
          <p:cNvSpPr txBox="1"/>
          <p:nvPr/>
        </p:nvSpPr>
        <p:spPr>
          <a:xfrm>
            <a:off x="7040880" y="5029200"/>
            <a:ext cx="4389120" cy="822960"/>
          </a:xfrm>
          <a:prstGeom prst="rect">
            <a:avLst/>
          </a:prstGeom>
          <a:noFill/>
          <a:ln/>
        </p:spPr>
        <p:txBody>
          <a:bodyPr wrap="square" lIns="0" tIns="0" rIns="0" bIns="0" rtlCol="0" anchor="ctr"/>
          <a:lstStyle/>
          <a:p>
            <a:pPr marL="0" indent="0">
              <a:buNone/>
            </a:pPr>
            <a:r>
              <a:rPr lang="en-US" sz="1350" b="1" dirty="0">
                <a:solidFill>
                  <a:srgbClr val="F5F7FA"/>
                </a:solidFill>
              </a:rPr>
              <a:t>Best in 4 of 6 regions. The simulator shares the twin's physiology: a check, not a win.</a:t>
            </a:r>
            <a:endParaRPr lang="en-US" sz="1350" dirty="0"/>
          </a:p>
        </p:txBody>
      </p:sp>
      <p:sp>
        <p:nvSpPr>
          <p:cNvPr id="19"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7D8794"/>
                </a:solidFill>
              </a:rPr>
              <a:t>Regional diets [13], recipes [14], glycaemic indices [15]. Simulated people, not evidence about real Indians.</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What did not hold up, and our limits</a:t>
            </a:r>
            <a:endParaRPr lang="en-US" sz="3400" dirty="0"/>
          </a:p>
        </p:txBody>
      </p:sp>
      <p:graphicFrame>
        <p:nvGraphicFramePr>
          <p:cNvPr id="21" name="did not hold table"/>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7724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We hoped for</a:t>
                      </a:r>
                      <a:endParaRPr lang="en-US" sz="13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We found</a:t>
                      </a:r>
                      <a:endParaRPr lang="en-US" sz="13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1E2633"/>
                    </a:solidFill>
                  </a:tcPr>
                </a:tc>
                <a:extLst>
                  <a:ext uri="{0D108BD9-81ED-4DB2-BD59-A6C34878D82A}">
                    <a16:rowId xmlns:a16="http://schemas.microsoft.com/office/drawing/2014/main" val="10000"/>
                  </a:ext>
                </a:extLst>
              </a:tr>
              <a:tr h="77724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Beat LightGBM at home</a:t>
                      </a:r>
                      <a:endParaRPr lang="en-US" sz="13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50" dirty="0">
                          <a:solidFill>
                            <a:srgbClr val="B7C0CC"/>
                          </a:solidFill>
                          <a:latin typeface="Calibri" pitchFamily="34" charset="0"/>
                          <a:ea typeface="Calibri" pitchFamily="34" charset="-122"/>
                          <a:cs typeface="Calibri" pitchFamily="34" charset="-120"/>
                        </a:rPr>
                        <a:t>A tie: 24.9 vs 25.0 mg/dL at 60 min</a:t>
                      </a:r>
                      <a:endParaRPr lang="en-US" sz="13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1"/>
                  </a:ext>
                </a:extLst>
              </a:tr>
              <a:tr h="77724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Labs give a head start</a:t>
                      </a:r>
                      <a:endParaRPr lang="en-US" sz="13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50" dirty="0">
                          <a:solidFill>
                            <a:srgbClr val="B7C0CC"/>
                          </a:solidFill>
                          <a:latin typeface="Calibri" pitchFamily="34" charset="0"/>
                          <a:ea typeface="Calibri" pitchFamily="34" charset="-122"/>
                          <a:cs typeface="Calibri" pitchFamily="34" charset="-120"/>
                        </a:rPr>
                        <a:t>First 24 h: −0.46 (−1.01 to 0.10). Not significant</a:t>
                      </a:r>
                      <a:endParaRPr lang="en-US" sz="13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2"/>
                  </a:ext>
                </a:extLst>
              </a:tr>
              <a:tr h="77724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The twin keeps improving</a:t>
                      </a:r>
                      <a:endParaRPr lang="en-US" sz="13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50" dirty="0">
                          <a:solidFill>
                            <a:srgbClr val="B7C0CC"/>
                          </a:solidFill>
                          <a:latin typeface="Calibri" pitchFamily="34" charset="0"/>
                          <a:ea typeface="Calibri" pitchFamily="34" charset="-122"/>
                          <a:cs typeface="Calibri" pitchFamily="34" charset="-120"/>
                        </a:rPr>
                        <a:t>Updating vs frozen from day 4: −0.87 (−2.14 to 0.26). Not significant</a:t>
                      </a:r>
                      <a:endParaRPr lang="en-US" sz="13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3"/>
                  </a:ext>
                </a:extLst>
              </a:tr>
              <a:tr h="77724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Twin what-ifs beat LightGBM</a:t>
                      </a:r>
                      <a:endParaRPr lang="en-US" sz="13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tc>
                  <a:txBody>
                    <a:bodyPr/>
                    <a:lstStyle/>
                    <a:p>
                      <a:pPr marL="0" indent="0">
                        <a:buNone/>
                      </a:pPr>
                      <a:r>
                        <a:rPr lang="en-US" sz="1350" dirty="0">
                          <a:solidFill>
                            <a:srgbClr val="B7C0CC"/>
                          </a:solidFill>
                          <a:latin typeface="Calibri" pitchFamily="34" charset="0"/>
                          <a:ea typeface="Calibri" pitchFamily="34" charset="-122"/>
                          <a:cs typeface="Calibri" pitchFamily="34" charset="-120"/>
                        </a:rPr>
                        <a:t>No: 66% vs 68% direction right</a:t>
                      </a:r>
                      <a:endParaRPr lang="en-US" sz="1350" dirty="0">
                        <a:latin typeface="Calibri" charset="0"/>
                        <a:ea typeface="Calibri" charset="0"/>
                        <a:cs typeface="Calibri" charset="0"/>
                      </a:endParaRPr>
                    </a:p>
                  </a:txBody>
                  <a:tcPr marL="109728" marR="109728" marT="36576" marB="36576" anchor="ctr">
                    <a:lnL w="9525" cap="flat" cmpd="sng" algn="ctr">
                      <a:solidFill>
                        <a:srgbClr val="283040"/>
                      </a:solidFill>
                      <a:prstDash val="solid"/>
                      <a:round/>
                      <a:headEnd type="none" w="med" len="med"/>
                      <a:tailEnd type="none" w="med" len="med"/>
                    </a:lnL>
                    <a:lnR w="9525" cap="flat" cmpd="sng" algn="ctr">
                      <a:solidFill>
                        <a:srgbClr val="283040"/>
                      </a:solidFill>
                      <a:prstDash val="solid"/>
                      <a:round/>
                      <a:headEnd type="none" w="med" len="med"/>
                      <a:tailEnd type="none" w="med" len="med"/>
                    </a:lnR>
                    <a:lnT w="9525" cap="flat" cmpd="sng" algn="ctr">
                      <a:solidFill>
                        <a:srgbClr val="283040"/>
                      </a:solidFill>
                      <a:prstDash val="solid"/>
                      <a:round/>
                      <a:headEnd type="none" w="med" len="med"/>
                      <a:tailEnd type="none" w="med" len="med"/>
                    </a:lnT>
                    <a:lnB w="9525" cap="flat" cmpd="sng" algn="ctr">
                      <a:solidFill>
                        <a:srgbClr val="283040"/>
                      </a:solidFill>
                      <a:prstDash val="solid"/>
                      <a:round/>
                      <a:headEnd type="none" w="med" len="med"/>
                      <a:tailEnd type="none" w="med" len="med"/>
                    </a:lnB>
                    <a:solidFill>
                      <a:srgbClr val="0E1117"/>
                    </a:solidFill>
                  </a:tcPr>
                </a:tc>
                <a:extLst>
                  <a:ext uri="{0D108BD9-81ED-4DB2-BD59-A6C34878D82A}">
                    <a16:rowId xmlns:a16="http://schemas.microsoft.com/office/drawing/2014/main" val="10004"/>
                  </a:ext>
                </a:extLst>
              </a:tr>
            </a:tbl>
          </a:graphicData>
        </a:graphic>
      </p:graphicFrame>
      <p:sp>
        <p:nvSpPr>
          <p:cNvPr id="5" name="limits card"/>
          <p:cNvSpPr/>
          <p:nvPr/>
        </p:nvSpPr>
        <p:spPr>
          <a:xfrm>
            <a:off x="7818120" y="1325880"/>
            <a:ext cx="3794760" cy="4526280"/>
          </a:xfrm>
          <a:prstGeom prst="roundRect">
            <a:avLst>
              <a:gd name="adj" fmla="val 2410"/>
            </a:avLst>
          </a:prstGeom>
          <a:solidFill>
            <a:srgbClr val="3A2A10"/>
          </a:solidFill>
          <a:ln w="9525">
            <a:solidFill>
              <a:srgbClr val="F5A623"/>
            </a:solidFill>
            <a:prstDash val="solid"/>
          </a:ln>
        </p:spPr>
      </p:sp>
      <p:sp>
        <p:nvSpPr>
          <p:cNvPr id="6" name="limits head"/>
          <p:cNvSpPr txBox="1"/>
          <p:nvPr/>
        </p:nvSpPr>
        <p:spPr>
          <a:xfrm>
            <a:off x="8046720" y="1463040"/>
            <a:ext cx="3383280" cy="411480"/>
          </a:xfrm>
          <a:prstGeom prst="rect">
            <a:avLst/>
          </a:prstGeom>
          <a:noFill/>
          <a:ln/>
        </p:spPr>
        <p:txBody>
          <a:bodyPr wrap="square" lIns="0" tIns="0" rIns="0" bIns="0" rtlCol="0" anchor="t"/>
          <a:lstStyle/>
          <a:p>
            <a:pPr marL="0" indent="0">
              <a:buNone/>
            </a:pPr>
            <a:r>
              <a:rPr lang="en-US" sz="1900" b="1" dirty="0">
                <a:solidFill>
                  <a:srgbClr val="F5A623"/>
                </a:solidFill>
              </a:rPr>
              <a:t>Limits</a:t>
            </a:r>
            <a:endParaRPr lang="en-US" sz="1900" dirty="0"/>
          </a:p>
        </p:txBody>
      </p:sp>
      <p:sp>
        <p:nvSpPr>
          <p:cNvPr id="7" name="limits list"/>
          <p:cNvSpPr txBox="1"/>
          <p:nvPr/>
        </p:nvSpPr>
        <p:spPr>
          <a:xfrm>
            <a:off x="8046720" y="1965960"/>
            <a:ext cx="3383280" cy="37490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F5F7FA"/>
                </a:solidFill>
              </a:rPr>
              <a:t>Not yet tested on real Indian patients</a:t>
            </a:r>
            <a:endParaRPr lang="en-US" sz="1500" dirty="0"/>
          </a:p>
          <a:p>
            <a:pPr marL="342900" indent="-342900">
              <a:spcAft>
                <a:spcPts val="1000"/>
              </a:spcAft>
              <a:buSzPct val="100000"/>
              <a:buChar char="•"/>
            </a:pPr>
            <a:r>
              <a:rPr lang="en-US" sz="1500" dirty="0">
                <a:solidFill>
                  <a:srgbClr val="F5F7FA"/>
                </a:solidFill>
              </a:rPr>
              <a:t>Retrospective: recordings replayed, no trial</a:t>
            </a:r>
            <a:endParaRPr lang="en-US" sz="1500" dirty="0"/>
          </a:p>
          <a:p>
            <a:pPr marL="342900" indent="-342900">
              <a:spcAft>
                <a:spcPts val="1000"/>
              </a:spcAft>
              <a:buSzPct val="100000"/>
              <a:buChar char="•"/>
            </a:pPr>
            <a:r>
              <a:rPr lang="en-US" sz="1500" dirty="0">
                <a:solidFill>
                  <a:srgbClr val="F5F7FA"/>
                </a:solidFill>
              </a:rPr>
              <a:t>No drug or insulin model</a:t>
            </a:r>
            <a:endParaRPr lang="en-US" sz="1500" dirty="0"/>
          </a:p>
          <a:p>
            <a:pPr marL="342900" indent="-342900">
              <a:spcAft>
                <a:spcPts val="1000"/>
              </a:spcAft>
              <a:buSzPct val="100000"/>
              <a:buChar char="•"/>
            </a:pPr>
            <a:r>
              <a:rPr lang="en-US" sz="1500" dirty="0">
                <a:solidFill>
                  <a:srgbClr val="F5F7FA"/>
                </a:solidFill>
              </a:rPr>
              <a:t>Meals must be logged</a:t>
            </a:r>
            <a:endParaRPr lang="en-US" sz="1500" dirty="0"/>
          </a:p>
          <a:p>
            <a:pPr marL="342900" indent="-342900">
              <a:spcAft>
                <a:spcPts val="1000"/>
              </a:spcAft>
              <a:buSzPct val="100000"/>
              <a:buChar char="•"/>
            </a:pPr>
            <a:r>
              <a:rPr lang="en-US" sz="1500" dirty="0">
                <a:solidFill>
                  <a:srgbClr val="F5F7FA"/>
                </a:solidFill>
              </a:rPr>
              <a:t>Lifestyle advice only, doctor in the loop</a:t>
            </a:r>
            <a:endParaRPr lang="en-US" sz="1500" dirty="0"/>
          </a:p>
        </p:txBody>
      </p:sp>
      <p:sp>
        <p:nvSpPr>
          <p:cNvPr id="8"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a:solidFill>
                  <a:srgbClr val="7D8794"/>
                </a:solidFill>
              </a:rPr>
              <a:t>95% intervals by resampling patients. Full list: README, section 6.</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The tech stack, all open source</a:t>
            </a:r>
            <a:endParaRPr lang="en-US" sz="3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20</a:t>
            </a:fld>
            <a:endParaRPr lang="en-US"/>
          </a:p>
        </p:txBody>
      </p:sp>
      <p:sp>
        <p:nvSpPr>
          <p:cNvPr id="26" name="stack 1"/>
          <p:cNvSpPr/>
          <p:nvPr/>
        </p:nvSpPr>
        <p:spPr>
          <a:xfrm>
            <a:off x="548640" y="1325880"/>
            <a:ext cx="3504895" cy="2057400"/>
          </a:xfrm>
          <a:prstGeom prst="roundRect">
            <a:avLst>
              <a:gd name="adj" fmla="val 8475"/>
            </a:avLst>
          </a:prstGeom>
          <a:solidFill>
            <a:srgbClr val="141820"/>
          </a:solidFill>
          <a:ln w="9525">
            <a:solidFill>
              <a:srgbClr val="283040"/>
            </a:solidFill>
            <a:prstDash val="solid"/>
          </a:ln>
        </p:spPr>
      </p:sp>
      <p:sp>
        <p:nvSpPr>
          <p:cNvPr id="27" name="stack 1 circle"/>
          <p:cNvSpPr/>
          <p:nvPr/>
        </p:nvSpPr>
        <p:spPr>
          <a:xfrm>
            <a:off x="777240" y="1554480"/>
            <a:ext cx="457200" cy="457200"/>
          </a:xfrm>
          <a:prstGeom prst="ellipse">
            <a:avLst/>
          </a:prstGeom>
          <a:solidFill>
            <a:srgbClr val="1F5FBF"/>
          </a:solidFill>
          <a:ln w="12700">
            <a:solidFill>
              <a:srgbClr val="1F5FBF"/>
            </a:solidFill>
            <a:prstDash val="solid"/>
          </a:ln>
        </p:spPr>
        <p:txBody>
          <a:bodyPr/>
          <a:lstStyle/>
          <a:p>
            <a:endParaRPr/>
          </a:p>
        </p:txBody>
      </p:sp>
      <p:pic>
        <p:nvPicPr>
          <p:cNvPr id="28" name="stack 1 icon" descr="twin.png"/>
          <p:cNvPicPr>
            <a:picLocks noChangeAspect="1"/>
          </p:cNvPicPr>
          <p:nvPr/>
        </p:nvPicPr>
        <p:blipFill>
          <a:blip r:embed="rId2"/>
          <a:stretch>
            <a:fillRect/>
          </a:stretch>
        </p:blipFill>
        <p:spPr>
          <a:xfrm>
            <a:off x="886968" y="1664207"/>
            <a:ext cx="237744" cy="237744"/>
          </a:xfrm>
          <a:prstGeom prst="rect">
            <a:avLst/>
          </a:prstGeom>
        </p:spPr>
      </p:pic>
      <p:sp>
        <p:nvSpPr>
          <p:cNvPr id="28" name="stack 1 heading"/>
          <p:cNvSpPr txBox="1"/>
          <p:nvPr/>
        </p:nvSpPr>
        <p:spPr>
          <a:xfrm>
            <a:off x="1371600" y="1554480"/>
            <a:ext cx="2499055" cy="457200"/>
          </a:xfrm>
          <a:prstGeom prst="rect">
            <a:avLst/>
          </a:prstGeom>
          <a:noFill/>
          <a:ln/>
        </p:spPr>
        <p:txBody>
          <a:bodyPr wrap="square" lIns="0" tIns="0" rIns="0" bIns="0" rtlCol="0" anchor="ctr"/>
          <a:lstStyle/>
          <a:p>
            <a:pPr marL="0" indent="0">
              <a:buNone/>
            </a:pPr>
            <a:r>
              <a:rPr lang="en-US" sz="1600" b="1" dirty="0">
                <a:solidFill>
                  <a:srgbClr val="2ECC8F"/>
                </a:solidFill>
              </a:rPr>
              <a:t>The twin</a:t>
            </a:r>
            <a:endParaRPr lang="en-US" sz="1400" dirty="0"/>
          </a:p>
        </p:txBody>
      </p:sp>
      <p:sp>
        <p:nvSpPr>
          <p:cNvPr id="29" name="stack 1 text"/>
          <p:cNvSpPr txBox="1"/>
          <p:nvPr/>
        </p:nvSpPr>
        <p:spPr>
          <a:xfrm>
            <a:off x="777240" y="2194560"/>
            <a:ext cx="3047695" cy="1005840"/>
          </a:xfrm>
          <a:prstGeom prst="rect">
            <a:avLst/>
          </a:prstGeom>
          <a:noFill/>
          <a:ln/>
        </p:spPr>
        <p:txBody>
          <a:bodyPr wrap="square" lIns="0" tIns="0" rIns="0" bIns="0" rtlCol="0" anchor="t"/>
          <a:lstStyle/>
          <a:p>
            <a:pPr marL="0" indent="0">
              <a:buNone/>
            </a:pPr>
            <a:r>
              <a:rPr lang="en-US" sz="1400" b="1" dirty="0">
                <a:solidFill>
                  <a:srgbClr val="F5F7FA"/>
                </a:solidFill>
              </a:rPr>
              <a:t>Python 3.11 · NumPy · SciPy</a:t>
            </a:r>
            <a:endParaRPr lang="en-US" sz="1400" dirty="0"/>
          </a:p>
          <a:p>
            <a:pPr marL="0" indent="0">
              <a:buNone/>
            </a:pPr>
            <a:r>
              <a:rPr lang="en-US" sz="1200" b="0" dirty="0">
                <a:solidFill>
                  <a:srgbClr val="B7C0CC"/>
                </a:solidFill>
              </a:rPr>
              <a:t>Body model and 128-copy Kalman filter written from scratch. SciPy fits the shared dials.</a:t>
            </a:r>
            <a:endParaRPr lang="en-US" sz="1400" dirty="0"/>
          </a:p>
        </p:txBody>
      </p:sp>
      <p:sp>
        <p:nvSpPr>
          <p:cNvPr id="30" name="stack 2"/>
          <p:cNvSpPr/>
          <p:nvPr/>
        </p:nvSpPr>
        <p:spPr>
          <a:xfrm>
            <a:off x="4327855" y="1325880"/>
            <a:ext cx="3504895" cy="2057400"/>
          </a:xfrm>
          <a:prstGeom prst="roundRect">
            <a:avLst>
              <a:gd name="adj" fmla="val 8475"/>
            </a:avLst>
          </a:prstGeom>
          <a:solidFill>
            <a:srgbClr val="141820"/>
          </a:solidFill>
          <a:ln w="9525">
            <a:solidFill>
              <a:srgbClr val="283040"/>
            </a:solidFill>
            <a:prstDash val="solid"/>
          </a:ln>
        </p:spPr>
      </p:sp>
      <p:sp>
        <p:nvSpPr>
          <p:cNvPr id="31" name="stack 2 circle"/>
          <p:cNvSpPr/>
          <p:nvPr/>
        </p:nvSpPr>
        <p:spPr>
          <a:xfrm>
            <a:off x="4556455" y="1554480"/>
            <a:ext cx="457200" cy="457200"/>
          </a:xfrm>
          <a:prstGeom prst="ellipse">
            <a:avLst/>
          </a:prstGeom>
          <a:solidFill>
            <a:srgbClr val="1F5FBF"/>
          </a:solidFill>
          <a:ln w="12700">
            <a:solidFill>
              <a:srgbClr val="1F5FBF"/>
            </a:solidFill>
            <a:prstDash val="solid"/>
          </a:ln>
        </p:spPr>
        <p:txBody>
          <a:bodyPr/>
          <a:lstStyle/>
          <a:p>
            <a:endParaRPr/>
          </a:p>
        </p:txBody>
      </p:sp>
      <p:pic>
        <p:nvPicPr>
          <p:cNvPr id="32" name="stack 2 icon" descr="ml.png"/>
          <p:cNvPicPr>
            <a:picLocks noChangeAspect="1"/>
          </p:cNvPicPr>
          <p:nvPr/>
        </p:nvPicPr>
        <p:blipFill>
          <a:blip r:embed="rId3"/>
          <a:stretch>
            <a:fillRect/>
          </a:stretch>
        </p:blipFill>
        <p:spPr>
          <a:xfrm>
            <a:off x="4666183" y="1664207"/>
            <a:ext cx="237744" cy="237744"/>
          </a:xfrm>
          <a:prstGeom prst="rect">
            <a:avLst/>
          </a:prstGeom>
        </p:spPr>
      </p:pic>
      <p:sp>
        <p:nvSpPr>
          <p:cNvPr id="32" name="stack 2 heading"/>
          <p:cNvSpPr txBox="1"/>
          <p:nvPr/>
        </p:nvSpPr>
        <p:spPr>
          <a:xfrm>
            <a:off x="5150815" y="1554480"/>
            <a:ext cx="2499055" cy="457200"/>
          </a:xfrm>
          <a:prstGeom prst="rect">
            <a:avLst/>
          </a:prstGeom>
          <a:noFill/>
          <a:ln/>
        </p:spPr>
        <p:txBody>
          <a:bodyPr wrap="square" lIns="0" tIns="0" rIns="0" bIns="0" rtlCol="0" anchor="ctr"/>
          <a:lstStyle/>
          <a:p>
            <a:pPr marL="0" indent="0">
              <a:buNone/>
            </a:pPr>
            <a:r>
              <a:rPr lang="en-US" sz="1600" b="1" dirty="0">
                <a:solidFill>
                  <a:srgbClr val="3D8BFF"/>
                </a:solidFill>
              </a:rPr>
              <a:t>Machine learning</a:t>
            </a:r>
            <a:endParaRPr lang="en-US" sz="1400" dirty="0"/>
          </a:p>
        </p:txBody>
      </p:sp>
      <p:sp>
        <p:nvSpPr>
          <p:cNvPr id="33" name="stack 2 text"/>
          <p:cNvSpPr txBox="1"/>
          <p:nvPr/>
        </p:nvSpPr>
        <p:spPr>
          <a:xfrm>
            <a:off x="4556455" y="2194560"/>
            <a:ext cx="3047695" cy="1005840"/>
          </a:xfrm>
          <a:prstGeom prst="rect">
            <a:avLst/>
          </a:prstGeom>
          <a:noFill/>
          <a:ln/>
        </p:spPr>
        <p:txBody>
          <a:bodyPr wrap="square" lIns="0" tIns="0" rIns="0" bIns="0" rtlCol="0" anchor="t"/>
          <a:lstStyle/>
          <a:p>
            <a:pPr marL="0" indent="0">
              <a:buNone/>
            </a:pPr>
            <a:r>
              <a:rPr lang="en-US" sz="1400" b="1" dirty="0">
                <a:solidFill>
                  <a:srgbClr val="F5F7FA"/>
                </a:solidFill>
              </a:rPr>
              <a:t>LightGBM · scikit-learn · pandas</a:t>
            </a:r>
            <a:endParaRPr lang="en-US" sz="1400" dirty="0"/>
          </a:p>
          <a:p>
            <a:pPr marL="0" indent="0">
              <a:buNone/>
            </a:pPr>
            <a:r>
              <a:rPr lang="en-US" sz="1200" b="0" dirty="0">
                <a:solidFill>
                  <a:srgbClr val="B7C0CC"/>
                </a:solidFill>
              </a:rPr>
              <a:t>Capped correction, 90% range and spike alert. scikit-learn calibrates the alert probability.</a:t>
            </a:r>
            <a:endParaRPr lang="en-US" sz="1400" dirty="0"/>
          </a:p>
        </p:txBody>
      </p:sp>
      <p:sp>
        <p:nvSpPr>
          <p:cNvPr id="34" name="stack 3"/>
          <p:cNvSpPr/>
          <p:nvPr/>
        </p:nvSpPr>
        <p:spPr>
          <a:xfrm>
            <a:off x="8107070" y="1325880"/>
            <a:ext cx="3504895" cy="2057400"/>
          </a:xfrm>
          <a:prstGeom prst="roundRect">
            <a:avLst>
              <a:gd name="adj" fmla="val 8475"/>
            </a:avLst>
          </a:prstGeom>
          <a:solidFill>
            <a:srgbClr val="141820"/>
          </a:solidFill>
          <a:ln w="9525">
            <a:solidFill>
              <a:srgbClr val="283040"/>
            </a:solidFill>
            <a:prstDash val="solid"/>
          </a:ln>
        </p:spPr>
      </p:sp>
      <p:sp>
        <p:nvSpPr>
          <p:cNvPr id="35" name="stack 3 circle"/>
          <p:cNvSpPr/>
          <p:nvPr/>
        </p:nvSpPr>
        <p:spPr>
          <a:xfrm>
            <a:off x="8335670" y="1554480"/>
            <a:ext cx="457200" cy="457200"/>
          </a:xfrm>
          <a:prstGeom prst="ellipse">
            <a:avLst/>
          </a:prstGeom>
          <a:solidFill>
            <a:srgbClr val="1F5FBF"/>
          </a:solidFill>
          <a:ln w="12700">
            <a:solidFill>
              <a:srgbClr val="1F5FBF"/>
            </a:solidFill>
            <a:prstDash val="solid"/>
          </a:ln>
        </p:spPr>
        <p:txBody>
          <a:bodyPr/>
          <a:lstStyle/>
          <a:p>
            <a:endParaRPr/>
          </a:p>
        </p:txBody>
      </p:sp>
      <p:pic>
        <p:nvPicPr>
          <p:cNvPr id="36" name="stack 3 icon" descr="ai.png"/>
          <p:cNvPicPr>
            <a:picLocks noChangeAspect="1"/>
          </p:cNvPicPr>
          <p:nvPr/>
        </p:nvPicPr>
        <p:blipFill>
          <a:blip r:embed="rId4"/>
          <a:stretch>
            <a:fillRect/>
          </a:stretch>
        </p:blipFill>
        <p:spPr>
          <a:xfrm>
            <a:off x="8445398" y="1664207"/>
            <a:ext cx="237744" cy="237744"/>
          </a:xfrm>
          <a:prstGeom prst="rect">
            <a:avLst/>
          </a:prstGeom>
        </p:spPr>
      </p:pic>
      <p:sp>
        <p:nvSpPr>
          <p:cNvPr id="36" name="stack 3 heading"/>
          <p:cNvSpPr txBox="1"/>
          <p:nvPr/>
        </p:nvSpPr>
        <p:spPr>
          <a:xfrm>
            <a:off x="8930030" y="1554480"/>
            <a:ext cx="2499055" cy="457200"/>
          </a:xfrm>
          <a:prstGeom prst="rect">
            <a:avLst/>
          </a:prstGeom>
          <a:noFill/>
          <a:ln/>
        </p:spPr>
        <p:txBody>
          <a:bodyPr wrap="square" lIns="0" tIns="0" rIns="0" bIns="0" rtlCol="0" anchor="ctr"/>
          <a:lstStyle/>
          <a:p>
            <a:pPr marL="0" indent="0">
              <a:buNone/>
            </a:pPr>
            <a:r>
              <a:rPr lang="en-US" sz="1600" b="1" dirty="0">
                <a:solidFill>
                  <a:srgbClr val="F5A623"/>
                </a:solidFill>
              </a:rPr>
              <a:t>AI forecasters</a:t>
            </a:r>
            <a:endParaRPr lang="en-US" sz="1400" dirty="0"/>
          </a:p>
        </p:txBody>
      </p:sp>
      <p:sp>
        <p:nvSpPr>
          <p:cNvPr id="37" name="stack 3 text"/>
          <p:cNvSpPr txBox="1"/>
          <p:nvPr/>
        </p:nvSpPr>
        <p:spPr>
          <a:xfrm>
            <a:off x="8335670" y="2194560"/>
            <a:ext cx="3047695" cy="1005840"/>
          </a:xfrm>
          <a:prstGeom prst="rect">
            <a:avLst/>
          </a:prstGeom>
          <a:noFill/>
          <a:ln/>
        </p:spPr>
        <p:txBody>
          <a:bodyPr wrap="square" lIns="0" tIns="0" rIns="0" bIns="0" rtlCol="0" anchor="t"/>
          <a:lstStyle/>
          <a:p>
            <a:pPr marL="0" indent="0">
              <a:buNone/>
            </a:pPr>
            <a:r>
              <a:rPr lang="en-US" sz="1400" b="1" dirty="0">
                <a:solidFill>
                  <a:srgbClr val="F5F7FA"/>
                </a:solidFill>
              </a:rPr>
              <a:t>PyTorch · Chronos-2 · MOMENT · TS2Vec</a:t>
            </a:r>
            <a:endParaRPr lang="en-US" sz="1400" dirty="0"/>
          </a:p>
          <a:p>
            <a:pPr marL="0" indent="0">
              <a:buNone/>
            </a:pPr>
            <a:r>
              <a:rPr lang="en-US" sz="1200" b="0" dirty="0">
                <a:solidFill>
                  <a:srgbClr val="B7C0CC"/>
                </a:solidFill>
              </a:rPr>
              <a:t>Fine-tuned on Kaggle GPUs (2 × T4). GRU, LSTM and patch transformer baselines in PyTorch.</a:t>
            </a:r>
            <a:endParaRPr lang="en-US" sz="1400" dirty="0"/>
          </a:p>
        </p:txBody>
      </p:sp>
      <p:sp>
        <p:nvSpPr>
          <p:cNvPr id="38" name="stack 4"/>
          <p:cNvSpPr/>
          <p:nvPr/>
        </p:nvSpPr>
        <p:spPr>
          <a:xfrm>
            <a:off x="548640" y="3657600"/>
            <a:ext cx="3504895" cy="2057400"/>
          </a:xfrm>
          <a:prstGeom prst="roundRect">
            <a:avLst>
              <a:gd name="adj" fmla="val 8475"/>
            </a:avLst>
          </a:prstGeom>
          <a:solidFill>
            <a:srgbClr val="141820"/>
          </a:solidFill>
          <a:ln w="9525">
            <a:solidFill>
              <a:srgbClr val="283040"/>
            </a:solidFill>
            <a:prstDash val="solid"/>
          </a:ln>
        </p:spPr>
      </p:sp>
      <p:sp>
        <p:nvSpPr>
          <p:cNvPr id="39" name="stack 4 circle"/>
          <p:cNvSpPr/>
          <p:nvPr/>
        </p:nvSpPr>
        <p:spPr>
          <a:xfrm>
            <a:off x="777240" y="3886200"/>
            <a:ext cx="457200" cy="457200"/>
          </a:xfrm>
          <a:prstGeom prst="ellipse">
            <a:avLst/>
          </a:prstGeom>
          <a:solidFill>
            <a:srgbClr val="1F5FBF"/>
          </a:solidFill>
          <a:ln w="12700">
            <a:solidFill>
              <a:srgbClr val="1F5FBF"/>
            </a:solidFill>
            <a:prstDash val="solid"/>
          </a:ln>
        </p:spPr>
        <p:txBody>
          <a:bodyPr/>
          <a:lstStyle/>
          <a:p>
            <a:endParaRPr/>
          </a:p>
        </p:txBody>
      </p:sp>
      <p:pic>
        <p:nvPicPr>
          <p:cNvPr id="40" name="stack 4 icon" descr="dash.png"/>
          <p:cNvPicPr>
            <a:picLocks noChangeAspect="1"/>
          </p:cNvPicPr>
          <p:nvPr/>
        </p:nvPicPr>
        <p:blipFill>
          <a:blip r:embed="rId5"/>
          <a:stretch>
            <a:fillRect/>
          </a:stretch>
        </p:blipFill>
        <p:spPr>
          <a:xfrm>
            <a:off x="886968" y="3995928"/>
            <a:ext cx="237744" cy="237744"/>
          </a:xfrm>
          <a:prstGeom prst="rect">
            <a:avLst/>
          </a:prstGeom>
        </p:spPr>
      </p:pic>
      <p:sp>
        <p:nvSpPr>
          <p:cNvPr id="40" name="stack 4 heading"/>
          <p:cNvSpPr txBox="1"/>
          <p:nvPr/>
        </p:nvSpPr>
        <p:spPr>
          <a:xfrm>
            <a:off x="1371600" y="3886200"/>
            <a:ext cx="2499055" cy="457200"/>
          </a:xfrm>
          <a:prstGeom prst="rect">
            <a:avLst/>
          </a:prstGeom>
          <a:noFill/>
          <a:ln/>
        </p:spPr>
        <p:txBody>
          <a:bodyPr wrap="square" lIns="0" tIns="0" rIns="0" bIns="0" rtlCol="0" anchor="ctr"/>
          <a:lstStyle/>
          <a:p>
            <a:pPr marL="0" indent="0">
              <a:buNone/>
            </a:pPr>
            <a:r>
              <a:rPr lang="en-US" sz="1600" b="1" dirty="0">
                <a:solidFill>
                  <a:srgbClr val="2ECC8F"/>
                </a:solidFill>
              </a:rPr>
              <a:t>Doctor's dashboard</a:t>
            </a:r>
            <a:endParaRPr lang="en-US" sz="1400" dirty="0"/>
          </a:p>
        </p:txBody>
      </p:sp>
      <p:sp>
        <p:nvSpPr>
          <p:cNvPr id="41" name="stack 4 text"/>
          <p:cNvSpPr txBox="1"/>
          <p:nvPr/>
        </p:nvSpPr>
        <p:spPr>
          <a:xfrm>
            <a:off x="777240" y="4526280"/>
            <a:ext cx="3047695" cy="1005840"/>
          </a:xfrm>
          <a:prstGeom prst="rect">
            <a:avLst/>
          </a:prstGeom>
          <a:noFill/>
          <a:ln/>
        </p:spPr>
        <p:txBody>
          <a:bodyPr wrap="square" lIns="0" tIns="0" rIns="0" bIns="0" rtlCol="0" anchor="t"/>
          <a:lstStyle/>
          <a:p>
            <a:pPr marL="0" indent="0">
              <a:buNone/>
            </a:pPr>
            <a:r>
              <a:rPr lang="en-US" sz="1400" b="1" dirty="0">
                <a:solidFill>
                  <a:srgbClr val="F5F7FA"/>
                </a:solidFill>
              </a:rPr>
              <a:t>Streamlit · Plotly</a:t>
            </a:r>
            <a:endParaRPr lang="en-US" sz="1400" dirty="0"/>
          </a:p>
          <a:p>
            <a:pPr marL="0" indent="0">
              <a:buNone/>
            </a:pPr>
            <a:r>
              <a:rPr lang="en-US" sz="1200" b="0" dirty="0">
                <a:solidFill>
                  <a:srgbClr val="B7C0CC"/>
                </a:solidFill>
              </a:rPr>
              <a:t>Runs on a laptop. What-if sliders re-run the twin on the spot.</a:t>
            </a:r>
            <a:endParaRPr lang="en-US" sz="1400" dirty="0"/>
          </a:p>
        </p:txBody>
      </p:sp>
      <p:sp>
        <p:nvSpPr>
          <p:cNvPr id="42" name="stack 5"/>
          <p:cNvSpPr/>
          <p:nvPr/>
        </p:nvSpPr>
        <p:spPr>
          <a:xfrm>
            <a:off x="4327855" y="3657600"/>
            <a:ext cx="3504895" cy="2057400"/>
          </a:xfrm>
          <a:prstGeom prst="roundRect">
            <a:avLst>
              <a:gd name="adj" fmla="val 8475"/>
            </a:avLst>
          </a:prstGeom>
          <a:solidFill>
            <a:srgbClr val="141820"/>
          </a:solidFill>
          <a:ln w="9525">
            <a:solidFill>
              <a:srgbClr val="283040"/>
            </a:solidFill>
            <a:prstDash val="solid"/>
          </a:ln>
        </p:spPr>
      </p:sp>
      <p:sp>
        <p:nvSpPr>
          <p:cNvPr id="43" name="stack 5 circle"/>
          <p:cNvSpPr/>
          <p:nvPr/>
        </p:nvSpPr>
        <p:spPr>
          <a:xfrm>
            <a:off x="4556455" y="3886200"/>
            <a:ext cx="457200" cy="457200"/>
          </a:xfrm>
          <a:prstGeom prst="ellipse">
            <a:avLst/>
          </a:prstGeom>
          <a:solidFill>
            <a:srgbClr val="1F5FBF"/>
          </a:solidFill>
          <a:ln w="12700">
            <a:solidFill>
              <a:srgbClr val="1F5FBF"/>
            </a:solidFill>
            <a:prstDash val="solid"/>
          </a:ln>
        </p:spPr>
        <p:txBody>
          <a:bodyPr/>
          <a:lstStyle/>
          <a:p>
            <a:endParaRPr/>
          </a:p>
        </p:txBody>
      </p:sp>
      <p:pic>
        <p:nvPicPr>
          <p:cNvPr id="44" name="stack 5 icon" descr="data.png"/>
          <p:cNvPicPr>
            <a:picLocks noChangeAspect="1"/>
          </p:cNvPicPr>
          <p:nvPr/>
        </p:nvPicPr>
        <p:blipFill>
          <a:blip r:embed="rId6"/>
          <a:stretch>
            <a:fillRect/>
          </a:stretch>
        </p:blipFill>
        <p:spPr>
          <a:xfrm>
            <a:off x="4666183" y="3995928"/>
            <a:ext cx="237744" cy="237744"/>
          </a:xfrm>
          <a:prstGeom prst="rect">
            <a:avLst/>
          </a:prstGeom>
        </p:spPr>
      </p:pic>
      <p:sp>
        <p:nvSpPr>
          <p:cNvPr id="44" name="stack 5 heading"/>
          <p:cNvSpPr txBox="1"/>
          <p:nvPr/>
        </p:nvSpPr>
        <p:spPr>
          <a:xfrm>
            <a:off x="5150815" y="3886200"/>
            <a:ext cx="2499055" cy="457200"/>
          </a:xfrm>
          <a:prstGeom prst="rect">
            <a:avLst/>
          </a:prstGeom>
          <a:noFill/>
          <a:ln/>
        </p:spPr>
        <p:txBody>
          <a:bodyPr wrap="square" lIns="0" tIns="0" rIns="0" bIns="0" rtlCol="0" anchor="ctr"/>
          <a:lstStyle/>
          <a:p>
            <a:pPr marL="0" indent="0">
              <a:buNone/>
            </a:pPr>
            <a:r>
              <a:rPr lang="en-US" sz="1600" b="1" dirty="0">
                <a:solidFill>
                  <a:srgbClr val="3D8BFF"/>
                </a:solidFill>
              </a:rPr>
              <a:t>Data</a:t>
            </a:r>
            <a:endParaRPr lang="en-US" sz="1400" dirty="0"/>
          </a:p>
        </p:txBody>
      </p:sp>
      <p:sp>
        <p:nvSpPr>
          <p:cNvPr id="45" name="stack 5 text"/>
          <p:cNvSpPr txBox="1"/>
          <p:nvPr/>
        </p:nvSpPr>
        <p:spPr>
          <a:xfrm>
            <a:off x="4556455" y="4526280"/>
            <a:ext cx="3047695" cy="1005840"/>
          </a:xfrm>
          <a:prstGeom prst="rect">
            <a:avLst/>
          </a:prstGeom>
          <a:noFill/>
          <a:ln/>
        </p:spPr>
        <p:txBody>
          <a:bodyPr wrap="square" lIns="0" tIns="0" rIns="0" bIns="0" rtlCol="0" anchor="t"/>
          <a:lstStyle/>
          <a:p>
            <a:pPr marL="0" indent="0">
              <a:buNone/>
            </a:pPr>
            <a:r>
              <a:rPr lang="en-US" sz="1400" b="1" dirty="0">
                <a:solidFill>
                  <a:srgbClr val="F5F7FA"/>
                </a:solidFill>
              </a:rPr>
              <a:t>CGMacros · ShanghaiT2DM · synthetic</a:t>
            </a:r>
            <a:endParaRPr lang="en-US" sz="1400" dirty="0"/>
          </a:p>
          <a:p>
            <a:pPr marL="0" indent="0">
              <a:buNone/>
            </a:pPr>
            <a:r>
              <a:rPr lang="en-US" sz="1200" b="0" dirty="0">
                <a:solidFill>
                  <a:srgbClr val="B7C0CC"/>
                </a:solidFill>
              </a:rPr>
              <a:t>Checksum-verified PhysioNet and figshare downloads, plus Synthea-style synthetic records.</a:t>
            </a:r>
            <a:endParaRPr lang="en-US" sz="1400" dirty="0"/>
          </a:p>
        </p:txBody>
      </p:sp>
      <p:sp>
        <p:nvSpPr>
          <p:cNvPr id="46" name="stack 6"/>
          <p:cNvSpPr/>
          <p:nvPr/>
        </p:nvSpPr>
        <p:spPr>
          <a:xfrm>
            <a:off x="8107070" y="3657600"/>
            <a:ext cx="3504895" cy="2057400"/>
          </a:xfrm>
          <a:prstGeom prst="roundRect">
            <a:avLst>
              <a:gd name="adj" fmla="val 8475"/>
            </a:avLst>
          </a:prstGeom>
          <a:solidFill>
            <a:srgbClr val="141820"/>
          </a:solidFill>
          <a:ln w="9525">
            <a:solidFill>
              <a:srgbClr val="283040"/>
            </a:solidFill>
            <a:prstDash val="solid"/>
          </a:ln>
        </p:spPr>
      </p:sp>
      <p:sp>
        <p:nvSpPr>
          <p:cNvPr id="47" name="stack 6 circle"/>
          <p:cNvSpPr/>
          <p:nvPr/>
        </p:nvSpPr>
        <p:spPr>
          <a:xfrm>
            <a:off x="8335670" y="3886200"/>
            <a:ext cx="457200" cy="457200"/>
          </a:xfrm>
          <a:prstGeom prst="ellipse">
            <a:avLst/>
          </a:prstGeom>
          <a:solidFill>
            <a:srgbClr val="1F5FBF"/>
          </a:solidFill>
          <a:ln w="12700">
            <a:solidFill>
              <a:srgbClr val="1F5FBF"/>
            </a:solidFill>
            <a:prstDash val="solid"/>
          </a:ln>
        </p:spPr>
        <p:txBody>
          <a:bodyPr/>
          <a:lstStyle/>
          <a:p>
            <a:endParaRPr/>
          </a:p>
        </p:txBody>
      </p:sp>
      <p:pic>
        <p:nvPicPr>
          <p:cNvPr id="48" name="stack 6 icon" descr="test.png"/>
          <p:cNvPicPr>
            <a:picLocks noChangeAspect="1"/>
          </p:cNvPicPr>
          <p:nvPr/>
        </p:nvPicPr>
        <p:blipFill>
          <a:blip r:embed="rId7"/>
          <a:stretch>
            <a:fillRect/>
          </a:stretch>
        </p:blipFill>
        <p:spPr>
          <a:xfrm>
            <a:off x="8445398" y="3995928"/>
            <a:ext cx="237744" cy="237744"/>
          </a:xfrm>
          <a:prstGeom prst="rect">
            <a:avLst/>
          </a:prstGeom>
        </p:spPr>
      </p:pic>
      <p:sp>
        <p:nvSpPr>
          <p:cNvPr id="48" name="stack 6 heading"/>
          <p:cNvSpPr txBox="1"/>
          <p:nvPr/>
        </p:nvSpPr>
        <p:spPr>
          <a:xfrm>
            <a:off x="8930030" y="3886200"/>
            <a:ext cx="2499055" cy="457200"/>
          </a:xfrm>
          <a:prstGeom prst="rect">
            <a:avLst/>
          </a:prstGeom>
          <a:noFill/>
          <a:ln/>
        </p:spPr>
        <p:txBody>
          <a:bodyPr wrap="square" lIns="0" tIns="0" rIns="0" bIns="0" rtlCol="0" anchor="ctr"/>
          <a:lstStyle/>
          <a:p>
            <a:pPr marL="0" indent="0">
              <a:buNone/>
            </a:pPr>
            <a:r>
              <a:rPr lang="en-US" sz="1600" b="1" dirty="0">
                <a:solidFill>
                  <a:srgbClr val="F5A623"/>
                </a:solidFill>
              </a:rPr>
              <a:t>Tested and reproducible</a:t>
            </a:r>
            <a:endParaRPr lang="en-US" sz="1400" dirty="0"/>
          </a:p>
        </p:txBody>
      </p:sp>
      <p:sp>
        <p:nvSpPr>
          <p:cNvPr id="49" name="stack 6 text"/>
          <p:cNvSpPr txBox="1"/>
          <p:nvPr/>
        </p:nvSpPr>
        <p:spPr>
          <a:xfrm>
            <a:off x="8335670" y="4526280"/>
            <a:ext cx="3047695" cy="1005840"/>
          </a:xfrm>
          <a:prstGeom prst="rect">
            <a:avLst/>
          </a:prstGeom>
          <a:noFill/>
          <a:ln/>
        </p:spPr>
        <p:txBody>
          <a:bodyPr wrap="square" lIns="0" tIns="0" rIns="0" bIns="0" rtlCol="0" anchor="t"/>
          <a:lstStyle/>
          <a:p>
            <a:pPr marL="0" indent="0">
              <a:buNone/>
            </a:pPr>
            <a:r>
              <a:rPr lang="en-US" sz="1400" b="1" dirty="0">
                <a:solidFill>
                  <a:srgbClr val="F5F7FA"/>
                </a:solidFill>
              </a:rPr>
              <a:t>pytest · matplotlib · pinned versions</a:t>
            </a:r>
            <a:endParaRPr lang="en-US" sz="1400" dirty="0"/>
          </a:p>
          <a:p>
            <a:pPr marL="0" indent="0">
              <a:buNone/>
            </a:pPr>
            <a:r>
              <a:rPr lang="en-US" sz="1200" b="0" dirty="0">
                <a:solidFill>
                  <a:srgbClr val="B7C0CC"/>
                </a:solidFill>
              </a:rPr>
              <a:t>15 automated tests. One command rebuilds every number and figure in this deck.</a:t>
            </a:r>
            <a:endParaRPr lang="en-US" sz="1400" dirty="0"/>
          </a:p>
        </p:txBody>
      </p:sp>
      <p:sp>
        <p:nvSpPr>
          <p:cNvPr id="50" name="source"/>
          <p:cNvSpPr txBox="1"/>
          <p:nvPr/>
        </p:nvSpPr>
        <p:spPr>
          <a:xfrm>
            <a:off x="548640" y="5943600"/>
            <a:ext cx="11064240" cy="384048"/>
          </a:xfrm>
          <a:prstGeom prst="rect">
            <a:avLst/>
          </a:prstGeom>
          <a:noFill/>
          <a:ln/>
        </p:spPr>
        <p:txBody>
          <a:bodyPr wrap="square" lIns="0" tIns="0" rIns="0" bIns="0" rtlCol="0" anchor="b"/>
          <a:lstStyle/>
          <a:p>
            <a:pPr marL="0" indent="0">
              <a:buNone/>
            </a:pPr>
            <a:r>
              <a:rPr lang="en-US" sz="1000" dirty="0" b="0">
                <a:solidFill>
                  <a:srgbClr val="7D8794"/>
                </a:solidFill>
              </a:rPr>
              <a:t>Exact versions: requirements-lock.txt. Licences: code MIT; CGMacros CC BY-NC-SA 4.0; ShanghaiT2DM CC BY 4.0. Icons: Font Awesome (CC BY 4.0).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731520" y="1188720"/>
            <a:ext cx="10698480" cy="1645920"/>
          </a:xfrm>
          <a:prstGeom prst="rect">
            <a:avLst/>
          </a:prstGeom>
          <a:noFill/>
          <a:ln/>
        </p:spPr>
        <p:txBody>
          <a:bodyPr wrap="square" lIns="0" tIns="0" rIns="0" bIns="0" rtlCol="0" anchor="ctr"/>
          <a:lstStyle/>
          <a:p>
            <a:pPr marL="0" indent="0" algn="l">
              <a:buNone/>
            </a:pPr>
            <a:r>
              <a:rPr lang="en-US" sz="4400" dirty="0">
                <a:solidFill>
                  <a:srgbClr val="FFFFFF"/>
                </a:solidFill>
                <a:latin typeface="Calibri Light" pitchFamily="34" charset="0"/>
                <a:ea typeface="Calibri Light" pitchFamily="34" charset="-122"/>
                <a:cs typeface="Calibri Light" pitchFamily="34" charset="-120"/>
              </a:rPr>
              <a:t>Open, tested, reproducible</a:t>
            </a:r>
            <a:endParaRPr lang="en-US" sz="4400" dirty="0"/>
          </a:p>
        </p:txBody>
      </p:sp>
      <p:sp>
        <p:nvSpPr>
          <p:cNvPr id="4" name="terminal"/>
          <p:cNvSpPr/>
          <p:nvPr/>
        </p:nvSpPr>
        <p:spPr>
          <a:xfrm>
            <a:off x="731520" y="2926080"/>
            <a:ext cx="10698480" cy="1737360"/>
          </a:xfrm>
          <a:prstGeom prst="roundRect">
            <a:avLst>
              <a:gd name="adj" fmla="val 5263"/>
            </a:avLst>
          </a:prstGeom>
          <a:solidFill>
            <a:srgbClr val="05070A"/>
          </a:solidFill>
          <a:ln w="9525">
            <a:solidFill>
              <a:srgbClr val="283040"/>
            </a:solidFill>
            <a:prstDash val="solid"/>
          </a:ln>
        </p:spPr>
      </p:sp>
      <p:sp>
        <p:nvSpPr>
          <p:cNvPr id="5" name="commands"/>
          <p:cNvSpPr txBox="1"/>
          <p:nvPr/>
        </p:nvSpPr>
        <p:spPr>
          <a:xfrm>
            <a:off x="960120" y="3017520"/>
            <a:ext cx="10332720" cy="1554480"/>
          </a:xfrm>
          <a:prstGeom prst="rect">
            <a:avLst/>
          </a:prstGeom>
          <a:noFill/>
          <a:ln/>
        </p:spPr>
        <p:txBody>
          <a:bodyPr wrap="square" lIns="0" tIns="0" rIns="0" bIns="0" rtlCol="0" anchor="ctr"/>
          <a:lstStyle/>
          <a:p>
            <a:pPr marL="0" indent="0">
              <a:buNone/>
            </a:pPr>
            <a:r>
              <a:rPr lang="en-US" sz="1500" dirty="0">
                <a:solidFill>
                  <a:srgbClr val="F5A623"/>
                </a:solidFill>
                <a:latin typeface="Consolas" pitchFamily="34" charset="0"/>
                <a:ea typeface="Consolas" pitchFamily="34" charset="-122"/>
                <a:cs typeface="Consolas" pitchFamily="34" charset="-120"/>
              </a:rPr>
              <a:t>&gt; .venv\Scripts\python -I -m pytest -q</a:t>
            </a:r>
            <a:endParaRPr lang="en-US" sz="1500" dirty="0"/>
          </a:p>
          <a:p>
            <a:pPr marL="0" indent="0">
              <a:buNone/>
            </a:pPr>
            <a:r>
              <a:rPr lang="en-US" sz="1500" dirty="0">
                <a:solidFill>
                  <a:srgbClr val="2ECC8F"/>
                </a:solidFill>
                <a:latin typeface="Consolas" pitchFamily="34" charset="0"/>
                <a:ea typeface="Consolas" pitchFamily="34" charset="-122"/>
                <a:cs typeface="Consolas" pitchFamily="34" charset="-120"/>
              </a:rPr>
              <a:t>15 passed   physics · filter learning · range coverage · no future leaks · dashboard</a:t>
            </a:r>
            <a:endParaRPr lang="en-US" sz="1500" dirty="0"/>
          </a:p>
          <a:p>
            <a:pPr marL="0" indent="0">
              <a:buNone/>
            </a:pPr>
            <a:r>
              <a:rPr lang="en-US" sz="1500" dirty="0">
                <a:solidFill>
                  <a:srgbClr val="F5A623"/>
                </a:solidFill>
                <a:latin typeface="Consolas" pitchFamily="34" charset="0"/>
                <a:ea typeface="Consolas" pitchFamily="34" charset="-122"/>
                <a:cs typeface="Consolas" pitchFamily="34" charset="-120"/>
              </a:rPr>
              <a:t>&gt; python -I -m twin.evaluate        every number in this talk</a:t>
            </a:r>
            <a:endParaRPr lang="en-US" sz="1500" dirty="0"/>
          </a:p>
        </p:txBody>
      </p:sp>
      <p:sp>
        <p:nvSpPr>
          <p:cNvPr id="6" name="repo"/>
          <p:cNvSpPr txBox="1"/>
          <p:nvPr/>
        </p:nvSpPr>
        <p:spPr>
          <a:xfrm>
            <a:off x="731520" y="4937760"/>
            <a:ext cx="10515600" cy="457200"/>
          </a:xfrm>
          <a:prstGeom prst="rect">
            <a:avLst/>
          </a:prstGeom>
          <a:noFill/>
          <a:ln/>
        </p:spPr>
        <p:txBody>
          <a:bodyPr wrap="square" lIns="0" tIns="0" rIns="0" bIns="0" rtlCol="0" anchor="t"/>
          <a:lstStyle/>
          <a:p>
            <a:pPr marL="0" indent="0">
              <a:buNone/>
            </a:pPr>
            <a:r>
              <a:rPr lang="en-US" sz="1800" dirty="0">
                <a:solidFill>
                  <a:srgbClr val="FFFFFF"/>
                </a:solidFill>
              </a:rPr>
              <a:t xml:space="preserve">Code, notebooks, tests and this deck: </a:t>
            </a:r>
            <a:r>
              <a:rPr lang="en-US" sz="1800" u="sng" dirty="0">
                <a:solidFill>
                  <a:srgbClr val="FFFFFF"/>
                </a:solidFill>
                <a:hlinkClick r:id="rId99">
                  <a:extLst>
                    <a:ext uri="{A12FA001-AC4F-418D-AE19-62706E023703}">
                      <ahyp:hlinkClr xmlns:ahyp="http://schemas.microsoft.com/office/drawing/2018/hyperlinkcolor" val="tx"/>
                    </a:ext>
                  </a:extLst>
                </a:hlinkClick>
              </a:rPr>
              <a:t>github.com/iamtharunj/Adorable_Vellore_Institute_of_Technology</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731520" y="914400"/>
            <a:ext cx="8686800" cy="1097280"/>
          </a:xfrm>
          <a:prstGeom prst="rect">
            <a:avLst/>
          </a:prstGeom>
          <a:noFill/>
          <a:ln/>
        </p:spPr>
        <p:txBody>
          <a:bodyPr wrap="square" lIns="0" tIns="0" rIns="0" bIns="0" rtlCol="0" anchor="ctr"/>
          <a:lstStyle/>
          <a:p>
            <a:pPr marL="0" indent="0" algn="l">
              <a:buNone/>
            </a:pPr>
            <a:r>
              <a:rPr lang="en-US" sz="4600" dirty="0">
                <a:solidFill>
                  <a:srgbClr val="FFFFFF"/>
                </a:solidFill>
                <a:latin typeface="Calibri Light" pitchFamily="34" charset="0"/>
                <a:ea typeface="Calibri Light" pitchFamily="34" charset="-122"/>
                <a:cs typeface="Calibri Light" pitchFamily="34" charset="-120"/>
              </a:rPr>
              <a:t>See the spike before it happens</a:t>
            </a:r>
            <a:endParaRPr lang="en-US" sz="4600" dirty="0"/>
          </a:p>
        </p:txBody>
      </p:sp>
      <p:sp>
        <p:nvSpPr>
          <p:cNvPr id="4" name="ask"/>
          <p:cNvSpPr txBox="1"/>
          <p:nvPr/>
        </p:nvSpPr>
        <p:spPr>
          <a:xfrm>
            <a:off x="731520" y="2148840"/>
            <a:ext cx="8686800" cy="822960"/>
          </a:xfrm>
          <a:prstGeom prst="rect">
            <a:avLst/>
          </a:prstGeom>
          <a:noFill/>
          <a:ln/>
        </p:spPr>
        <p:txBody>
          <a:bodyPr wrap="square" lIns="0" tIns="0" rIns="0" bIns="0" rtlCol="0" anchor="t"/>
          <a:lstStyle/>
          <a:p>
            <a:pPr marL="0" indent="0">
              <a:buNone/>
            </a:pPr>
            <a:r>
              <a:rPr lang="en-US" sz="2200" dirty="0">
                <a:solidFill>
                  <a:srgbClr val="B7C0CC"/>
                </a:solidFill>
              </a:rPr>
              <a:t>Next: a 3-month hospital pilot with 100 to 200 Indian patients. We'd love a hospital partner for it.</a:t>
            </a:r>
            <a:endParaRPr lang="en-US" sz="2200" dirty="0"/>
          </a:p>
        </p:txBody>
      </p:sp>
      <p:sp>
        <p:nvSpPr>
          <p:cNvPr id="5" name="thanks"/>
          <p:cNvSpPr txBox="1"/>
          <p:nvPr/>
        </p:nvSpPr>
        <p:spPr>
          <a:xfrm>
            <a:off x="731520" y="4206240"/>
            <a:ext cx="10058400" cy="1188720"/>
          </a:xfrm>
          <a:prstGeom prst="rect">
            <a:avLst/>
          </a:prstGeom>
          <a:noFill/>
          <a:ln/>
        </p:spPr>
        <p:txBody>
          <a:bodyPr wrap="square" lIns="0" tIns="0" rIns="0" bIns="0" rtlCol="0" anchor="t"/>
          <a:lstStyle/>
          <a:p>
            <a:pPr marL="0" indent="0">
              <a:buNone/>
            </a:pPr>
            <a:r>
              <a:rPr lang="en-US" sz="3000" b="1" dirty="0">
                <a:solidFill>
                  <a:srgbClr val="FFFFFF"/>
                </a:solidFill>
              </a:rPr>
              <a:t>Thank you</a:t>
            </a:r>
            <a:endParaRPr lang="en-US" sz="1400" dirty="0"/>
          </a:p>
          <a:p>
            <a:pPr marL="0" indent="0">
              <a:buNone/>
            </a:pPr>
            <a:r>
              <a:rPr lang="en-US" sz="1600" dirty="0">
                <a:solidFill>
                  <a:srgbClr val="B7C0CC"/>
                </a:solidFill>
              </a:rPr>
              <a:t>Team Adorable   ·   Tharun J, VIT Vellore   ·   Gargi Sharma, ABES Institute of Technology, Ghaziabad</a:t>
            </a:r>
            <a:endParaRPr lang="en-US" sz="1400" dirty="0"/>
          </a:p>
          <a:p>
            <a:pPr marL="0" indent="0">
              <a:spcBef>
                <a:spcPts val="600"/>
              </a:spcBef>
              <a:buNone/>
            </a:pPr>
            <a:r>
              <a:rPr lang="en-US" sz="1600" u="sng" dirty="0">
                <a:solidFill>
                  <a:srgbClr val="B7C0CC"/>
                </a:solidFill>
                <a:hlinkClick r:id="rId99">
                  <a:extLst>
                    <a:ext uri="{A12FA001-AC4F-418D-AE19-62706E023703}">
                      <ahyp:hlinkClr xmlns:ahyp="http://schemas.microsoft.com/office/drawing/2018/hyperlinkcolor" val="tx"/>
                    </a:ext>
                  </a:extLst>
                </a:hlinkClick>
              </a:rPr>
              <a:t>github.com/iamtharunj/Adorable_Vellore_Institute_of_Technology</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dirty="0">
                <a:solidFill>
                  <a:srgbClr val="FFFFFF"/>
                </a:solidFill>
                <a:latin typeface="Calibri Light" pitchFamily="34" charset="0"/>
                <a:ea typeface="Calibri Light" pitchFamily="34" charset="-122"/>
                <a:cs typeface="Calibri Light" pitchFamily="34" charset="-120"/>
              </a:rPr>
              <a:t>References</a:t>
            </a:r>
            <a:endParaRPr lang="en-US" sz="3400" dirty="0"/>
          </a:p>
        </p:txBody>
      </p:sp>
      <p:sp>
        <p:nvSpPr>
          <p:cNvPr id="4" name="refs col 1"/>
          <p:cNvSpPr txBox="1"/>
          <p:nvPr/>
        </p:nvSpPr>
        <p:spPr>
          <a:xfrm>
            <a:off x="548640" y="1188720"/>
            <a:ext cx="5440680" cy="4800600"/>
          </a:xfrm>
          <a:prstGeom prst="rect">
            <a:avLst/>
          </a:prstGeom>
          <a:noFill/>
          <a:ln/>
        </p:spPr>
        <p:txBody>
          <a:bodyPr wrap="square" lIns="0" tIns="0" rIns="0" bIns="0" rtlCol="0" anchor="t"/>
          <a:lstStyle/>
          <a:p>
            <a:pPr marL="0" indent="0">
              <a:spcAft>
                <a:spcPts val="400"/>
              </a:spcAft>
              <a:buNone/>
            </a:pPr>
            <a:r>
              <a:rPr lang="en-US" sz="1050" dirty="0">
                <a:solidFill>
                  <a:srgbClr val="B7C0CC"/>
                </a:solidFill>
              </a:rPr>
              <a:t>[1]  Gulf News (IANS/Reuters), 9 Jun 2023. India study estimates 11% of population or 101 million is diabetic.</a:t>
            </a:r>
            <a:endParaRPr lang="en-US" sz="1050" dirty="0"/>
          </a:p>
          <a:p>
            <a:pPr marL="0" indent="0">
              <a:spcAft>
                <a:spcPts val="400"/>
              </a:spcAft>
              <a:buNone/>
            </a:pPr>
            <a:r>
              <a:rPr lang="en-US" sz="1050" dirty="0">
                <a:solidFill>
                  <a:srgbClr val="B7C0CC"/>
                </a:solidFill>
              </a:rPr>
              <a:t>[2]  Anjana RM et al. Metabolic non-communicable disease health report of India: ICMR-INDIAB-17. Lancet Diabetes Endocrinol 2023;11:474-89.</a:t>
            </a:r>
            <a:endParaRPr lang="en-US" sz="1050" dirty="0"/>
          </a:p>
          <a:p>
            <a:pPr marL="0" indent="0">
              <a:spcAft>
                <a:spcPts val="400"/>
              </a:spcAft>
              <a:buNone/>
            </a:pPr>
            <a:r>
              <a:rPr lang="en-US" sz="1050" dirty="0">
                <a:solidFill>
                  <a:srgbClr val="B7C0CC"/>
                </a:solidFill>
              </a:rPr>
              <a:t>[3]  NCD Risk Factor Collaboration. Worldwide trends in diabetes prevalence and treatment, 1990-2022. Lancet 2024;404:2077-93 (Imperial College London news, 13 Nov 2024).</a:t>
            </a:r>
            <a:endParaRPr lang="en-US" sz="1050" dirty="0"/>
          </a:p>
          <a:p>
            <a:pPr marL="0" indent="0">
              <a:spcAft>
                <a:spcPts val="400"/>
              </a:spcAft>
              <a:buNone/>
            </a:pPr>
            <a:r>
              <a:rPr lang="en-US" sz="1050" dirty="0">
                <a:solidFill>
                  <a:srgbClr val="B7C0CC"/>
                </a:solidFill>
              </a:rPr>
              <a:t>[4]  World Health Organization. Diabetes fact sheet, 14 Nov 2024.</a:t>
            </a:r>
            <a:endParaRPr lang="en-US" sz="1050" dirty="0"/>
          </a:p>
          <a:p>
            <a:pPr marL="0" indent="0">
              <a:spcAft>
                <a:spcPts val="400"/>
              </a:spcAft>
              <a:buNone/>
            </a:pPr>
            <a:r>
              <a:rPr lang="en-US" sz="1050" dirty="0">
                <a:solidFill>
                  <a:srgbClr val="B7C0CC"/>
                </a:solidFill>
              </a:rPr>
              <a:t>[5]  International Diabetes Federation. IDF Diabetes Atlas, 11th edition, 2025; India country report 2000-2050.</a:t>
            </a:r>
            <a:endParaRPr lang="en-US" sz="1050" dirty="0"/>
          </a:p>
          <a:p>
            <a:pPr marL="0" indent="0">
              <a:spcAft>
                <a:spcPts val="400"/>
              </a:spcAft>
              <a:buNone/>
            </a:pPr>
            <a:r>
              <a:rPr lang="en-US" sz="1050" dirty="0">
                <a:solidFill>
                  <a:srgbClr val="B7C0CC"/>
                </a:solidFill>
              </a:rPr>
              <a:t>[6]  Anjana RM et al. Macronutrient recommendations for remission and prevention of type 2 diabetes in Asian Indians. Diabetes Care 2022;45:2883-91.</a:t>
            </a:r>
            <a:endParaRPr lang="en-US" sz="1050" dirty="0"/>
          </a:p>
          <a:p>
            <a:pPr marL="0" indent="0">
              <a:spcAft>
                <a:spcPts val="400"/>
              </a:spcAft>
              <a:buNone/>
            </a:pPr>
            <a:r>
              <a:rPr lang="en-US" sz="1050" dirty="0">
                <a:solidFill>
                  <a:srgbClr val="B7C0CC"/>
                </a:solidFill>
              </a:rPr>
              <a:t>[7]  Gupta (2025). Continuous glucose monitoring metrics in 649 Indian patients with type 2 diabetes on a first sensor. Cureus.</a:t>
            </a:r>
            <a:endParaRPr lang="en-US" sz="1050" dirty="0"/>
          </a:p>
          <a:p>
            <a:pPr marL="0" indent="0">
              <a:spcAft>
                <a:spcPts val="400"/>
              </a:spcAft>
              <a:buNone/>
            </a:pPr>
            <a:r>
              <a:rPr lang="en-US" sz="1050" dirty="0">
                <a:solidFill>
                  <a:srgbClr val="B7C0CC"/>
                </a:solidFill>
              </a:rPr>
              <a:t>[8]  Battelino T et al. Continuous glucose monitoring and metrics for clinical trials: an international consensus. Lancet Diabetes Endocrinol 2023;11:42-57.</a:t>
            </a:r>
            <a:endParaRPr lang="en-US" sz="1050" dirty="0"/>
          </a:p>
          <a:p>
            <a:pPr marL="0" indent="0">
              <a:spcAft>
                <a:spcPts val="400"/>
              </a:spcAft>
              <a:buNone/>
            </a:pPr>
            <a:r>
              <a:rPr lang="en-US" sz="1050" dirty="0">
                <a:solidFill>
                  <a:srgbClr val="B7C0CC"/>
                </a:solidFill>
              </a:rPr>
              <a:t>[9]  National Academies of Sciences, Engineering, and Medicine. Foundational Research Gaps and Future Directions for Digital Twins. 2023.</a:t>
            </a:r>
            <a:endParaRPr lang="en-US" sz="1050" dirty="0"/>
          </a:p>
          <a:p>
            <a:pPr marL="0" indent="0">
              <a:spcAft>
                <a:spcPts val="400"/>
              </a:spcAft>
              <a:buNone/>
            </a:pPr>
            <a:r>
              <a:rPr lang="en-US" sz="1050" dirty="0">
                <a:solidFill>
                  <a:srgbClr val="B7C0CC"/>
                </a:solidFill>
              </a:rPr>
              <a:t>[10]  Tudor BH et al. A scoping review of human digital twins in healthcare applications and usage patterns. npj Digital Medicine 2025.</a:t>
            </a:r>
            <a:endParaRPr lang="en-US" sz="1050" dirty="0"/>
          </a:p>
          <a:p>
            <a:pPr marL="0" indent="0">
              <a:spcAft>
                <a:spcPts val="400"/>
              </a:spcAft>
              <a:buNone/>
            </a:pPr>
            <a:r>
              <a:rPr lang="en-US" sz="1050" dirty="0">
                <a:solidFill>
                  <a:srgbClr val="B7C0CC"/>
                </a:solidFill>
              </a:rPr>
              <a:t>[11]  Das A et al. CGMacros: a scientific dataset for personalized nutrition and diet monitoring. Scientific Data 2025;12:1557; PhysioNet doi:10.13026/3z8q-x658.</a:t>
            </a:r>
            <a:endParaRPr lang="en-US" sz="1050" dirty="0"/>
          </a:p>
          <a:p>
            <a:pPr marL="0" indent="0">
              <a:spcAft>
                <a:spcPts val="400"/>
              </a:spcAft>
              <a:buNone/>
            </a:pPr>
            <a:r>
              <a:rPr lang="en-US" sz="1050" dirty="0">
                <a:solidFill>
                  <a:srgbClr val="B7C0CC"/>
                </a:solidFill>
              </a:rPr>
              <a:t>[12]  Zhao Q et al. Chinese diabetes datasets for data-driven machine learning (ShanghaiT2DM). Scientific Data 2023;10:35.</a:t>
            </a:r>
            <a:endParaRPr lang="en-US" sz="1050" dirty="0"/>
          </a:p>
          <a:p>
            <a:pPr marL="0" indent="0">
              <a:spcAft>
                <a:spcPts val="400"/>
              </a:spcAft>
              <a:buNone/>
            </a:pPr>
            <a:r>
              <a:rPr lang="en-US" sz="1050" dirty="0">
                <a:solidFill>
                  <a:srgbClr val="B7C0CC"/>
                </a:solidFill>
              </a:rPr>
              <a:t>[13]  Anjana RM et al. Dietary profiles and metabolic risk in India (ICMR-INDIAB-21). Nature Medicine 2025.</a:t>
            </a:r>
            <a:endParaRPr lang="en-US" sz="1050" dirty="0"/>
          </a:p>
        </p:txBody>
      </p:sp>
      <p:sp>
        <p:nvSpPr>
          <p:cNvPr id="5" name="refs col 2"/>
          <p:cNvSpPr txBox="1"/>
          <p:nvPr/>
        </p:nvSpPr>
        <p:spPr>
          <a:xfrm>
            <a:off x="6172200" y="1188720"/>
            <a:ext cx="5440680" cy="4800600"/>
          </a:xfrm>
          <a:prstGeom prst="rect">
            <a:avLst/>
          </a:prstGeom>
          <a:noFill/>
          <a:ln/>
        </p:spPr>
        <p:txBody>
          <a:bodyPr wrap="square" lIns="0" tIns="0" rIns="0" bIns="0" rtlCol="0" anchor="t"/>
          <a:lstStyle/>
          <a:p>
            <a:pPr marL="0" indent="0">
              <a:spcAft>
                <a:spcPts val="400"/>
              </a:spcAft>
              <a:buNone/>
            </a:pPr>
            <a:r>
              <a:rPr lang="en-US" sz="1050" dirty="0">
                <a:solidFill>
                  <a:srgbClr val="B7C0CC"/>
                </a:solidFill>
              </a:rPr>
              <a:t>[14]  Vijayakumar A et al. Development of an Indian Food Composition Database (INDB). Curr Dev Nutr 2024;8:103790.</a:t>
            </a:r>
            <a:endParaRPr lang="en-US" sz="1050" dirty="0"/>
          </a:p>
          <a:p>
            <a:pPr marL="0" indent="0">
              <a:spcAft>
                <a:spcPts val="400"/>
              </a:spcAft>
              <a:buNone/>
            </a:pPr>
            <a:r>
              <a:rPr lang="en-US" sz="1050" dirty="0">
                <a:solidFill>
                  <a:srgbClr val="B7C0CC"/>
                </a:solidFill>
              </a:rPr>
              <a:t>[15]  Shobana S et al. Carbohydrate profiling and glycaemic indices of selected traditional Indian foods. Indian J Med Res 2022;155:56-65.</a:t>
            </a:r>
            <a:endParaRPr lang="en-US" sz="1050" dirty="0"/>
          </a:p>
          <a:p>
            <a:pPr marL="0" indent="0">
              <a:spcAft>
                <a:spcPts val="400"/>
              </a:spcAft>
              <a:buNone/>
            </a:pPr>
            <a:r>
              <a:rPr lang="en-US" sz="1050" dirty="0">
                <a:solidFill>
                  <a:srgbClr val="B7C0CC"/>
                </a:solidFill>
              </a:rPr>
              <a:t>[16]  Nathan DM et al. Translating the A1C assay into estimated average glucose values (ADAG). Diabetes Care 2008;31:1473-8.</a:t>
            </a:r>
            <a:endParaRPr lang="en-US" sz="1050" dirty="0"/>
          </a:p>
          <a:p>
            <a:pPr marL="0" indent="0">
              <a:spcAft>
                <a:spcPts val="400"/>
              </a:spcAft>
              <a:buNone/>
            </a:pPr>
            <a:r>
              <a:rPr lang="en-US" sz="1050" dirty="0">
                <a:solidFill>
                  <a:srgbClr val="B7C0CC"/>
                </a:solidFill>
              </a:rPr>
              <a:t>[17]  Bergman RN et al. Quantitative estimation of insulin sensitivity (minimal model). Am J Physiol 1979;236:E667-77.</a:t>
            </a:r>
            <a:endParaRPr lang="en-US" sz="1050" dirty="0"/>
          </a:p>
          <a:p>
            <a:pPr marL="0" indent="0">
              <a:spcAft>
                <a:spcPts val="400"/>
              </a:spcAft>
              <a:buNone/>
            </a:pPr>
            <a:r>
              <a:rPr lang="en-US" sz="1050" dirty="0">
                <a:solidFill>
                  <a:srgbClr val="B7C0CC"/>
                </a:solidFill>
              </a:rPr>
              <a:t>[18]  Evensen G. Sequential data assimilation with a nonlinear model using Monte Carlo methods (ensemble Kalman filter). J Geophys Res 1994;99(C5).</a:t>
            </a:r>
            <a:endParaRPr lang="en-US" sz="1050" dirty="0"/>
          </a:p>
          <a:p>
            <a:pPr marL="0" indent="0">
              <a:spcAft>
                <a:spcPts val="400"/>
              </a:spcAft>
              <a:buNone/>
            </a:pPr>
            <a:r>
              <a:rPr lang="en-US" sz="1050" dirty="0">
                <a:solidFill>
                  <a:srgbClr val="B7C0CC"/>
                </a:solidFill>
              </a:rPr>
              <a:t>[19]  Ke G et al. LightGBM: a highly efficient gradient boosting decision tree. NeurIPS 2017.</a:t>
            </a:r>
            <a:endParaRPr lang="en-US" sz="1050" dirty="0"/>
          </a:p>
          <a:p>
            <a:pPr marL="0" indent="0">
              <a:spcAft>
                <a:spcPts val="400"/>
              </a:spcAft>
              <a:buNone/>
            </a:pPr>
            <a:r>
              <a:rPr lang="en-US" sz="1050" dirty="0">
                <a:solidFill>
                  <a:srgbClr val="B7C0CC"/>
                </a:solidFill>
              </a:rPr>
              <a:t>[20]  Ansari AF et al. Chronos-2: from univariate to universal forecasting. arXiv:2510.15821, 2025.</a:t>
            </a:r>
            <a:endParaRPr lang="en-US" sz="1050" dirty="0"/>
          </a:p>
          <a:p>
            <a:pPr marL="0" indent="0">
              <a:spcAft>
                <a:spcPts val="400"/>
              </a:spcAft>
              <a:buNone/>
            </a:pPr>
            <a:r>
              <a:rPr lang="en-US" sz="1050" dirty="0">
                <a:solidFill>
                  <a:srgbClr val="B7C0CC"/>
                </a:solidFill>
              </a:rPr>
              <a:t>[21]  Romano Y, Patterson E, Candès E. Conformalized quantile regression. NeurIPS 2019.</a:t>
            </a:r>
            <a:endParaRPr lang="en-US" sz="1050" dirty="0"/>
          </a:p>
          <a:p>
            <a:pPr marL="0" indent="0">
              <a:spcAft>
                <a:spcPts val="400"/>
              </a:spcAft>
              <a:buNone/>
            </a:pPr>
            <a:r>
              <a:rPr lang="en-US" sz="1050" dirty="0">
                <a:solidFill>
                  <a:srgbClr val="B7C0CC"/>
                </a:solidFill>
              </a:rPr>
              <a:t>[22]  Gibbs I, Candès E. Adaptive conformal inference under distribution shift. NeurIPS 2021.</a:t>
            </a:r>
            <a:endParaRPr lang="en-US" sz="1050" dirty="0"/>
          </a:p>
          <a:p>
            <a:pPr marL="0" indent="0">
              <a:spcAft>
                <a:spcPts val="400"/>
              </a:spcAft>
              <a:buNone/>
            </a:pPr>
            <a:r>
              <a:rPr lang="en-US" sz="1050" dirty="0">
                <a:solidFill>
                  <a:srgbClr val="B7C0CC"/>
                </a:solidFill>
              </a:rPr>
              <a:t>[23]  Goswami M et al. MOMENT: a family of open time-series foundation models. ICML 2024.</a:t>
            </a:r>
            <a:endParaRPr lang="en-US" sz="1050" dirty="0"/>
          </a:p>
          <a:p>
            <a:pPr marL="0" indent="0">
              <a:spcAft>
                <a:spcPts val="400"/>
              </a:spcAft>
              <a:buNone/>
            </a:pPr>
            <a:r>
              <a:rPr lang="en-US" sz="1050" dirty="0">
                <a:solidFill>
                  <a:srgbClr val="B7C0CC"/>
                </a:solidFill>
              </a:rPr>
              <a:t>[24]  Yue Z et al. TS2Vec: towards universal representation of time series. AAAI 2022.</a:t>
            </a:r>
            <a:endParaRPr lang="en-US" sz="1050" dirty="0"/>
          </a:p>
          <a:p>
            <a:pPr marL="0" indent="0">
              <a:spcAft>
                <a:spcPts val="400"/>
              </a:spcAft>
              <a:buNone/>
            </a:pPr>
            <a:r>
              <a:rPr lang="en-US" sz="1050" dirty="0">
                <a:solidFill>
                  <a:srgbClr val="B7C0CC"/>
                </a:solidFill>
              </a:rPr>
              <a:t>[25]  Nie Y et al. A time series is worth 64 words: long-term forecasting with transformers (PatchTST). ICLR 2023.</a:t>
            </a:r>
            <a:endParaRPr lang="en-US" sz="1050" dirty="0"/>
          </a:p>
          <a:p>
            <a:pPr marL="0" indent="0">
              <a:spcAft>
                <a:spcPts val="400"/>
              </a:spcAft>
              <a:buNone/>
            </a:pPr>
            <a:r>
              <a:rPr lang="en-US" sz="1050" dirty="0">
                <a:solidFill>
                  <a:srgbClr val="B7C0CC"/>
                </a:solidFill>
              </a:rPr>
              <a:t>[26]  Hochreiter S, Schmidhuber J. Long short-term memory. Neural Computation 1997; Cho K et al. GRU encoder-decoder. EMNLP 2014.</a:t>
            </a:r>
            <a:endParaRPr lang="en-US" sz="1050" dirty="0"/>
          </a:p>
          <a:p>
            <a:pPr marL="0" indent="0">
              <a:spcAft>
                <a:spcPts val="400"/>
              </a:spcAft>
              <a:buNone/>
            </a:pPr>
            <a:r>
              <a:rPr lang="en-US" sz="1050" dirty="0">
                <a:solidFill>
                  <a:srgbClr val="B7C0CC"/>
                </a:solidFill>
              </a:rPr>
              <a:t>[27]  Walonoski J et al. Synthea: an approach, method, and software mechanism for generating synthetic patients. JAMIA 2018;25:230-8.</a:t>
            </a:r>
            <a:endParaRPr lang="en-US" sz="1050" dirty="0"/>
          </a:p>
        </p:txBody>
      </p:sp>
      <p:sp>
        <p:nvSpPr>
          <p:cNvPr id="6" name="source"/>
          <p:cNvSpPr txBox="1"/>
          <p:nvPr/>
        </p:nvSpPr>
        <p:spPr>
          <a:xfrm>
            <a:off x="548640" y="6053328"/>
            <a:ext cx="11064240" cy="274320"/>
          </a:xfrm>
          <a:prstGeom prst="rect">
            <a:avLst/>
          </a:prstGeom>
          <a:noFill/>
          <a:ln/>
        </p:spPr>
        <p:txBody>
          <a:bodyPr wrap="square" lIns="0" tIns="0" rIns="0" bIns="0" rtlCol="0" anchor="b"/>
          <a:lstStyle/>
          <a:p>
            <a:pPr marL="0" indent="0">
              <a:buNone/>
            </a:pPr>
            <a:r>
              <a:rPr lang="en-US" sz="1000" dirty="0">
                <a:solidFill>
                  <a:srgbClr val="7D8794"/>
                </a:solidFill>
              </a:rPr>
              <a:t>Photos: Wikimedia Commons, credited on each slide and in docs/IMAGE_CREDITS.md. Template: Office "Dark Gradient". Icons: Font Awesome (CC BY 4.0).</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 xmlns:ma14="http://schemas.microsoft.com/office/mac/drawingml/2011/main" val="0"/>
            </a:ext>
          </a:extLst>
        </p:spPr>
        <p:txBody>
          <a:bodyPr/>
          <a:lstStyle>
            <a:lvl1pPr>
              <a:defRPr sz="1000">
                <a:solidFill>
                  <a:srgbClr val="7D8794"/>
                </a:solidFill>
              </a:defRPr>
            </a:lvl1pPr>
          </a:lstStyle>
          <a:p>
            <a:pPr algn="r"/>
            <a:fld id="{F7021451-1387-4CA6-816F-3879F97B5CBC}" type="slidenum">
              <a:rPr lang="en-US" b="0"/>
              <a:t>23</a:t>
            </a:fld>
            <a:endParaRPr lang="en-US"/>
          </a:p>
        </p:txBody>
      </p:sp>
    </p:spTree>
  </p:cSld>
  <p:clrMapOvr>
    <a:masterClrMapping/>
  </p:clrMapOvr>
</p:sld>
</file>

<file path=ppt/theme/theme1.xml><?xml version="1.0" encoding="utf-8"?>
<a:theme xmlns:a="http://schemas.openxmlformats.org/drawingml/2006/main" name="PrandialTwin Dark Gradient">
  <a:themeElements>
    <a:clrScheme name="PrandialTwin Dark Gradient">
      <a:dk1>
        <a:srgbClr val="000000"/>
      </a:dk1>
      <a:lt1>
        <a:srgbClr val="FFFFFF"/>
      </a:lt1>
      <a:dk2>
        <a:srgbClr val="141820"/>
      </a:dk2>
      <a:lt2>
        <a:srgbClr val="F5F7FA"/>
      </a:lt2>
      <a:accent1>
        <a:srgbClr val="3D8BFF"/>
      </a:accent1>
      <a:accent2>
        <a:srgbClr val="F5A623"/>
      </a:accent2>
      <a:accent3>
        <a:srgbClr val="2ECC8F"/>
      </a:accent3>
      <a:accent4>
        <a:srgbClr val="1F5FBF"/>
      </a:accent4>
      <a:accent5>
        <a:srgbClr val="E5533D"/>
      </a:accent5>
      <a:accent6>
        <a:srgbClr val="8A93A0"/>
      </a:accent6>
      <a:hlink>
        <a:srgbClr val="3D8BFF"/>
      </a:hlink>
      <a:folHlink>
        <a:srgbClr val="1F5FBF"/>
      </a:folHlink>
    </a:clrScheme>
    <a:fontScheme name="PrandialTwin Dark Gradient">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9486</Words>
  <Application>Microsoft Office PowerPoint</Application>
  <PresentationFormat>Widescreen</PresentationFormat>
  <Paragraphs>731</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Cambria Math</vt:lpstr>
      <vt:lpstr>Consolas</vt:lpstr>
      <vt:lpstr>PrandialTwin Dark Gradient</vt:lpstr>
      <vt:lpstr>See the glucose spike before it happens</vt:lpstr>
      <vt:lpstr>The headlines are already here</vt:lpstr>
      <vt:lpstr>PowerPoint Presentation</vt:lpstr>
      <vt:lpstr>PowerPoint Presentation</vt:lpstr>
      <vt:lpstr>Diabetes care sees the average, not the spike</vt:lpstr>
      <vt:lpstr>What a digital twin is, in plain words</vt:lpstr>
      <vt:lpstr>Three datasets, and why we trust them</vt:lpstr>
      <vt:lpstr>How our synthetic patients are made</vt:lpstr>
      <vt:lpstr>The architecture, in four steps</vt:lpstr>
      <vt:lpstr>The physics: how blood sugar moves</vt:lpstr>
      <vt:lpstr>How the twin learns each person: 128 guesses</vt:lpstr>
      <vt:lpstr>From the twin to a forecast, a range and an alert</vt:lpstr>
      <vt:lpstr>Why, what-if, and a suggestion</vt:lpstr>
      <vt:lpstr>Twelve forecasters, the same test</vt:lpstr>
      <vt:lpstr>Why the twin plus Chronos-2 wins</vt:lpstr>
      <vt:lpstr>Why the others lost</vt:lpstr>
      <vt:lpstr>Earlier warnings, honest uncertainty</vt:lpstr>
      <vt:lpstr>What-ifs and advice, checked</vt:lpstr>
      <vt:lpstr>Built for India: six regional plates</vt:lpstr>
      <vt:lpstr>What did not hold up, and our limits</vt:lpstr>
      <vt:lpstr>Open, tested, reproducible</vt:lpstr>
      <vt:lpstr>See the spike before it happens</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PrandialTwin: see the glucose spike before it happens</dc:title>
  <dc:subject>PptxGenJS Presentation</dc:subject>
  <dc:creator>Team Adorable: Tharun J, Gargi Sharma</dc:creator>
  <cp:lastModifiedBy>Tharun J</cp:lastModifiedBy>
  <cp:revision>4</cp:revision>
  <dcterms:created xsi:type="dcterms:W3CDTF">2026-10-19T20:12:46Z</dcterms:created>
  <dcterms:modified xsi:type="dcterms:W3CDTF">2026-10-20T09:28:28Z</dcterms:modified>
</cp:coreProperties>
</file>