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73" r:id="rId24"/>
    <p:sldId id="274" r:id="rId25"/>
    <p:sldId id="265" r:id="rId11"/>
    <p:sldId id="266" r:id="rId12"/>
    <p:sldId id="267" r:id="rId13"/>
    <p:sldId id="275" r:id="rId26"/>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f3c7822e-4d52-75cf-dfb1-13eb11719e27}">
          <p14:sldIdLst>
            <p14:sldId id="256"/>
            <p14:sldId id="257"/>
            <p14:sldId id="258"/>
          </p14:sldIdLst>
        </p14:section>
        <p14:section name="Solution" id="{015955f1-0790-3496-4b9c-a3b3825a1b8d}">
          <p14:sldIdLst>
            <p14:sldId id="259"/>
            <p14:sldId id="260"/>
            <p14:sldId id="261"/>
            <p14:sldId id="262"/>
            <p14:sldId id="263"/>
          </p14:sldIdLst>
        </p14:section>
        <p14:section name="Evidence" id="{7f14d67c-60a3-a599-57e5-9d726577d0bc}">
          <p14:sldIdLst>
            <p14:sldId id="264"/>
            <p14:sldId id="265"/>
            <p14:sldId id="266"/>
            <p14:sldId id="267"/>
            <p14:sldId id="268"/>
            <p14:sldId id="269"/>
          </p14:sldIdLst>
        </p14:section>
        <p14:section name="Limits and next steps" id="{c5da00f3-8344-ac27-ef56-93d5aa09333b}">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slide" Target="slides/slide19.xml"/><Relationship Id="rId18" Type="http://schemas.openxmlformats.org/officeDocument/2006/relationships/slide" Target="slides/slide20.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B2B"/>
                </a:solidFill>
                <a:latin typeface="+mn-lt"/>
              </a:defRPr>
            </a:pPr>
            <a:r>
              <a:rPr sz="1400" b="0" i="0" u="none" strike="noStrike">
                <a:solidFill>
                  <a:srgbClr val="0B1B2B"/>
                </a:solidFill>
                <a:latin typeface="+mn-lt"/>
              </a:rPr>
              <a:t>Unseen patients, same cohort (CGMacros)</a:t>
            </a:r>
          </a:p>
        </c:rich>
      </c:tx>
      <c:layout/>
      <c:overlay val="0"/>
    </c:title>
    <c:autoTitleDeleted val="0"/>
    <c:plotArea>
      <c:layout/>
      <c:barChart>
        <c:barDir val="col"/>
        <c:grouping val="clustered"/>
        <c:varyColors val="0"/>
        <c:ser>
          <c:idx val="0"/>
          <c:order val="0"/>
          <c:tx>
            <c:strRef>
              <c:f>Sheet1!$B$1</c:f>
              <c:strCache>
                <c:ptCount val="1"/>
                <c:pt idx="0">
                  <c:v>Persistence</c:v>
                </c:pt>
              </c:strCache>
            </c:strRef>
          </c:tx>
          <c:spPr>
            <a:solidFill>
              <a:srgbClr val="89878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30 min</c:v>
                  </c:pt>
                  <c:pt idx="1">
                    <c:v>60 min</c:v>
                  </c:pt>
                  <c:pt idx="2">
                    <c:v>120 min</c:v>
                  </c:pt>
                </c:lvl>
              </c:multiLvlStrCache>
            </c:multiLvlStrRef>
          </c:cat>
          <c:val>
            <c:numRef>
              <c:f>Sheet1!$B$2:$B$4</c:f>
              <c:numCache>
                <c:formatCode>General</c:formatCode>
                <c:ptCount val="3"/>
                <c:pt idx="0">
                  <c:v>20.6</c:v>
                </c:pt>
                <c:pt idx="1">
                  <c:v>30.1</c:v>
                </c:pt>
                <c:pt idx="2">
                  <c:v>40.6</c:v>
                </c:pt>
              </c:numCache>
            </c:numRef>
          </c:val>
        </c:ser>
        <c:ser>
          <c:idx val="1"/>
          <c:order val="1"/>
          <c:tx>
            <c:strRef>
              <c:f>Sheet1!$C$1</c:f>
              <c:strCache>
                <c:ptCount val="1"/>
                <c:pt idx="0">
                  <c:v>Chronos-Bolt (zero-shot)</c:v>
                </c:pt>
              </c:strCache>
            </c:strRef>
          </c:tx>
          <c:spPr>
            <a:solidFill>
              <a:srgbClr val="EDA10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30 min</c:v>
                  </c:pt>
                  <c:pt idx="1">
                    <c:v>60 min</c:v>
                  </c:pt>
                  <c:pt idx="2">
                    <c:v>120 min</c:v>
                  </c:pt>
                </c:lvl>
              </c:multiLvlStrCache>
            </c:multiLvlStrRef>
          </c:cat>
          <c:val>
            <c:numRef>
              <c:f>Sheet1!$C$2:$C$4</c:f>
              <c:numCache>
                <c:formatCode>General</c:formatCode>
                <c:ptCount val="3"/>
                <c:pt idx="0">
                  <c:v>19.6</c:v>
                </c:pt>
                <c:pt idx="1">
                  <c:v>28.7</c:v>
                </c:pt>
                <c:pt idx="2">
                  <c:v>37.4</c:v>
                </c:pt>
              </c:numCache>
            </c:numRef>
          </c:val>
        </c:ser>
        <c:ser>
          <c:idx val="2"/>
          <c:order val="2"/>
          <c:tx>
            <c:strRef>
              <c:f>Sheet1!$D$1</c:f>
              <c:strCache>
                <c:ptCount val="1"/>
                <c:pt idx="0">
                  <c:v>LightGBM (population)</c:v>
                </c:pt>
              </c:strCache>
            </c:strRef>
          </c:tx>
          <c:spPr>
            <a:solidFill>
              <a:srgbClr val="EB683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30 min</c:v>
                  </c:pt>
                  <c:pt idx="1">
                    <c:v>60 min</c:v>
                  </c:pt>
                  <c:pt idx="2">
                    <c:v>120 min</c:v>
                  </c:pt>
                </c:lvl>
              </c:multiLvlStrCache>
            </c:multiLvlStrRef>
          </c:cat>
          <c:val>
            <c:numRef>
              <c:f>Sheet1!$D$2:$D$4</c:f>
              <c:numCache>
                <c:formatCode>General</c:formatCode>
                <c:ptCount val="3"/>
                <c:pt idx="0">
                  <c:v>17.2</c:v>
                </c:pt>
                <c:pt idx="1">
                  <c:v>25</c:v>
                </c:pt>
                <c:pt idx="2">
                  <c:v>31.7</c:v>
                </c:pt>
              </c:numCache>
            </c:numRef>
          </c:val>
        </c:ser>
        <c:ser>
          <c:idx val="3"/>
          <c:order val="3"/>
          <c:tx>
            <c:strRef>
              <c:f>Sheet1!$E$1</c:f>
              <c:strCache>
                <c:ptCount val="1"/>
                <c:pt idx="0">
                  <c:v>Physics twin alone</c:v>
                </c:pt>
              </c:strCache>
            </c:strRef>
          </c:tx>
          <c:spPr>
            <a:solidFill>
              <a:srgbClr val="1BAF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30 min</c:v>
                  </c:pt>
                  <c:pt idx="1">
                    <c:v>60 min</c:v>
                  </c:pt>
                  <c:pt idx="2">
                    <c:v>120 min</c:v>
                  </c:pt>
                </c:lvl>
              </c:multiLvlStrCache>
            </c:multiLvlStrRef>
          </c:cat>
          <c:val>
            <c:numRef>
              <c:f>Sheet1!$E$2:$E$4</c:f>
              <c:numCache>
                <c:formatCode>General</c:formatCode>
                <c:ptCount val="3"/>
                <c:pt idx="0">
                  <c:v>18.7</c:v>
                </c:pt>
                <c:pt idx="1">
                  <c:v>26.6</c:v>
                </c:pt>
                <c:pt idx="2">
                  <c:v>33.7</c:v>
                </c:pt>
              </c:numCache>
            </c:numRef>
          </c:val>
        </c:ser>
        <c:ser>
          <c:idx val="4"/>
          <c:order val="4"/>
          <c:tx>
            <c:strRef>
              <c:f>Sheet1!$F$1</c:f>
              <c:strCache>
                <c:ptCount val="1"/>
                <c:pt idx="0">
                  <c:v>Hybrid twin</c:v>
                </c:pt>
              </c:strCache>
            </c:strRef>
          </c:tx>
          <c:spPr>
            <a:solidFill>
              <a:srgbClr val="2A78D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30 min</c:v>
                  </c:pt>
                  <c:pt idx="1">
                    <c:v>60 min</c:v>
                  </c:pt>
                  <c:pt idx="2">
                    <c:v>120 min</c:v>
                  </c:pt>
                </c:lvl>
              </c:multiLvlStrCache>
            </c:multiLvlStrRef>
          </c:cat>
          <c:val>
            <c:numRef>
              <c:f>Sheet1!$F$2:$F$4</c:f>
              <c:numCache>
                <c:formatCode>General</c:formatCode>
                <c:ptCount val="3"/>
                <c:pt idx="0">
                  <c:v>17.2</c:v>
                </c:pt>
                <c:pt idx="1">
                  <c:v>24.9</c:v>
                </c:pt>
                <c:pt idx="2">
                  <c:v>31.2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525F"/>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1E0D9"/>
              </a:solidFill>
              <a:prstDash val="solid"/>
              <a:round/>
            </a:ln>
          </c:spPr>
        </c:majorGridlines>
        <c:title>
          <c:tx>
            <c:rich>
              <a:bodyPr/>
              <a:lstStyle/>
              <a:p>
                <a:pPr>
                  <a:defRPr sz="1100" b="0" i="0" u="none" strike="noStrike">
                    <a:solidFill>
                      <a:srgbClr val="44525F"/>
                    </a:solidFill>
                    <a:latin typeface="+mn-lt"/>
                  </a:defRPr>
                </a:pPr>
                <a:r>
                  <a:rPr sz="1100" b="0" i="0" u="none" strike="noStrike">
                    <a:solidFill>
                      <a:srgbClr val="44525F"/>
                    </a:solidFill>
                    <a:latin typeface="+mn-lt"/>
                  </a:rPr>
                  <a:t>RMSE (mg/dL)</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25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4525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B2B"/>
                </a:solidFill>
                <a:latin typeface="+mn-lt"/>
              </a:defRPr>
            </a:pPr>
            <a:r>
              <a:rPr sz="1400" b="0" i="0" u="none" strike="noStrike">
                <a:solidFill>
                  <a:srgbClr val="0B1B2B"/>
                </a:solidFill>
                <a:latin typeface="+mn-lt"/>
              </a:rPr>
              <a:t>Unseen country, device and population (ShanghaiT2DM)</a:t>
            </a:r>
          </a:p>
        </c:rich>
      </c:tx>
      <c:layout/>
      <c:overlay val="0"/>
    </c:title>
    <c:autoTitleDeleted val="0"/>
    <c:plotArea>
      <c:layout/>
      <c:barChart>
        <c:barDir val="col"/>
        <c:grouping val="clustered"/>
        <c:varyColors val="0"/>
        <c:ser>
          <c:idx val="0"/>
          <c:order val="0"/>
          <c:tx>
            <c:strRef>
              <c:f>Sheet1!$B$1</c:f>
              <c:strCache>
                <c:ptCount val="1"/>
                <c:pt idx="0">
                  <c:v>Persistence</c:v>
                </c:pt>
              </c:strCache>
            </c:strRef>
          </c:tx>
          <c:spPr>
            <a:solidFill>
              <a:srgbClr val="89878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30 min</c:v>
                  </c:pt>
                  <c:pt idx="1">
                    <c:v>60 min</c:v>
                  </c:pt>
                  <c:pt idx="2">
                    <c:v>120 min</c:v>
                  </c:pt>
                </c:lvl>
              </c:multiLvlStrCache>
            </c:multiLvlStrRef>
          </c:cat>
          <c:val>
            <c:numRef>
              <c:f>Sheet1!$B$2:$B$4</c:f>
              <c:numCache>
                <c:formatCode>General</c:formatCode>
                <c:ptCount val="3"/>
                <c:pt idx="0">
                  <c:v>17.6</c:v>
                </c:pt>
                <c:pt idx="1">
                  <c:v>29.4</c:v>
                </c:pt>
                <c:pt idx="2">
                  <c:v>44</c:v>
                </c:pt>
              </c:numCache>
            </c:numRef>
          </c:val>
        </c:ser>
        <c:ser>
          <c:idx val="1"/>
          <c:order val="1"/>
          <c:tx>
            <c:strRef>
              <c:f>Sheet1!$C$1</c:f>
              <c:strCache>
                <c:ptCount val="1"/>
                <c:pt idx="0">
                  <c:v>LightGBM (population)</c:v>
                </c:pt>
              </c:strCache>
            </c:strRef>
          </c:tx>
          <c:spPr>
            <a:solidFill>
              <a:srgbClr val="EB683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30 min</c:v>
                  </c:pt>
                  <c:pt idx="1">
                    <c:v>60 min</c:v>
                  </c:pt>
                  <c:pt idx="2">
                    <c:v>120 min</c:v>
                  </c:pt>
                </c:lvl>
              </c:multiLvlStrCache>
            </c:multiLvlStrRef>
          </c:cat>
          <c:val>
            <c:numRef>
              <c:f>Sheet1!$C$2:$C$4</c:f>
              <c:numCache>
                <c:formatCode>General</c:formatCode>
                <c:ptCount val="3"/>
                <c:pt idx="0">
                  <c:v>17.1</c:v>
                </c:pt>
                <c:pt idx="1">
                  <c:v>28.4</c:v>
                </c:pt>
                <c:pt idx="2">
                  <c:v>42.5</c:v>
                </c:pt>
              </c:numCache>
            </c:numRef>
          </c:val>
        </c:ser>
        <c:ser>
          <c:idx val="2"/>
          <c:order val="2"/>
          <c:tx>
            <c:strRef>
              <c:f>Sheet1!$D$1</c:f>
              <c:strCache>
                <c:ptCount val="1"/>
                <c:pt idx="0">
                  <c:v>Physics twin alone</c:v>
                </c:pt>
              </c:strCache>
            </c:strRef>
          </c:tx>
          <c:spPr>
            <a:solidFill>
              <a:srgbClr val="1BAF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30 min</c:v>
                  </c:pt>
                  <c:pt idx="1">
                    <c:v>60 min</c:v>
                  </c:pt>
                  <c:pt idx="2">
                    <c:v>120 min</c:v>
                  </c:pt>
                </c:lvl>
              </c:multiLvlStrCache>
            </c:multiLvlStrRef>
          </c:cat>
          <c:val>
            <c:numRef>
              <c:f>Sheet1!$D$2:$D$4</c:f>
              <c:numCache>
                <c:formatCode>General</c:formatCode>
                <c:ptCount val="3"/>
                <c:pt idx="0">
                  <c:v>15.1</c:v>
                </c:pt>
                <c:pt idx="1">
                  <c:v>25.5</c:v>
                </c:pt>
                <c:pt idx="2">
                  <c:v>37.6</c:v>
                </c:pt>
              </c:numCache>
            </c:numRef>
          </c:val>
        </c:ser>
        <c:ser>
          <c:idx val="3"/>
          <c:order val="3"/>
          <c:tx>
            <c:strRef>
              <c:f>Sheet1!$E$1</c:f>
              <c:strCache>
                <c:ptCount val="1"/>
                <c:pt idx="0">
                  <c:v>Hybrid twin</c:v>
                </c:pt>
              </c:strCache>
            </c:strRef>
          </c:tx>
          <c:spPr>
            <a:solidFill>
              <a:srgbClr val="2A78D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30 min</c:v>
                  </c:pt>
                  <c:pt idx="1">
                    <c:v>60 min</c:v>
                  </c:pt>
                  <c:pt idx="2">
                    <c:v>120 min</c:v>
                  </c:pt>
                </c:lvl>
              </c:multiLvlStrCache>
            </c:multiLvlStrRef>
          </c:cat>
          <c:val>
            <c:numRef>
              <c:f>Sheet1!$E$2:$E$4</c:f>
              <c:numCache>
                <c:formatCode>General</c:formatCode>
                <c:ptCount val="3"/>
                <c:pt idx="0">
                  <c:v>15.6</c:v>
                </c:pt>
                <c:pt idx="1">
                  <c:v>26.4</c:v>
                </c:pt>
                <c:pt idx="2">
                  <c:v>37.6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525F"/>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1E0D9"/>
              </a:solidFill>
              <a:prstDash val="solid"/>
              <a:round/>
            </a:ln>
          </c:spPr>
        </c:majorGridlines>
        <c:title>
          <c:tx>
            <c:rich>
              <a:bodyPr/>
              <a:lstStyle/>
              <a:p>
                <a:pPr>
                  <a:defRPr sz="1100" b="0" i="0" u="none" strike="noStrike">
                    <a:solidFill>
                      <a:srgbClr val="44525F"/>
                    </a:solidFill>
                    <a:latin typeface="+mn-lt"/>
                  </a:defRPr>
                </a:pPr>
                <a:r>
                  <a:rPr sz="1100" b="0" i="0" u="none" strike="noStrike">
                    <a:solidFill>
                      <a:srgbClr val="44525F"/>
                    </a:solidFill>
                    <a:latin typeface="+mn-lt"/>
                  </a:rPr>
                  <a:t>RMSE (mg/dL)</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25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4525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One sentence: we built a digital twin for post-meal high glucose in type 2 diabetes and prediabetes, and we tested every claim it makes on real patients. Replace the team line before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One in four Indian adults has diabetes or prediabetes. The diet is carbohydrate heavy. And when Indian patients with type 2 diabetes wear a sensor, more than half the time is above range. HbA1c hides this; a CGM report shows it only afterwards. We want to show it before the meal.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 National Academies define a digital twin by three things: it is updated from its physical twin, it predicts, and it informs decisions, with verification, validation and uncertainty built in. A 2025 review found only 12 percent of 149 published health twins meet that. We designed for those three tests and we report against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 case: a physician places a 10 to 14 day sensor on a patient with type 2 diabetes or prediabetes. Walk through the five rows. The adverse event we predict is glucose above 180 for at least 15 minutes, starting from below 180.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for a static record fused with a wearable stream. In our two real cohorts both belong to the same person. CGMacros is where we develop, always testing on patients the models never saw. Shanghai is never used for fitting. Synthetic data only verifies the method. We never glue a random synthetic chart to someone else's glucose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Left to right. The static record never becomes a feature column: it sets the prior on five physiological parameters. The stream goes through an ensemble Kalman filter that corrects the twin at every reading. From the twin we get a forecast, an honest band, an alert and a what-if. Everything learned across patients is learned on training patients only. The dashed loop is what makes it a twin and not a shadow: advice changes behaviour, and behaviour comes back as data. Since 17 October the forecast box also averages in fine-tuned Chronos-2, and the what-if box suggests the least-effort change.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states and five parameters. We only estimate what a glucose sensor can identify: for example the product of insulin secretion and sensitivity, not each separately. 128 copies of the twin run in parallel, which is where the uncertainty comes from. The key design choice: the twin is never fitted to the patient it describes. It gets a prior from labs and then only online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dashboard here. This is a real held-out participant, replayed. Top: the record and the twin's current state. Middle: the forecast with its band, the alert, and why. The dark diamonds are the reported forecast, the twin averaged with fine-tuned Chronos-2. Bottom: the what-if. Use the script in docs/DEMO_SCRIPT.md for the exact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direct. On the home cohort the hybrid twin and a well-built LightGBM model are a tie: 24.9 versus 25.0 at 60 minutes. On the unseen Chinese cohort the population model falls back almost to persistence, and the twin does not: 26.4 versus 28.4. The baseline there was trained at the target site's modality, so it had its fairest shot. Intervals are from resampling patients. Then say what the next slide shows: we also tested the models we had ruled out, and one of them beat the twin abroad.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alert threshold is fixed on calibration patients for about one false alert per patient-day, then run unchanged on test patients. The hybrid warns of 61% of 693 events, the standard model 52%. Median lead is 30 minutes. On the unseen cohort the precision-recall area is 0.450 versus 0.356. On the home cohort the discrimination itself is a tie; say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Pooled coverage hides the patients where a model is confidently wrong. Each dot is one patient. Calibrated once, the worst patient gets 78% of outcomes inside a nominal 90 percent band. When the band adapts online to each patient, the worst is 89% and all 45 are within five points. On the unseen cohort: 88% versus 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one person we find pairs of meals of the same kind, starting from similar glucose, that differ in one thing: carbohydrate, or an active versus a sedentary hour afterwards. The twin got the direction right in 66% of 2015 carbohydrate pairs and 61% of 324 activity pairs. The observed effect of an active hour was -10.7 mg/dL; the twin attributes -9.1. Say clearly: the standard model does about as well on direction. These pairs are not randomised; it is a consistency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this slide on purpose. Four things we hoped for and did not get with 45 people. A stated negative is stronger than an untested claim, and these tell us where the next work is. A fifth one since 17 October: a fine-tuned foundation model transfers better than the twin. We had assumed fine-tuning needed more data; we tested it and were wrong.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not validation. Our simulator is deliberately richer than the twin, and it can replay a day with one input changed, which gives a true counterfactual. Basal glucose is recovered with rank correlation 0.959. For forty percent less carbohydrate the twin's answer correlates 0.875 with the truth and has the right direction every time, though it underestimates the size. The walk effect in the simulator is too small to rank.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 This is a research prototype. It has not been tested on Indian patients, it is retrospective, it has no drug or insulin model, and it needs a meal log. It is decision support for a clinician and gives lifestyle scenarios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in order. The first is the one that matters: the same evaluation on an Indian cohort with a hospital partner. The code needs one new data loader for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what held, including the uncomfortable part: the twin beats the standard model abroad, a fine-tuned foundation model beats both, and together they are the best forecast; the bands are honest per patient; the what-ifs and the advice were tested. One command reproduces every number. Thank the organisers.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first ruled out neural networks and fine-tuning without testing them. We tested them on the same folds and the same external cohort. GRU, LSTM and a patch transformer tie LightGBM at home (25.1, 25.3, 24.7 against 25.0) and fall apart abroad (43.2, 40.0, 34.1). Chronos-2, a pretrained foundation model, fine-tuned on each fold's training patients, is the best single model: 24.4 at home and 24.2 abroad, where it beats our hybrid (26.4). We say that plainly. Averaging the twin with Chronos-2 gives the best forecast of all; the twin still provides the state, the what-ifs and the advice.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Diagnose, do not just rank. Abroad the networks over-predict by 13 to 19 mg/dL on average, at every hour, and most for patients on insulin, whose glucose is pushed down by a drug they never saw. Their validation error on held-back CGMacros patients was good, so they did not fail to train; they failed to transfer. The twin's filter adapts per patient, which is why the physics twin alone is the most accurate twin variant abroad. Chronos-2 transfers because it conditions on a full day of the patient's own readings.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Reinforcement learning was the obvious idea. But choosing a portion or a walk at a meal is one decision with a result in three hours: a contextual bandit. The twin can simulate every option, so it simply tries all eight and picks the least effort that keeps its spike risk under 30 percent; that is the exact answer Q-learning would only approximate. Tested where the truth is known, synthetic patients: spikes at 35% of meals with no action, 28% with a carbohydrate rule, 18% when the twin chooses, 11% for an oracle. Same model family as the twin, so this is an upper bound. Lifestyle only, never medication.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rgbClr val="0B1B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1887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383280"/>
            <a:ext cx="10698480" cy="1097280"/>
          </a:xfrm>
          <a:prstGeom prst="rect">
            <a:avLst/>
          </a:prstGeom>
          <a:noFill/>
          <a:ln/>
        </p:spPr>
        <p:txBody>
          <a:bodyPr wrap="square" rtlCol="0"/>
          <a:lstStyle>
            <a:lvl1pPr algn="l" indent="0" marL="0">
              <a:buNone/>
              <a:defRPr lang="en-US" sz="2400" dirty="0">
                <a:solidFill>
                  <a:schemeClr val="bg2"/>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PrandialTwin  |  Happiest Health Digital Twin Challenge 2026</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188720"/>
          </a:xfrm>
          <a:prstGeom prst="rect">
            <a:avLst/>
          </a:prstGeom>
          <a:noFill/>
          <a:ln/>
        </p:spPr>
        <p:txBody>
          <a:bodyPr wrap="square" lIns="0" tIns="0" rIns="0" bIns="0" rtlCol="0" anchor="b"/>
          <a:lstStyle/>
          <a:p>
            <a:pPr algn="l" indent="0" marL="0">
              <a:buNone/>
            </a:pPr>
            <a:r>
              <a:rPr lang="en-US" sz="5400" b="1" dirty="0">
                <a:solidFill>
                  <a:schemeClr val="bg1"/>
                </a:solidFill>
              </a:rPr>
              <a:t>PrandialTwin</a:t>
            </a:r>
            <a:endParaRPr lang="en-US" sz="5400" dirty="0"/>
          </a:p>
        </p:txBody>
      </p:sp>
      <p:sp>
        <p:nvSpPr>
          <p:cNvPr id="4" name="Text 0"/>
          <p:cNvSpPr/>
          <p:nvPr>
            <p:ph idx="101" type="body" hasCustomPrompt="1"/>
          </p:nvPr>
        </p:nvSpPr>
        <p:spPr>
          <a:xfrm>
            <a:off x="731520" y="3383280"/>
            <a:ext cx="10698480" cy="1097280"/>
          </a:xfrm>
          <a:prstGeom prst="rect">
            <a:avLst/>
          </a:prstGeom>
          <a:noFill/>
          <a:ln/>
        </p:spPr>
        <p:txBody>
          <a:bodyPr wrap="square" lIns="0" tIns="0" rIns="0" bIns="0" rtlCol="0" anchor="t"/>
          <a:lstStyle/>
          <a:p>
            <a:pPr algn="l" indent="0" marL="0">
              <a:buNone/>
            </a:pPr>
            <a:r>
              <a:rPr lang="en-US" sz="2400" dirty="0">
                <a:solidFill>
                  <a:schemeClr val="bg2"/>
                </a:solidFill>
              </a:rPr>
              <a:t>A digital twin for post-meal hyperglycaemia that tests its own claims</a:t>
            </a:r>
            <a:endParaRPr lang="en-US" sz="2400" dirty="0"/>
          </a:p>
        </p:txBody>
      </p:sp>
      <p:sp>
        <p:nvSpPr>
          <p:cNvPr id="5" name="Text 2"/>
          <p:cNvSpPr txBox="1"/>
          <p:nvPr/>
        </p:nvSpPr>
        <p:spPr>
          <a:xfrm>
            <a:off x="731520" y="5120640"/>
            <a:ext cx="10698480" cy="822960"/>
          </a:xfrm>
          <a:prstGeom prst="rect">
            <a:avLst/>
          </a:prstGeom>
          <a:noFill/>
          <a:ln/>
        </p:spPr>
        <p:txBody>
          <a:bodyPr wrap="square" lIns="0" tIns="0" rIns="0" bIns="0" rtlCol="0" anchor="t"/>
          <a:lstStyle/>
          <a:p>
            <a:pPr indent="0" marL="0">
              <a:buNone/>
            </a:pPr>
            <a:r>
              <a:rPr lang="en-US" sz="1600" dirty="0">
                <a:solidFill>
                  <a:schemeClr val="bg2"/>
                </a:solidFill>
              </a:rPr>
              <a:t>Team: TODO team name   |   TODO college and incubator</a:t>
            </a:r>
            <a:endParaRPr lang="en-US" sz="1600" dirty="0"/>
          </a:p>
          <a:p>
            <a:pPr indent="0" marL="0">
              <a:buNone/>
            </a:pPr>
            <a:r>
              <a:rPr lang="en-US" sz="1600" dirty="0">
                <a:solidFill>
                  <a:schemeClr val="bg2"/>
                </a:solidFill>
              </a:rPr>
              <a:t>Happiest Health Digital Twin Challenge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After-meal glucose is India's blind spot</a:t>
            </a:r>
            <a:endParaRPr lang="en-US" sz="3200" dirty="0"/>
          </a:p>
        </p:txBody>
      </p:sp>
      <p:sp>
        <p:nvSpPr>
          <p:cNvPr id="4" name="Text 1"/>
          <p:cNvSpPr txBox="1"/>
          <p:nvPr/>
        </p:nvSpPr>
        <p:spPr>
          <a:xfrm>
            <a:off x="548640" y="1463040"/>
            <a:ext cx="3474720" cy="1051560"/>
          </a:xfrm>
          <a:prstGeom prst="rect">
            <a:avLst/>
          </a:prstGeom>
          <a:noFill/>
          <a:ln/>
        </p:spPr>
        <p:txBody>
          <a:bodyPr wrap="square" lIns="0" tIns="0" rIns="0" bIns="0" rtlCol="0" anchor="b"/>
          <a:lstStyle/>
          <a:p>
            <a:pPr indent="0" marL="0">
              <a:buNone/>
            </a:pPr>
            <a:r>
              <a:rPr lang="en-US" sz="6000" b="1" dirty="0">
                <a:solidFill>
                  <a:schemeClr val="accent1"/>
                </a:solidFill>
              </a:rPr>
              <a:t>26.7%</a:t>
            </a:r>
            <a:endParaRPr lang="en-US" sz="6000" dirty="0"/>
          </a:p>
        </p:txBody>
      </p:sp>
      <p:sp>
        <p:nvSpPr>
          <p:cNvPr id="5" name="Text 2"/>
          <p:cNvSpPr txBox="1"/>
          <p:nvPr/>
        </p:nvSpPr>
        <p:spPr>
          <a:xfrm>
            <a:off x="548640" y="2606040"/>
            <a:ext cx="3474720" cy="1097280"/>
          </a:xfrm>
          <a:prstGeom prst="rect">
            <a:avLst/>
          </a:prstGeom>
          <a:noFill/>
          <a:ln/>
        </p:spPr>
        <p:txBody>
          <a:bodyPr wrap="square" lIns="0" tIns="0" rIns="0" bIns="0" rtlCol="0" anchor="t"/>
          <a:lstStyle/>
          <a:p>
            <a:pPr indent="0" marL="0">
              <a:buNone/>
            </a:pPr>
            <a:r>
              <a:rPr lang="en-US" sz="1600" dirty="0">
                <a:solidFill>
                  <a:schemeClr val="tx2"/>
                </a:solidFill>
              </a:rPr>
              <a:t>of Indian adults have diabetes (11.4%) or prediabetes (15.3%)</a:t>
            </a:r>
            <a:endParaRPr lang="en-US" sz="1600" dirty="0"/>
          </a:p>
        </p:txBody>
      </p:sp>
      <p:sp>
        <p:nvSpPr>
          <p:cNvPr id="6" name="Text 3"/>
          <p:cNvSpPr txBox="1"/>
          <p:nvPr/>
        </p:nvSpPr>
        <p:spPr>
          <a:xfrm>
            <a:off x="4343400" y="1463040"/>
            <a:ext cx="3474720" cy="1051560"/>
          </a:xfrm>
          <a:prstGeom prst="rect">
            <a:avLst/>
          </a:prstGeom>
          <a:noFill/>
          <a:ln/>
        </p:spPr>
        <p:txBody>
          <a:bodyPr wrap="square" lIns="0" tIns="0" rIns="0" bIns="0" rtlCol="0" anchor="b"/>
          <a:lstStyle/>
          <a:p>
            <a:pPr indent="0" marL="0">
              <a:buNone/>
            </a:pPr>
            <a:r>
              <a:rPr lang="en-US" sz="6000" b="1" dirty="0">
                <a:solidFill>
                  <a:schemeClr val="accent1"/>
                </a:solidFill>
              </a:rPr>
              <a:t>61.6%</a:t>
            </a:r>
            <a:endParaRPr lang="en-US" sz="6000" dirty="0"/>
          </a:p>
        </p:txBody>
      </p:sp>
      <p:sp>
        <p:nvSpPr>
          <p:cNvPr id="7" name="Text 4"/>
          <p:cNvSpPr txBox="1"/>
          <p:nvPr/>
        </p:nvSpPr>
        <p:spPr>
          <a:xfrm>
            <a:off x="4343400" y="2606040"/>
            <a:ext cx="3474720" cy="1097280"/>
          </a:xfrm>
          <a:prstGeom prst="rect">
            <a:avLst/>
          </a:prstGeom>
          <a:noFill/>
          <a:ln/>
        </p:spPr>
        <p:txBody>
          <a:bodyPr wrap="square" lIns="0" tIns="0" rIns="0" bIns="0" rtlCol="0" anchor="t"/>
          <a:lstStyle/>
          <a:p>
            <a:pPr indent="0" marL="0">
              <a:buNone/>
            </a:pPr>
            <a:r>
              <a:rPr lang="en-US" sz="1600" dirty="0">
                <a:solidFill>
                  <a:schemeClr val="tx2"/>
                </a:solidFill>
              </a:rPr>
              <a:t>of energy in the average Indian diet comes from carbohydrate</a:t>
            </a:r>
            <a:endParaRPr lang="en-US" sz="1600" dirty="0"/>
          </a:p>
        </p:txBody>
      </p:sp>
      <p:sp>
        <p:nvSpPr>
          <p:cNvPr id="8" name="Text 5"/>
          <p:cNvSpPr txBox="1"/>
          <p:nvPr/>
        </p:nvSpPr>
        <p:spPr>
          <a:xfrm>
            <a:off x="8138160" y="1463040"/>
            <a:ext cx="3474720" cy="1051560"/>
          </a:xfrm>
          <a:prstGeom prst="rect">
            <a:avLst/>
          </a:prstGeom>
          <a:noFill/>
          <a:ln/>
        </p:spPr>
        <p:txBody>
          <a:bodyPr wrap="square" lIns="0" tIns="0" rIns="0" bIns="0" rtlCol="0" anchor="b"/>
          <a:lstStyle/>
          <a:p>
            <a:pPr indent="0" marL="0">
              <a:buNone/>
            </a:pPr>
            <a:r>
              <a:rPr lang="en-US" sz="6000" b="1" dirty="0">
                <a:solidFill>
                  <a:schemeClr val="accent1"/>
                </a:solidFill>
              </a:rPr>
              <a:t>53.5%</a:t>
            </a:r>
            <a:endParaRPr lang="en-US" sz="6000" dirty="0"/>
          </a:p>
        </p:txBody>
      </p:sp>
      <p:sp>
        <p:nvSpPr>
          <p:cNvPr id="9" name="Text 6"/>
          <p:cNvSpPr txBox="1"/>
          <p:nvPr/>
        </p:nvSpPr>
        <p:spPr>
          <a:xfrm>
            <a:off x="8138160" y="2606040"/>
            <a:ext cx="3474720" cy="1097280"/>
          </a:xfrm>
          <a:prstGeom prst="rect">
            <a:avLst/>
          </a:prstGeom>
          <a:noFill/>
          <a:ln/>
        </p:spPr>
        <p:txBody>
          <a:bodyPr wrap="square" lIns="0" tIns="0" rIns="0" bIns="0" rtlCol="0" anchor="t"/>
          <a:lstStyle/>
          <a:p>
            <a:pPr indent="0" marL="0">
              <a:buNone/>
            </a:pPr>
            <a:r>
              <a:rPr lang="en-US" sz="1600" dirty="0">
                <a:solidFill>
                  <a:schemeClr val="tx2"/>
                </a:solidFill>
              </a:rPr>
              <a:t>of time above range in 649 Indian T2D patients on a first glucose sensor</a:t>
            </a:r>
            <a:endParaRPr lang="en-US" sz="1600" dirty="0"/>
          </a:p>
        </p:txBody>
      </p:sp>
      <p:sp>
        <p:nvSpPr>
          <p:cNvPr id="10" name="card The gap"/>
          <p:cNvSpPr/>
          <p:nvPr/>
        </p:nvSpPr>
        <p:spPr>
          <a:xfrm>
            <a:off x="548640" y="4297680"/>
            <a:ext cx="11064240" cy="1463040"/>
          </a:xfrm>
          <a:prstGeom prst="roundRect">
            <a:avLst>
              <a:gd name="adj" fmla="val 5000"/>
            </a:avLst>
          </a:prstGeom>
          <a:solidFill>
            <a:schemeClr val="bg2"/>
          </a:solidFill>
          <a:ln w="12700">
            <a:solidFill>
              <a:schemeClr val="bg2"/>
            </a:solidFill>
            <a:prstDash val="solid"/>
          </a:ln>
        </p:spPr>
      </p:sp>
      <p:sp>
        <p:nvSpPr>
          <p:cNvPr id="11" name="Text 8"/>
          <p:cNvSpPr txBox="1"/>
          <p:nvPr/>
        </p:nvSpPr>
        <p:spPr>
          <a:xfrm>
            <a:off x="777240" y="4480560"/>
            <a:ext cx="10607040" cy="411480"/>
          </a:xfrm>
          <a:prstGeom prst="rect">
            <a:avLst/>
          </a:prstGeom>
          <a:noFill/>
          <a:ln/>
        </p:spPr>
        <p:txBody>
          <a:bodyPr wrap="square" lIns="0" tIns="0" rIns="0" bIns="0" rtlCol="0" anchor="t"/>
          <a:lstStyle/>
          <a:p>
            <a:pPr indent="0" marL="0">
              <a:buNone/>
            </a:pPr>
            <a:r>
              <a:rPr lang="en-US" sz="1800" b="1" dirty="0">
                <a:solidFill>
                  <a:schemeClr val="tx1"/>
                </a:solidFill>
              </a:rPr>
              <a:t>The gap</a:t>
            </a:r>
            <a:endParaRPr lang="en-US" sz="1800" dirty="0"/>
          </a:p>
        </p:txBody>
      </p:sp>
      <p:sp>
        <p:nvSpPr>
          <p:cNvPr id="12" name="Text 9"/>
          <p:cNvSpPr txBox="1"/>
          <p:nvPr/>
        </p:nvSpPr>
        <p:spPr>
          <a:xfrm>
            <a:off x="777240" y="4956048"/>
            <a:ext cx="10607040" cy="640080"/>
          </a:xfrm>
          <a:prstGeom prst="rect">
            <a:avLst/>
          </a:prstGeom>
          <a:noFill/>
          <a:ln/>
        </p:spPr>
        <p:txBody>
          <a:bodyPr wrap="square" lIns="0" tIns="0" rIns="0" bIns="0" rtlCol="0" anchor="t"/>
          <a:lstStyle/>
          <a:p>
            <a:pPr indent="0" marL="0">
              <a:spcAft>
                <a:spcPts val="400"/>
              </a:spcAft>
              <a:buNone/>
            </a:pPr>
            <a:r>
              <a:rPr lang="en-US" sz="1600" dirty="0">
                <a:solidFill>
                  <a:schemeClr val="tx2"/>
                </a:solidFill>
              </a:rPr>
              <a:t>HbA1c every three months averages the spikes away. A 14-day CGM report shows them, but only after they happened. Nobody tells the doctor or the patient before the meal, when a smaller portion or a walk could still change the outcome.</a:t>
            </a:r>
            <a:endParaRPr lang="en-US" sz="1600" dirty="0"/>
          </a:p>
        </p:txBody>
      </p:sp>
      <p:sp>
        <p:nvSpPr>
          <p:cNvPr id="13" name="Text 10"/>
          <p:cNvSpPr txBox="1"/>
          <p:nvPr/>
        </p:nvSpPr>
        <p:spPr>
          <a:xfrm>
            <a:off x="548640" y="5943600"/>
            <a:ext cx="11064240" cy="274320"/>
          </a:xfrm>
          <a:prstGeom prst="rect">
            <a:avLst/>
          </a:prstGeom>
          <a:noFill/>
          <a:ln/>
        </p:spPr>
        <p:txBody>
          <a:bodyPr wrap="square" lIns="0" tIns="0" rIns="0" bIns="0" rtlCol="0" anchor="t"/>
          <a:lstStyle/>
          <a:p>
            <a:pPr indent="0" marL="0">
              <a:buNone/>
            </a:pPr>
            <a:r>
              <a:rPr lang="en-US" sz="1100" dirty="0">
                <a:solidFill>
                  <a:schemeClr val="accent5"/>
                </a:solidFill>
              </a:rPr>
              <a:t>Sources: ICMR-INDIAB-17 (Lancet Diabetes Endocrinol 2023); Anjana et al. (Diabetes Care 2022); Gupta (Cureus 2025)</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Most "digital twins" are not twins</a:t>
            </a:r>
            <a:endParaRPr lang="en-US" sz="3200" dirty="0"/>
          </a:p>
        </p:txBody>
      </p:sp>
      <p:sp>
        <p:nvSpPr>
          <p:cNvPr id="4" name="step 1"/>
          <p:cNvSpPr/>
          <p:nvPr/>
        </p:nvSpPr>
        <p:spPr>
          <a:xfrm>
            <a:off x="548640" y="1554480"/>
            <a:ext cx="457200" cy="457200"/>
          </a:xfrm>
          <a:prstGeom prst="ellipse">
            <a:avLst/>
          </a:prstGeom>
          <a:solidFill>
            <a:schemeClr val="accent1"/>
          </a:solidFill>
          <a:ln w="12700">
            <a:solidFill>
              <a:schemeClr val="accent1"/>
            </a:solidFill>
            <a:prstDash val="solid"/>
          </a:ln>
        </p:spPr>
      </p:sp>
      <p:sp>
        <p:nvSpPr>
          <p:cNvPr id="5" name="Text 2"/>
          <p:cNvSpPr txBox="1"/>
          <p:nvPr/>
        </p:nvSpPr>
        <p:spPr>
          <a:xfrm>
            <a:off x="548640" y="1554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3"/>
          <p:cNvSpPr txBox="1"/>
          <p:nvPr/>
        </p:nvSpPr>
        <p:spPr>
          <a:xfrm>
            <a:off x="1234440" y="1481328"/>
            <a:ext cx="5120640" cy="365760"/>
          </a:xfrm>
          <a:prstGeom prst="rect">
            <a:avLst/>
          </a:prstGeom>
          <a:noFill/>
          <a:ln/>
        </p:spPr>
        <p:txBody>
          <a:bodyPr wrap="square" lIns="0" tIns="0" rIns="0" bIns="0" rtlCol="0" anchor="t"/>
          <a:lstStyle/>
          <a:p>
            <a:pPr indent="0" marL="0">
              <a:buNone/>
            </a:pPr>
            <a:r>
              <a:rPr lang="en-US" sz="2000" b="1" dirty="0">
                <a:solidFill>
                  <a:schemeClr val="tx1"/>
                </a:solidFill>
              </a:rPr>
              <a:t>It updates</a:t>
            </a:r>
            <a:endParaRPr lang="en-US" sz="2000" dirty="0"/>
          </a:p>
        </p:txBody>
      </p:sp>
      <p:sp>
        <p:nvSpPr>
          <p:cNvPr id="7" name="Text 4"/>
          <p:cNvSpPr txBox="1"/>
          <p:nvPr/>
        </p:nvSpPr>
        <p:spPr>
          <a:xfrm>
            <a:off x="1234440" y="1901952"/>
            <a:ext cx="5120640" cy="640080"/>
          </a:xfrm>
          <a:prstGeom prst="rect">
            <a:avLst/>
          </a:prstGeom>
          <a:noFill/>
          <a:ln/>
        </p:spPr>
        <p:txBody>
          <a:bodyPr wrap="square" lIns="0" tIns="0" rIns="0" bIns="0" rtlCol="0" anchor="t"/>
          <a:lstStyle/>
          <a:p>
            <a:pPr indent="0" marL="0">
              <a:buNone/>
            </a:pPr>
            <a:r>
              <a:rPr lang="en-US" sz="1500" dirty="0">
                <a:solidFill>
                  <a:schemeClr val="tx2"/>
                </a:solidFill>
              </a:rPr>
              <a:t>Dynamically updated with data from the real patient</a:t>
            </a:r>
            <a:endParaRPr lang="en-US" sz="1500" dirty="0"/>
          </a:p>
        </p:txBody>
      </p:sp>
      <p:sp>
        <p:nvSpPr>
          <p:cNvPr id="8" name="step 2"/>
          <p:cNvSpPr/>
          <p:nvPr/>
        </p:nvSpPr>
        <p:spPr>
          <a:xfrm>
            <a:off x="548640" y="2788920"/>
            <a:ext cx="457200" cy="457200"/>
          </a:xfrm>
          <a:prstGeom prst="ellipse">
            <a:avLst/>
          </a:prstGeom>
          <a:solidFill>
            <a:schemeClr val="accent1"/>
          </a:solidFill>
          <a:ln w="12700">
            <a:solidFill>
              <a:schemeClr val="accent1"/>
            </a:solidFill>
            <a:prstDash val="solid"/>
          </a:ln>
        </p:spPr>
      </p:sp>
      <p:sp>
        <p:nvSpPr>
          <p:cNvPr id="9" name="Text 6"/>
          <p:cNvSpPr txBox="1"/>
          <p:nvPr/>
        </p:nvSpPr>
        <p:spPr>
          <a:xfrm>
            <a:off x="548640" y="27889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7"/>
          <p:cNvSpPr txBox="1"/>
          <p:nvPr/>
        </p:nvSpPr>
        <p:spPr>
          <a:xfrm>
            <a:off x="1234440" y="2715768"/>
            <a:ext cx="5120640" cy="365760"/>
          </a:xfrm>
          <a:prstGeom prst="rect">
            <a:avLst/>
          </a:prstGeom>
          <a:noFill/>
          <a:ln/>
        </p:spPr>
        <p:txBody>
          <a:bodyPr wrap="square" lIns="0" tIns="0" rIns="0" bIns="0" rtlCol="0" anchor="t"/>
          <a:lstStyle/>
          <a:p>
            <a:pPr indent="0" marL="0">
              <a:buNone/>
            </a:pPr>
            <a:r>
              <a:rPr lang="en-US" sz="2000" b="1" dirty="0">
                <a:solidFill>
                  <a:schemeClr val="tx1"/>
                </a:solidFill>
              </a:rPr>
              <a:t>It predicts</a:t>
            </a:r>
            <a:endParaRPr lang="en-US" sz="2000" dirty="0"/>
          </a:p>
        </p:txBody>
      </p:sp>
      <p:sp>
        <p:nvSpPr>
          <p:cNvPr id="11" name="Text 8"/>
          <p:cNvSpPr txBox="1"/>
          <p:nvPr/>
        </p:nvSpPr>
        <p:spPr>
          <a:xfrm>
            <a:off x="1234440" y="3136392"/>
            <a:ext cx="5120640" cy="640080"/>
          </a:xfrm>
          <a:prstGeom prst="rect">
            <a:avLst/>
          </a:prstGeom>
          <a:noFill/>
          <a:ln/>
        </p:spPr>
        <p:txBody>
          <a:bodyPr wrap="square" lIns="0" tIns="0" rIns="0" bIns="0" rtlCol="0" anchor="t"/>
          <a:lstStyle/>
          <a:p>
            <a:pPr indent="0" marL="0">
              <a:buNone/>
            </a:pPr>
            <a:r>
              <a:rPr lang="en-US" sz="1500" dirty="0">
                <a:solidFill>
                  <a:schemeClr val="tx2"/>
                </a:solidFill>
              </a:rPr>
              <a:t>Forecasts what happens next, with quantified uncertainty</a:t>
            </a:r>
            <a:endParaRPr lang="en-US" sz="1500" dirty="0"/>
          </a:p>
        </p:txBody>
      </p:sp>
      <p:sp>
        <p:nvSpPr>
          <p:cNvPr id="12" name="step 3"/>
          <p:cNvSpPr/>
          <p:nvPr/>
        </p:nvSpPr>
        <p:spPr>
          <a:xfrm>
            <a:off x="548640" y="4023360"/>
            <a:ext cx="457200" cy="457200"/>
          </a:xfrm>
          <a:prstGeom prst="ellipse">
            <a:avLst/>
          </a:prstGeom>
          <a:solidFill>
            <a:schemeClr val="accent1"/>
          </a:solidFill>
          <a:ln w="12700">
            <a:solidFill>
              <a:schemeClr val="accent1"/>
            </a:solidFill>
            <a:prstDash val="solid"/>
          </a:ln>
        </p:spPr>
      </p:sp>
      <p:sp>
        <p:nvSpPr>
          <p:cNvPr id="13" name="Text 10"/>
          <p:cNvSpPr txBox="1"/>
          <p:nvPr/>
        </p:nvSpPr>
        <p:spPr>
          <a:xfrm>
            <a:off x="548640" y="40233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1"/>
          <p:cNvSpPr txBox="1"/>
          <p:nvPr/>
        </p:nvSpPr>
        <p:spPr>
          <a:xfrm>
            <a:off x="1234440" y="3950208"/>
            <a:ext cx="5120640" cy="365760"/>
          </a:xfrm>
          <a:prstGeom prst="rect">
            <a:avLst/>
          </a:prstGeom>
          <a:noFill/>
          <a:ln/>
        </p:spPr>
        <p:txBody>
          <a:bodyPr wrap="square" lIns="0" tIns="0" rIns="0" bIns="0" rtlCol="0" anchor="t"/>
          <a:lstStyle/>
          <a:p>
            <a:pPr indent="0" marL="0">
              <a:buNone/>
            </a:pPr>
            <a:r>
              <a:rPr lang="en-US" sz="2000" b="1" dirty="0">
                <a:solidFill>
                  <a:schemeClr val="tx1"/>
                </a:solidFill>
              </a:rPr>
              <a:t>It informs a decision</a:t>
            </a:r>
            <a:endParaRPr lang="en-US" sz="2000" dirty="0"/>
          </a:p>
        </p:txBody>
      </p:sp>
      <p:sp>
        <p:nvSpPr>
          <p:cNvPr id="15" name="Text 12"/>
          <p:cNvSpPr txBox="1"/>
          <p:nvPr/>
        </p:nvSpPr>
        <p:spPr>
          <a:xfrm>
            <a:off x="1234440" y="4370832"/>
            <a:ext cx="5120640" cy="640080"/>
          </a:xfrm>
          <a:prstGeom prst="rect">
            <a:avLst/>
          </a:prstGeom>
          <a:noFill/>
          <a:ln/>
        </p:spPr>
        <p:txBody>
          <a:bodyPr wrap="square" lIns="0" tIns="0" rIns="0" bIns="0" rtlCol="0" anchor="t"/>
          <a:lstStyle/>
          <a:p>
            <a:pPr indent="0" marL="0">
              <a:buNone/>
            </a:pPr>
            <a:r>
              <a:rPr lang="en-US" sz="1500" dirty="0">
                <a:solidFill>
                  <a:schemeClr val="tx2"/>
                </a:solidFill>
              </a:rPr>
              <a:t>Answers a what-if a clinician can act on, and shows its track record</a:t>
            </a:r>
            <a:endParaRPr lang="en-US" sz="1500" dirty="0"/>
          </a:p>
        </p:txBody>
      </p:sp>
      <p:sp>
        <p:nvSpPr>
          <p:cNvPr id="16" name="Text 13"/>
          <p:cNvSpPr txBox="1"/>
          <p:nvPr/>
        </p:nvSpPr>
        <p:spPr>
          <a:xfrm>
            <a:off x="548640" y="5394960"/>
            <a:ext cx="5852160" cy="548640"/>
          </a:xfrm>
          <a:prstGeom prst="rect">
            <a:avLst/>
          </a:prstGeom>
          <a:noFill/>
          <a:ln/>
        </p:spPr>
        <p:txBody>
          <a:bodyPr wrap="square" lIns="0" tIns="0" rIns="0" bIns="0" rtlCol="0" anchor="t"/>
          <a:lstStyle/>
          <a:p>
            <a:pPr indent="0" marL="0">
              <a:buNone/>
            </a:pPr>
            <a:r>
              <a:rPr lang="en-US" sz="1200" dirty="0">
                <a:solidFill>
                  <a:schemeClr val="accent5"/>
                </a:solidFill>
              </a:rPr>
              <a:t>National Academies (2023) definition, with verification, validation and uncertainty quantification built in</a:t>
            </a:r>
            <a:endParaRPr lang="en-US" sz="1200" dirty="0"/>
          </a:p>
        </p:txBody>
      </p:sp>
      <p:sp>
        <p:nvSpPr>
          <p:cNvPr id="17" name="card "/>
          <p:cNvSpPr/>
          <p:nvPr/>
        </p:nvSpPr>
        <p:spPr>
          <a:xfrm>
            <a:off x="6949440" y="1371600"/>
            <a:ext cx="4663440" cy="4480560"/>
          </a:xfrm>
          <a:prstGeom prst="roundRect">
            <a:avLst>
              <a:gd name="adj" fmla="val 1633"/>
            </a:avLst>
          </a:prstGeom>
          <a:solidFill>
            <a:schemeClr val="bg2"/>
          </a:solidFill>
          <a:ln w="12700">
            <a:solidFill>
              <a:schemeClr val="bg2"/>
            </a:solidFill>
            <a:prstDash val="solid"/>
          </a:ln>
        </p:spPr>
      </p:sp>
      <p:sp>
        <p:nvSpPr>
          <p:cNvPr id="18" name="Text 15"/>
          <p:cNvSpPr txBox="1"/>
          <p:nvPr/>
        </p:nvSpPr>
        <p:spPr>
          <a:xfrm>
            <a:off x="7178040" y="1554480"/>
            <a:ext cx="4206240" cy="411480"/>
          </a:xfrm>
          <a:prstGeom prst="rect">
            <a:avLst/>
          </a:prstGeom>
          <a:noFill/>
          <a:ln/>
        </p:spPr>
        <p:txBody>
          <a:bodyPr wrap="square" lIns="0" tIns="0" rIns="0" bIns="0" rtlCol="0" anchor="t"/>
          <a:lstStyle/>
          <a:p>
            <a:pPr indent="0" marL="0">
              <a:buNone/>
            </a:pPr>
            <a:endParaRPr lang="en-US" sz="1800" dirty="0"/>
          </a:p>
        </p:txBody>
      </p:sp>
      <p:sp>
        <p:nvSpPr>
          <p:cNvPr id="19" name="Text 16"/>
          <p:cNvSpPr txBox="1"/>
          <p:nvPr/>
        </p:nvSpPr>
        <p:spPr>
          <a:xfrm>
            <a:off x="7223760" y="1554480"/>
            <a:ext cx="4114800" cy="1188720"/>
          </a:xfrm>
          <a:prstGeom prst="rect">
            <a:avLst/>
          </a:prstGeom>
          <a:noFill/>
          <a:ln/>
        </p:spPr>
        <p:txBody>
          <a:bodyPr wrap="square" lIns="0" tIns="0" rIns="0" bIns="0" rtlCol="0" anchor="t"/>
          <a:lstStyle/>
          <a:p>
            <a:pPr indent="0" marL="0">
              <a:buNone/>
            </a:pPr>
            <a:r>
              <a:rPr lang="en-US" sz="7200" b="1" dirty="0">
                <a:solidFill>
                  <a:schemeClr val="accent1"/>
                </a:solidFill>
              </a:rPr>
              <a:t>12%</a:t>
            </a:r>
            <a:endParaRPr lang="en-US" sz="7200" dirty="0"/>
          </a:p>
        </p:txBody>
      </p:sp>
      <p:sp>
        <p:nvSpPr>
          <p:cNvPr id="20" name="Text 17"/>
          <p:cNvSpPr txBox="1"/>
          <p:nvPr/>
        </p:nvSpPr>
        <p:spPr>
          <a:xfrm>
            <a:off x="7223760" y="2788920"/>
            <a:ext cx="4114800" cy="731520"/>
          </a:xfrm>
          <a:prstGeom prst="rect">
            <a:avLst/>
          </a:prstGeom>
          <a:noFill/>
          <a:ln/>
        </p:spPr>
        <p:txBody>
          <a:bodyPr wrap="square" lIns="0" tIns="0" rIns="0" bIns="0" rtlCol="0" anchor="t"/>
          <a:lstStyle/>
          <a:p>
            <a:pPr indent="0" marL="0">
              <a:buNone/>
            </a:pPr>
            <a:r>
              <a:rPr lang="en-US" sz="1600" dirty="0">
                <a:solidFill>
                  <a:schemeClr val="tx2"/>
                </a:solidFill>
              </a:rPr>
              <a:t>of 149 published health "digital twins" meet that definition</a:t>
            </a:r>
            <a:endParaRPr lang="en-US" sz="1600" dirty="0"/>
          </a:p>
        </p:txBody>
      </p:sp>
      <p:sp>
        <p:nvSpPr>
          <p:cNvPr id="21" name="Text 18"/>
          <p:cNvSpPr txBox="1"/>
          <p:nvPr/>
        </p:nvSpPr>
        <p:spPr>
          <a:xfrm>
            <a:off x="7223760" y="3657600"/>
            <a:ext cx="4114800" cy="914400"/>
          </a:xfrm>
          <a:prstGeom prst="rect">
            <a:avLst/>
          </a:prstGeom>
          <a:noFill/>
          <a:ln/>
        </p:spPr>
        <p:txBody>
          <a:bodyPr wrap="square" lIns="0" tIns="0" rIns="0" bIns="0" rtlCol="0" anchor="t"/>
          <a:lstStyle/>
          <a:p>
            <a:pPr indent="0" marL="0">
              <a:buNone/>
            </a:pPr>
            <a:r>
              <a:rPr lang="en-US" sz="4800" b="1" dirty="0">
                <a:solidFill>
                  <a:schemeClr val="accent2"/>
                </a:solidFill>
              </a:rPr>
              <a:t>1.3%</a:t>
            </a:r>
            <a:endParaRPr lang="en-US" sz="4800" dirty="0"/>
          </a:p>
        </p:txBody>
      </p:sp>
      <p:sp>
        <p:nvSpPr>
          <p:cNvPr id="22" name="Text 19"/>
          <p:cNvSpPr txBox="1"/>
          <p:nvPr/>
        </p:nvSpPr>
        <p:spPr>
          <a:xfrm>
            <a:off x="7223760" y="4617720"/>
            <a:ext cx="4114800" cy="822960"/>
          </a:xfrm>
          <a:prstGeom prst="rect">
            <a:avLst/>
          </a:prstGeom>
          <a:noFill/>
          <a:ln/>
        </p:spPr>
        <p:txBody>
          <a:bodyPr wrap="square" lIns="0" tIns="0" rIns="0" bIns="0" rtlCol="0" anchor="t"/>
          <a:lstStyle/>
          <a:p>
            <a:pPr indent="0" marL="0">
              <a:buNone/>
            </a:pPr>
            <a:r>
              <a:rPr lang="en-US" sz="1400" dirty="0">
                <a:solidFill>
                  <a:schemeClr val="tx2"/>
                </a:solidFill>
              </a:rPr>
              <a:t>mention verification, validation and uncertainty</a:t>
            </a:r>
            <a:endParaRPr lang="en-US" sz="1400" dirty="0"/>
          </a:p>
          <a:p>
            <a:pPr indent="0" marL="0">
              <a:buNone/>
            </a:pPr>
            <a:r>
              <a:rPr lang="en-US" sz="1400" dirty="0">
                <a:solidFill>
                  <a:schemeClr val="tx2"/>
                </a:solidFill>
              </a:rPr>
              <a:t>Tudor et al., npj Digital Medicine 2025</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What the doctor asks, and what the twin answers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840480"/>
                <a:gridCol w="7223760"/>
              </a:tblGrid>
              <a:tr h="731520">
                <a:tc>
                  <a:txBody>
                    <a:bodyPr/>
                    <a:lstStyle/>
                    <a:p>
                      <a:pPr indent="0" marL="0">
                        <a:buNone/>
                      </a:pPr>
                      <a:r>
                        <a:rPr lang="en-US" sz="1500" b="1" dirty="0">
                          <a:solidFill>
                            <a:srgbClr val="FFFFFF"/>
                          </a:solidFill>
                        </a:rPr>
                        <a:t>The doctor asks</a:t>
                      </a:r>
                      <a:endParaRPr lang="en-US" sz="1500" dirty="0"/>
                    </a:p>
                  </a:txBody>
                  <a:tcPr marL="127000" marR="127000" marT="50800" marB="50800" anchor="ctr">
                    <a:lnL w="12700" cap="flat" cmpd="sng" algn="ctr">
                      <a:solidFill>
                        <a:srgbClr val="D9E1EA"/>
                      </a:solidFill>
                      <a:prstDash val="solid"/>
                      <a:round/>
                      <a:headEnd type="none" w="med" len="med"/>
                      <a:tailEnd type="none" w="med" len="med"/>
                    </a:lnL>
                    <a:lnR w="12700" cap="flat" cmpd="sng" algn="ctr">
                      <a:solidFill>
                        <a:srgbClr val="D9E1EA"/>
                      </a:solidFill>
                      <a:prstDash val="solid"/>
                      <a:round/>
                      <a:headEnd type="none" w="med" len="med"/>
                      <a:tailEnd type="none" w="med" len="med"/>
                    </a:lnR>
                    <a:lnT w="12700" cap="flat" cmpd="sng" algn="ctr">
                      <a:solidFill>
                        <a:srgbClr val="D9E1EA"/>
                      </a:solidFill>
                      <a:prstDash val="solid"/>
                      <a:round/>
                      <a:headEnd type="none" w="med" len="med"/>
                      <a:tailEnd type="none" w="med" len="med"/>
                    </a:lnT>
                    <a:lnB w="12700" cap="flat" cmpd="sng" algn="ctr">
                      <a:solidFill>
                        <a:srgbClr val="D9E1EA"/>
                      </a:solidFill>
                      <a:prstDash val="solid"/>
                      <a:round/>
                      <a:headEnd type="none" w="med" len="med"/>
                      <a:tailEnd type="none" w="med" len="med"/>
                    </a:lnB>
                    <a:solidFill>
                      <a:srgbClr val="0B1B2B"/>
                    </a:solidFill>
                  </a:tcPr>
                </a:tc>
                <a:tc>
                  <a:txBody>
                    <a:bodyPr/>
                    <a:lstStyle/>
                    <a:p>
                      <a:pPr indent="0" marL="0">
                        <a:buNone/>
                      </a:pPr>
                      <a:r>
                        <a:rPr lang="en-US" sz="1500" b="1" dirty="0">
                          <a:solidFill>
                            <a:srgbClr val="FFFFFF"/>
                          </a:solidFill>
                        </a:rPr>
                        <a:t>The twin gives</a:t>
                      </a:r>
                      <a:endParaRPr lang="en-US" sz="1500" dirty="0"/>
                    </a:p>
                  </a:txBody>
                  <a:tcPr marL="127000" marR="127000" marT="50800" marB="50800" anchor="ctr">
                    <a:lnL w="12700" cap="flat" cmpd="sng" algn="ctr">
                      <a:solidFill>
                        <a:srgbClr val="D9E1EA"/>
                      </a:solidFill>
                      <a:prstDash val="solid"/>
                      <a:round/>
                      <a:headEnd type="none" w="med" len="med"/>
                      <a:tailEnd type="none" w="med" len="med"/>
                    </a:lnL>
                    <a:lnR w="12700" cap="flat" cmpd="sng" algn="ctr">
                      <a:solidFill>
                        <a:srgbClr val="D9E1EA"/>
                      </a:solidFill>
                      <a:prstDash val="solid"/>
                      <a:round/>
                      <a:headEnd type="none" w="med" len="med"/>
                      <a:tailEnd type="none" w="med" len="med"/>
                    </a:lnR>
                    <a:lnT w="12700" cap="flat" cmpd="sng" algn="ctr">
                      <a:solidFill>
                        <a:srgbClr val="D9E1EA"/>
                      </a:solidFill>
                      <a:prstDash val="solid"/>
                      <a:round/>
                      <a:headEnd type="none" w="med" len="med"/>
                      <a:tailEnd type="none" w="med" len="med"/>
                    </a:lnT>
                    <a:lnB w="12700" cap="flat" cmpd="sng" algn="ctr">
                      <a:solidFill>
                        <a:srgbClr val="D9E1EA"/>
                      </a:solidFill>
                      <a:prstDash val="solid"/>
                      <a:round/>
                      <a:headEnd type="none" w="med" len="med"/>
                      <a:tailEnd type="none" w="med" len="med"/>
                    </a:lnB>
                    <a:solidFill>
                      <a:srgbClr val="0B1B2B"/>
                    </a:solidFill>
                  </a:tcPr>
                </a:tc>
              </a:tr>
              <a:tr h="731520">
                <a:tc>
                  <a:txBody>
                    <a:bodyPr/>
                    <a:lstStyle/>
                    <a:p>
                      <a:pPr indent="0" marL="0">
                        <a:buNone/>
                      </a:pPr>
                      <a:r>
                        <a:rPr lang="en-US" sz="1500" b="1" dirty="0">
                          <a:solidFill>
                            <a:srgbClr val="0B1B2B"/>
                          </a:solidFill>
                        </a:rPr>
                        <a:t>Will this meal push her above 180 mg/dL?</a:t>
                      </a:r>
                      <a:endParaRPr lang="en-US" sz="1500" dirty="0"/>
                    </a:p>
                  </a:txBody>
                  <a:tcPr marL="127000" marR="127000" marT="50800" marB="50800" anchor="ctr">
                    <a:lnL w="12700" cap="flat" cmpd="sng" algn="ctr">
                      <a:solidFill>
                        <a:srgbClr val="D9E1EA"/>
                      </a:solidFill>
                      <a:prstDash val="solid"/>
                      <a:round/>
                      <a:headEnd type="none" w="med" len="med"/>
                      <a:tailEnd type="none" w="med" len="med"/>
                    </a:lnL>
                    <a:lnR w="12700" cap="flat" cmpd="sng" algn="ctr">
                      <a:solidFill>
                        <a:srgbClr val="D9E1EA"/>
                      </a:solidFill>
                      <a:prstDash val="solid"/>
                      <a:round/>
                      <a:headEnd type="none" w="med" len="med"/>
                      <a:tailEnd type="none" w="med" len="med"/>
                    </a:lnR>
                    <a:lnT w="12700" cap="flat" cmpd="sng" algn="ctr">
                      <a:solidFill>
                        <a:srgbClr val="D9E1EA"/>
                      </a:solidFill>
                      <a:prstDash val="solid"/>
                      <a:round/>
                      <a:headEnd type="none" w="med" len="med"/>
                      <a:tailEnd type="none" w="med" len="med"/>
                    </a:lnT>
                    <a:lnB w="12700" cap="flat" cmpd="sng" algn="ctr">
                      <a:solidFill>
                        <a:srgbClr val="D9E1EA"/>
                      </a:solidFill>
                      <a:prstDash val="solid"/>
                      <a:round/>
                      <a:headEnd type="none" w="med" len="med"/>
                      <a:tailEnd type="none" w="med" len="med"/>
                    </a:lnB>
                  </a:tcPr>
                </a:tc>
                <a:tc>
                  <a:txBody>
                    <a:bodyPr/>
                    <a:lstStyle/>
                    <a:p>
                      <a:pPr indent="0" marL="0">
                        <a:buNone/>
                      </a:pPr>
                      <a:r>
                        <a:rPr lang="en-US" sz="1500" dirty="0">
                          <a:solidFill>
                            <a:srgbClr val="44525F"/>
                          </a:solidFill>
                        </a:rPr>
                        <a:t>Probability of glucose above 180 mg/dL for 15+ minutes in the next 2 to 3 hours, with a calibrated band</a:t>
                      </a:r>
                      <a:endParaRPr lang="en-US" sz="1500" dirty="0"/>
                    </a:p>
                  </a:txBody>
                  <a:tcPr marL="127000" marR="127000" marT="50800" marB="50800" anchor="ctr">
                    <a:lnL w="12700" cap="flat" cmpd="sng" algn="ctr">
                      <a:solidFill>
                        <a:srgbClr val="D9E1EA"/>
                      </a:solidFill>
                      <a:prstDash val="solid"/>
                      <a:round/>
                      <a:headEnd type="none" w="med" len="med"/>
                      <a:tailEnd type="none" w="med" len="med"/>
                    </a:lnL>
                    <a:lnR w="12700" cap="flat" cmpd="sng" algn="ctr">
                      <a:solidFill>
                        <a:srgbClr val="D9E1EA"/>
                      </a:solidFill>
                      <a:prstDash val="solid"/>
                      <a:round/>
                      <a:headEnd type="none" w="med" len="med"/>
                      <a:tailEnd type="none" w="med" len="med"/>
                    </a:lnR>
                    <a:lnT w="12700" cap="flat" cmpd="sng" algn="ctr">
                      <a:solidFill>
                        <a:srgbClr val="D9E1EA"/>
                      </a:solidFill>
                      <a:prstDash val="solid"/>
                      <a:round/>
                      <a:headEnd type="none" w="med" len="med"/>
                      <a:tailEnd type="none" w="med" len="med"/>
                    </a:lnT>
                    <a:lnB w="12700" cap="flat" cmpd="sng" algn="ctr">
                      <a:solidFill>
                        <a:srgbClr val="D9E1EA"/>
                      </a:solidFill>
                      <a:prstDash val="solid"/>
                      <a:round/>
                      <a:headEnd type="none" w="med" len="med"/>
                      <a:tailEnd type="none" w="med" len="med"/>
                    </a:lnB>
                  </a:tcPr>
                </a:tc>
              </a:tr>
              <a:tr h="731520">
                <a:tc>
                  <a:txBody>
                    <a:bodyPr/>
                    <a:lstStyle/>
                    <a:p>
                      <a:pPr indent="0" marL="0">
                        <a:buNone/>
                      </a:pPr>
                      <a:r>
                        <a:rPr lang="en-US" sz="1500" b="1" dirty="0">
                          <a:solidFill>
                            <a:srgbClr val="0B1B2B"/>
                          </a:solidFill>
                        </a:rPr>
                        <a:t>Why?</a:t>
                      </a:r>
                      <a:endParaRPr lang="en-US" sz="1500" dirty="0"/>
                    </a:p>
                  </a:txBody>
                  <a:tcPr marL="127000" marR="127000" marT="50800" marB="50800" anchor="ctr">
                    <a:lnL w="12700" cap="flat" cmpd="sng" algn="ctr">
                      <a:solidFill>
                        <a:srgbClr val="D9E1EA"/>
                      </a:solidFill>
                      <a:prstDash val="solid"/>
                      <a:round/>
                      <a:headEnd type="none" w="med" len="med"/>
                      <a:tailEnd type="none" w="med" len="med"/>
                    </a:lnL>
                    <a:lnR w="12700" cap="flat" cmpd="sng" algn="ctr">
                      <a:solidFill>
                        <a:srgbClr val="D9E1EA"/>
                      </a:solidFill>
                      <a:prstDash val="solid"/>
                      <a:round/>
                      <a:headEnd type="none" w="med" len="med"/>
                      <a:tailEnd type="none" w="med" len="med"/>
                    </a:lnR>
                    <a:lnT w="12700" cap="flat" cmpd="sng" algn="ctr">
                      <a:solidFill>
                        <a:srgbClr val="D9E1EA"/>
                      </a:solidFill>
                      <a:prstDash val="solid"/>
                      <a:round/>
                      <a:headEnd type="none" w="med" len="med"/>
                      <a:tailEnd type="none" w="med" len="med"/>
                    </a:lnT>
                    <a:lnB w="12700" cap="flat" cmpd="sng" algn="ctr">
                      <a:solidFill>
                        <a:srgbClr val="D9E1EA"/>
                      </a:solidFill>
                      <a:prstDash val="solid"/>
                      <a:round/>
                      <a:headEnd type="none" w="med" len="med"/>
                      <a:tailEnd type="none" w="med" len="med"/>
                    </a:lnB>
                  </a:tcPr>
                </a:tc>
                <a:tc>
                  <a:txBody>
                    <a:bodyPr/>
                    <a:lstStyle/>
                    <a:p>
                      <a:pPr indent="0" marL="0">
                        <a:buNone/>
                      </a:pPr>
                      <a:r>
                        <a:rPr lang="en-US" sz="1500" dirty="0">
                          <a:solidFill>
                            <a:srgbClr val="44525F"/>
                          </a:solidFill>
                        </a:rPr>
                        <a:t>How much carbohydrate on board, current drift and recent activity add to the expected peak</a:t>
                      </a:r>
                      <a:endParaRPr lang="en-US" sz="1500" dirty="0"/>
                    </a:p>
                  </a:txBody>
                  <a:tcPr marL="127000" marR="127000" marT="50800" marB="50800" anchor="ctr">
                    <a:lnL w="12700" cap="flat" cmpd="sng" algn="ctr">
                      <a:solidFill>
                        <a:srgbClr val="D9E1EA"/>
                      </a:solidFill>
                      <a:prstDash val="solid"/>
                      <a:round/>
                      <a:headEnd type="none" w="med" len="med"/>
                      <a:tailEnd type="none" w="med" len="med"/>
                    </a:lnL>
                    <a:lnR w="12700" cap="flat" cmpd="sng" algn="ctr">
                      <a:solidFill>
                        <a:srgbClr val="D9E1EA"/>
                      </a:solidFill>
                      <a:prstDash val="solid"/>
                      <a:round/>
                      <a:headEnd type="none" w="med" len="med"/>
                      <a:tailEnd type="none" w="med" len="med"/>
                    </a:lnR>
                    <a:lnT w="12700" cap="flat" cmpd="sng" algn="ctr">
                      <a:solidFill>
                        <a:srgbClr val="D9E1EA"/>
                      </a:solidFill>
                      <a:prstDash val="solid"/>
                      <a:round/>
                      <a:headEnd type="none" w="med" len="med"/>
                      <a:tailEnd type="none" w="med" len="med"/>
                    </a:lnT>
                    <a:lnB w="12700" cap="flat" cmpd="sng" algn="ctr">
                      <a:solidFill>
                        <a:srgbClr val="D9E1EA"/>
                      </a:solidFill>
                      <a:prstDash val="solid"/>
                      <a:round/>
                      <a:headEnd type="none" w="med" len="med"/>
                      <a:tailEnd type="none" w="med" len="med"/>
                    </a:lnB>
                  </a:tcPr>
                </a:tc>
              </a:tr>
              <a:tr h="731520">
                <a:tc>
                  <a:txBody>
                    <a:bodyPr/>
                    <a:lstStyle/>
                    <a:p>
                      <a:pPr indent="0" marL="0">
                        <a:buNone/>
                      </a:pPr>
                      <a:r>
                        <a:rPr lang="en-US" sz="1500" b="1" dirty="0">
                          <a:solidFill>
                            <a:srgbClr val="0B1B2B"/>
                          </a:solidFill>
                        </a:rPr>
                        <a:t>What would help?</a:t>
                      </a:r>
                      <a:endParaRPr lang="en-US" sz="1500" dirty="0"/>
                    </a:p>
                  </a:txBody>
                  <a:tcPr marL="127000" marR="127000" marT="50800" marB="50800" anchor="ctr">
                    <a:lnL w="12700" cap="flat" cmpd="sng" algn="ctr">
                      <a:solidFill>
                        <a:srgbClr val="D9E1EA"/>
                      </a:solidFill>
                      <a:prstDash val="solid"/>
                      <a:round/>
                      <a:headEnd type="none" w="med" len="med"/>
                      <a:tailEnd type="none" w="med" len="med"/>
                    </a:lnL>
                    <a:lnR w="12700" cap="flat" cmpd="sng" algn="ctr">
                      <a:solidFill>
                        <a:srgbClr val="D9E1EA"/>
                      </a:solidFill>
                      <a:prstDash val="solid"/>
                      <a:round/>
                      <a:headEnd type="none" w="med" len="med"/>
                      <a:tailEnd type="none" w="med" len="med"/>
                    </a:lnR>
                    <a:lnT w="12700" cap="flat" cmpd="sng" algn="ctr">
                      <a:solidFill>
                        <a:srgbClr val="D9E1EA"/>
                      </a:solidFill>
                      <a:prstDash val="solid"/>
                      <a:round/>
                      <a:headEnd type="none" w="med" len="med"/>
                      <a:tailEnd type="none" w="med" len="med"/>
                    </a:lnT>
                    <a:lnB w="12700" cap="flat" cmpd="sng" algn="ctr">
                      <a:solidFill>
                        <a:srgbClr val="D9E1EA"/>
                      </a:solidFill>
                      <a:prstDash val="solid"/>
                      <a:round/>
                      <a:headEnd type="none" w="med" len="med"/>
                      <a:tailEnd type="none" w="med" len="med"/>
                    </a:lnB>
                  </a:tcPr>
                </a:tc>
                <a:tc>
                  <a:txBody>
                    <a:bodyPr/>
                    <a:lstStyle/>
                    <a:p>
                      <a:pPr indent="0" marL="0">
                        <a:buNone/>
                      </a:pPr>
                      <a:r>
                        <a:rPr lang="en-US" sz="1500" dirty="0">
                          <a:solidFill>
                            <a:srgbClr val="44525F"/>
                          </a:solidFill>
                        </a:rPr>
                        <a:t>The same forecast re-run with a smaller portion, another meal, or a walk</a:t>
                      </a:r>
                      <a:endParaRPr lang="en-US" sz="1500" dirty="0"/>
                    </a:p>
                  </a:txBody>
                  <a:tcPr marL="127000" marR="127000" marT="50800" marB="50800" anchor="ctr">
                    <a:lnL w="12700" cap="flat" cmpd="sng" algn="ctr">
                      <a:solidFill>
                        <a:srgbClr val="D9E1EA"/>
                      </a:solidFill>
                      <a:prstDash val="solid"/>
                      <a:round/>
                      <a:headEnd type="none" w="med" len="med"/>
                      <a:tailEnd type="none" w="med" len="med"/>
                    </a:lnL>
                    <a:lnR w="12700" cap="flat" cmpd="sng" algn="ctr">
                      <a:solidFill>
                        <a:srgbClr val="D9E1EA"/>
                      </a:solidFill>
                      <a:prstDash val="solid"/>
                      <a:round/>
                      <a:headEnd type="none" w="med" len="med"/>
                      <a:tailEnd type="none" w="med" len="med"/>
                    </a:lnR>
                    <a:lnT w="12700" cap="flat" cmpd="sng" algn="ctr">
                      <a:solidFill>
                        <a:srgbClr val="D9E1EA"/>
                      </a:solidFill>
                      <a:prstDash val="solid"/>
                      <a:round/>
                      <a:headEnd type="none" w="med" len="med"/>
                      <a:tailEnd type="none" w="med" len="med"/>
                    </a:lnT>
                    <a:lnB w="12700" cap="flat" cmpd="sng" algn="ctr">
                      <a:solidFill>
                        <a:srgbClr val="D9E1EA"/>
                      </a:solidFill>
                      <a:prstDash val="solid"/>
                      <a:round/>
                      <a:headEnd type="none" w="med" len="med"/>
                      <a:tailEnd type="none" w="med" len="med"/>
                    </a:lnB>
                  </a:tcPr>
                </a:tc>
              </a:tr>
              <a:tr h="731520">
                <a:tc>
                  <a:txBody>
                    <a:bodyPr/>
                    <a:lstStyle/>
                    <a:p>
                      <a:pPr indent="0" marL="0">
                        <a:buNone/>
                      </a:pPr>
                      <a:r>
                        <a:rPr lang="en-US" sz="1500" b="1" dirty="0">
                          <a:solidFill>
                            <a:srgbClr val="0B1B2B"/>
                          </a:solidFill>
                        </a:rPr>
                        <a:t>Can I trust that?</a:t>
                      </a:r>
                      <a:endParaRPr lang="en-US" sz="1500" dirty="0"/>
                    </a:p>
                  </a:txBody>
                  <a:tcPr marL="127000" marR="127000" marT="50800" marB="50800" anchor="ctr">
                    <a:lnL w="12700" cap="flat" cmpd="sng" algn="ctr">
                      <a:solidFill>
                        <a:srgbClr val="D9E1EA"/>
                      </a:solidFill>
                      <a:prstDash val="solid"/>
                      <a:round/>
                      <a:headEnd type="none" w="med" len="med"/>
                      <a:tailEnd type="none" w="med" len="med"/>
                    </a:lnL>
                    <a:lnR w="12700" cap="flat" cmpd="sng" algn="ctr">
                      <a:solidFill>
                        <a:srgbClr val="D9E1EA"/>
                      </a:solidFill>
                      <a:prstDash val="solid"/>
                      <a:round/>
                      <a:headEnd type="none" w="med" len="med"/>
                      <a:tailEnd type="none" w="med" len="med"/>
                    </a:lnR>
                    <a:lnT w="12700" cap="flat" cmpd="sng" algn="ctr">
                      <a:solidFill>
                        <a:srgbClr val="D9E1EA"/>
                      </a:solidFill>
                      <a:prstDash val="solid"/>
                      <a:round/>
                      <a:headEnd type="none" w="med" len="med"/>
                      <a:tailEnd type="none" w="med" len="med"/>
                    </a:lnT>
                    <a:lnB w="12700" cap="flat" cmpd="sng" algn="ctr">
                      <a:solidFill>
                        <a:srgbClr val="D9E1EA"/>
                      </a:solidFill>
                      <a:prstDash val="solid"/>
                      <a:round/>
                      <a:headEnd type="none" w="med" len="med"/>
                      <a:tailEnd type="none" w="med" len="med"/>
                    </a:lnB>
                  </a:tcPr>
                </a:tc>
                <a:tc>
                  <a:txBody>
                    <a:bodyPr/>
                    <a:lstStyle/>
                    <a:p>
                      <a:pPr indent="0" marL="0">
                        <a:buNone/>
                      </a:pPr>
                      <a:r>
                        <a:rPr lang="en-US" sz="1500" dirty="0">
                          <a:solidFill>
                            <a:srgbClr val="44525F"/>
                          </a:solidFill>
                        </a:rPr>
                        <a:t>The track record of such what-ifs on real matched meals, shown beside the answer</a:t>
                      </a:r>
                      <a:endParaRPr lang="en-US" sz="1500" dirty="0"/>
                    </a:p>
                  </a:txBody>
                  <a:tcPr marL="127000" marR="127000" marT="50800" marB="50800" anchor="ctr">
                    <a:lnL w="12700" cap="flat" cmpd="sng" algn="ctr">
                      <a:solidFill>
                        <a:srgbClr val="D9E1EA"/>
                      </a:solidFill>
                      <a:prstDash val="solid"/>
                      <a:round/>
                      <a:headEnd type="none" w="med" len="med"/>
                      <a:tailEnd type="none" w="med" len="med"/>
                    </a:lnL>
                    <a:lnR w="12700" cap="flat" cmpd="sng" algn="ctr">
                      <a:solidFill>
                        <a:srgbClr val="D9E1EA"/>
                      </a:solidFill>
                      <a:prstDash val="solid"/>
                      <a:round/>
                      <a:headEnd type="none" w="med" len="med"/>
                      <a:tailEnd type="none" w="med" len="med"/>
                    </a:lnR>
                    <a:lnT w="12700" cap="flat" cmpd="sng" algn="ctr">
                      <a:solidFill>
                        <a:srgbClr val="D9E1EA"/>
                      </a:solidFill>
                      <a:prstDash val="solid"/>
                      <a:round/>
                      <a:headEnd type="none" w="med" len="med"/>
                      <a:tailEnd type="none" w="med" len="med"/>
                    </a:lnT>
                    <a:lnB w="12700" cap="flat" cmpd="sng" algn="ctr">
                      <a:solidFill>
                        <a:srgbClr val="D9E1EA"/>
                      </a:solidFill>
                      <a:prstDash val="solid"/>
                      <a:round/>
                      <a:headEnd type="none" w="med" len="med"/>
                      <a:tailEnd type="none" w="med" len="med"/>
                    </a:lnB>
                  </a:tcPr>
                </a:tc>
              </a:tr>
              <a:tr h="731520">
                <a:tc>
                  <a:txBody>
                    <a:bodyPr/>
                    <a:lstStyle/>
                    <a:p>
                      <a:pPr indent="0" marL="0">
                        <a:buNone/>
                      </a:pPr>
                      <a:r>
                        <a:rPr lang="en-US" sz="1500" b="1" dirty="0">
                          <a:solidFill>
                            <a:srgbClr val="0B1B2B"/>
                          </a:solidFill>
                        </a:rPr>
                        <a:t>Is today unusual for her?</a:t>
                      </a:r>
                      <a:endParaRPr lang="en-US" sz="1500" dirty="0"/>
                    </a:p>
                  </a:txBody>
                  <a:tcPr marL="127000" marR="127000" marT="50800" marB="50800" anchor="ctr">
                    <a:lnL w="12700" cap="flat" cmpd="sng" algn="ctr">
                      <a:solidFill>
                        <a:srgbClr val="D9E1EA"/>
                      </a:solidFill>
                      <a:prstDash val="solid"/>
                      <a:round/>
                      <a:headEnd type="none" w="med" len="med"/>
                      <a:tailEnd type="none" w="med" len="med"/>
                    </a:lnL>
                    <a:lnR w="12700" cap="flat" cmpd="sng" algn="ctr">
                      <a:solidFill>
                        <a:srgbClr val="D9E1EA"/>
                      </a:solidFill>
                      <a:prstDash val="solid"/>
                      <a:round/>
                      <a:headEnd type="none" w="med" len="med"/>
                      <a:tailEnd type="none" w="med" len="med"/>
                    </a:lnR>
                    <a:lnT w="12700" cap="flat" cmpd="sng" algn="ctr">
                      <a:solidFill>
                        <a:srgbClr val="D9E1EA"/>
                      </a:solidFill>
                      <a:prstDash val="solid"/>
                      <a:round/>
                      <a:headEnd type="none" w="med" len="med"/>
                      <a:tailEnd type="none" w="med" len="med"/>
                    </a:lnT>
                    <a:lnB w="12700" cap="flat" cmpd="sng" algn="ctr">
                      <a:solidFill>
                        <a:srgbClr val="D9E1EA"/>
                      </a:solidFill>
                      <a:prstDash val="solid"/>
                      <a:round/>
                      <a:headEnd type="none" w="med" len="med"/>
                      <a:tailEnd type="none" w="med" len="med"/>
                    </a:lnB>
                  </a:tcPr>
                </a:tc>
                <a:tc>
                  <a:txBody>
                    <a:bodyPr/>
                    <a:lstStyle/>
                    <a:p>
                      <a:pPr indent="0" marL="0">
                        <a:buNone/>
                      </a:pPr>
                      <a:r>
                        <a:rPr lang="en-US" sz="1500" dirty="0">
                          <a:solidFill>
                            <a:srgbClr val="44525F"/>
                          </a:solidFill>
                        </a:rPr>
                        <a:t>Today's carbohydrate response against her own baseline</a:t>
                      </a:r>
                      <a:endParaRPr lang="en-US" sz="1500" dirty="0"/>
                    </a:p>
                  </a:txBody>
                  <a:tcPr marL="127000" marR="127000" marT="50800" marB="50800" anchor="ctr">
                    <a:lnL w="12700" cap="flat" cmpd="sng" algn="ctr">
                      <a:solidFill>
                        <a:srgbClr val="D9E1EA"/>
                      </a:solidFill>
                      <a:prstDash val="solid"/>
                      <a:round/>
                      <a:headEnd type="none" w="med" len="med"/>
                      <a:tailEnd type="none" w="med" len="med"/>
                    </a:lnL>
                    <a:lnR w="12700" cap="flat" cmpd="sng" algn="ctr">
                      <a:solidFill>
                        <a:srgbClr val="D9E1EA"/>
                      </a:solidFill>
                      <a:prstDash val="solid"/>
                      <a:round/>
                      <a:headEnd type="none" w="med" len="med"/>
                      <a:tailEnd type="none" w="med" len="med"/>
                    </a:lnR>
                    <a:lnT w="12700" cap="flat" cmpd="sng" algn="ctr">
                      <a:solidFill>
                        <a:srgbClr val="D9E1EA"/>
                      </a:solidFill>
                      <a:prstDash val="solid"/>
                      <a:round/>
                      <a:headEnd type="none" w="med" len="med"/>
                      <a:tailEnd type="none" w="med" len="med"/>
                    </a:lnT>
                    <a:lnB w="12700" cap="flat" cmpd="sng" algn="ctr">
                      <a:solidFill>
                        <a:srgbClr val="D9E1EA"/>
                      </a:solidFill>
                      <a:prstDash val="solid"/>
                      <a:round/>
                      <a:headEnd type="none" w="med" len="med"/>
                      <a:tailEnd type="none" w="med" len="med"/>
                    </a:lnB>
                  </a:tcPr>
                </a:tc>
              </a:tr>
            </a:tbl>
          </a:graphicData>
        </a:graphic>
      </p:graphicFrame>
      <p:sp>
        <p:nvSpPr>
          <p:cNvPr id="5" name="Text 1"/>
          <p:cNvSpPr txBox="1"/>
          <p:nvPr/>
        </p:nvSpPr>
        <p:spPr>
          <a:xfrm>
            <a:off x="548640" y="5897880"/>
            <a:ext cx="11064240" cy="365760"/>
          </a:xfrm>
          <a:prstGeom prst="rect">
            <a:avLst/>
          </a:prstGeom>
          <a:noFill/>
          <a:ln/>
        </p:spPr>
        <p:txBody>
          <a:bodyPr wrap="square" lIns="0" tIns="0" rIns="0" bIns="0" rtlCol="0" anchor="t"/>
          <a:lstStyle/>
          <a:p>
            <a:pPr indent="0" marL="0">
              <a:buNone/>
            </a:pPr>
            <a:r>
              <a:rPr lang="en-US" sz="1400" dirty="0">
                <a:solidFill>
                  <a:schemeClr val="tx2"/>
                </a:solidFill>
              </a:rPr>
              <a:t>Adverse event predicted: CGM above 180 mg/dL for at least 15 consecutive minutes, forecast while glucose is still at or below 180.</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Two streams, one person, and real data first</a:t>
            </a:r>
            <a:endParaRPr lang="en-US" sz="3200" dirty="0"/>
          </a:p>
        </p:txBody>
      </p:sp>
      <p:sp>
        <p:nvSpPr>
          <p:cNvPr id="4" name="card CGMacros"/>
          <p:cNvSpPr/>
          <p:nvPr/>
        </p:nvSpPr>
        <p:spPr>
          <a:xfrm>
            <a:off x="548640" y="1417320"/>
            <a:ext cx="3520440" cy="3017520"/>
          </a:xfrm>
          <a:prstGeom prst="roundRect">
            <a:avLst>
              <a:gd name="adj" fmla="val 2424"/>
            </a:avLst>
          </a:prstGeom>
          <a:solidFill>
            <a:schemeClr val="bg2"/>
          </a:solidFill>
          <a:ln w="12700">
            <a:solidFill>
              <a:schemeClr val="bg2"/>
            </a:solidFill>
            <a:prstDash val="solid"/>
          </a:ln>
        </p:spPr>
      </p:sp>
      <p:sp>
        <p:nvSpPr>
          <p:cNvPr id="5" name="Text 2"/>
          <p:cNvSpPr txBox="1"/>
          <p:nvPr/>
        </p:nvSpPr>
        <p:spPr>
          <a:xfrm>
            <a:off x="777240" y="1600200"/>
            <a:ext cx="3063240" cy="411480"/>
          </a:xfrm>
          <a:prstGeom prst="rect">
            <a:avLst/>
          </a:prstGeom>
          <a:noFill/>
          <a:ln/>
        </p:spPr>
        <p:txBody>
          <a:bodyPr wrap="square" lIns="0" tIns="0" rIns="0" bIns="0" rtlCol="0" anchor="t"/>
          <a:lstStyle/>
          <a:p>
            <a:pPr indent="0" marL="0">
              <a:buNone/>
            </a:pPr>
            <a:r>
              <a:rPr lang="en-US" sz="1800" b="1" dirty="0">
                <a:solidFill>
                  <a:schemeClr val="tx1"/>
                </a:solidFill>
              </a:rPr>
              <a:t>CGMacros</a:t>
            </a:r>
            <a:endParaRPr lang="en-US" sz="1800" dirty="0"/>
          </a:p>
        </p:txBody>
      </p:sp>
      <p:sp>
        <p:nvSpPr>
          <p:cNvPr id="6" name="Text 3"/>
          <p:cNvSpPr txBox="1"/>
          <p:nvPr/>
        </p:nvSpPr>
        <p:spPr>
          <a:xfrm>
            <a:off x="777240" y="2075688"/>
            <a:ext cx="3063240" cy="219456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45 real adults, USA</a:t>
            </a:r>
            <a:endParaRPr lang="en-US" sz="1400" dirty="0"/>
          </a:p>
          <a:p>
            <a:pPr indent="0" marL="0">
              <a:spcAft>
                <a:spcPts val="400"/>
              </a:spcAft>
              <a:buNone/>
            </a:pPr>
            <a:r>
              <a:rPr lang="en-US" sz="1400" dirty="0">
                <a:solidFill>
                  <a:schemeClr val="tx2"/>
                </a:solidFill>
              </a:rPr>
              <a:t>Labs + Dexcom CGM + Fitbit + meals with macros, about 10 days</a:t>
            </a:r>
            <a:endParaRPr lang="en-US" sz="1400" dirty="0"/>
          </a:p>
          <a:p>
            <a:pPr indent="0" marL="0">
              <a:spcAft>
                <a:spcPts val="400"/>
              </a:spcAft>
              <a:buNone/>
            </a:pPr>
            <a:endParaRPr lang="en-US" sz="1400" dirty="0"/>
          </a:p>
          <a:p>
            <a:pPr indent="0" marL="0">
              <a:spcAft>
                <a:spcPts val="400"/>
              </a:spcAft>
              <a:buNone/>
            </a:pPr>
            <a:r>
              <a:rPr lang="en-US" sz="1400" dirty="0">
                <a:solidFill>
                  <a:schemeClr val="tx2"/>
                </a:solidFill>
              </a:rPr>
              <a:t>Role: development, 5-fold by patient</a:t>
            </a:r>
            <a:endParaRPr lang="en-US" sz="1400" dirty="0"/>
          </a:p>
          <a:p>
            <a:pPr indent="0" marL="0">
              <a:spcAft>
                <a:spcPts val="400"/>
              </a:spcAft>
              <a:buNone/>
            </a:pPr>
            <a:r>
              <a:rPr lang="en-US" sz="1400" dirty="0">
                <a:solidFill>
                  <a:schemeClr val="tx2"/>
                </a:solidFill>
              </a:rPr>
              <a:t>PhysioNet, CC BY-NC-SA 4.0</a:t>
            </a:r>
            <a:endParaRPr lang="en-US" sz="1400" dirty="0"/>
          </a:p>
        </p:txBody>
      </p:sp>
      <p:sp>
        <p:nvSpPr>
          <p:cNvPr id="7" name="card ShanghaiT2DM"/>
          <p:cNvSpPr/>
          <p:nvPr/>
        </p:nvSpPr>
        <p:spPr>
          <a:xfrm>
            <a:off x="4325112" y="1417320"/>
            <a:ext cx="3520440" cy="3017520"/>
          </a:xfrm>
          <a:prstGeom prst="roundRect">
            <a:avLst>
              <a:gd name="adj" fmla="val 2424"/>
            </a:avLst>
          </a:prstGeom>
          <a:solidFill>
            <a:schemeClr val="bg2"/>
          </a:solidFill>
          <a:ln w="12700">
            <a:solidFill>
              <a:schemeClr val="bg2"/>
            </a:solidFill>
            <a:prstDash val="solid"/>
          </a:ln>
        </p:spPr>
      </p:sp>
      <p:sp>
        <p:nvSpPr>
          <p:cNvPr id="8" name="Text 5"/>
          <p:cNvSpPr txBox="1"/>
          <p:nvPr/>
        </p:nvSpPr>
        <p:spPr>
          <a:xfrm>
            <a:off x="4553712" y="1600200"/>
            <a:ext cx="3063240" cy="411480"/>
          </a:xfrm>
          <a:prstGeom prst="rect">
            <a:avLst/>
          </a:prstGeom>
          <a:noFill/>
          <a:ln/>
        </p:spPr>
        <p:txBody>
          <a:bodyPr wrap="square" lIns="0" tIns="0" rIns="0" bIns="0" rtlCol="0" anchor="t"/>
          <a:lstStyle/>
          <a:p>
            <a:pPr indent="0" marL="0">
              <a:buNone/>
            </a:pPr>
            <a:r>
              <a:rPr lang="en-US" sz="1800" b="1" dirty="0">
                <a:solidFill>
                  <a:schemeClr val="tx1"/>
                </a:solidFill>
              </a:rPr>
              <a:t>ShanghaiT2DM</a:t>
            </a:r>
            <a:endParaRPr lang="en-US" sz="1800" dirty="0"/>
          </a:p>
        </p:txBody>
      </p:sp>
      <p:sp>
        <p:nvSpPr>
          <p:cNvPr id="9" name="Text 6"/>
          <p:cNvSpPr txBox="1"/>
          <p:nvPr/>
        </p:nvSpPr>
        <p:spPr>
          <a:xfrm>
            <a:off x="4553712" y="2075688"/>
            <a:ext cx="3063240" cy="219456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109 real recordings, China</a:t>
            </a:r>
            <a:endParaRPr lang="en-US" sz="1400" dirty="0"/>
          </a:p>
          <a:p>
            <a:pPr indent="0" marL="0">
              <a:spcAft>
                <a:spcPts val="400"/>
              </a:spcAft>
              <a:buNone/>
            </a:pPr>
            <a:r>
              <a:rPr lang="en-US" sz="1400" dirty="0">
                <a:solidFill>
                  <a:schemeClr val="tx2"/>
                </a:solidFill>
              </a:rPr>
              <a:t>15-minute CGM, meals as text, half on insulin, no wearable</a:t>
            </a:r>
            <a:endParaRPr lang="en-US" sz="1400" dirty="0"/>
          </a:p>
          <a:p>
            <a:pPr indent="0" marL="0">
              <a:spcAft>
                <a:spcPts val="400"/>
              </a:spcAft>
              <a:buNone/>
            </a:pPr>
            <a:endParaRPr lang="en-US" sz="1400" dirty="0"/>
          </a:p>
          <a:p>
            <a:pPr indent="0" marL="0">
              <a:spcAft>
                <a:spcPts val="400"/>
              </a:spcAft>
              <a:buNone/>
            </a:pPr>
            <a:r>
              <a:rPr lang="en-US" sz="1400" dirty="0">
                <a:solidFill>
                  <a:schemeClr val="tx2"/>
                </a:solidFill>
              </a:rPr>
              <a:t>Role: unseen test only</a:t>
            </a:r>
            <a:endParaRPr lang="en-US" sz="1400" dirty="0"/>
          </a:p>
          <a:p>
            <a:pPr indent="0" marL="0">
              <a:spcAft>
                <a:spcPts val="400"/>
              </a:spcAft>
              <a:buNone/>
            </a:pPr>
            <a:r>
              <a:rPr lang="en-US" sz="1400" dirty="0">
                <a:solidFill>
                  <a:schemeClr val="tx2"/>
                </a:solidFill>
              </a:rPr>
              <a:t>figshare, CC BY 4.0</a:t>
            </a:r>
            <a:endParaRPr lang="en-US" sz="1400" dirty="0"/>
          </a:p>
        </p:txBody>
      </p:sp>
      <p:sp>
        <p:nvSpPr>
          <p:cNvPr id="10" name="card Synthetic cohort"/>
          <p:cNvSpPr/>
          <p:nvPr/>
        </p:nvSpPr>
        <p:spPr>
          <a:xfrm>
            <a:off x="8101584" y="1417320"/>
            <a:ext cx="3520440" cy="3017520"/>
          </a:xfrm>
          <a:prstGeom prst="roundRect">
            <a:avLst>
              <a:gd name="adj" fmla="val 2424"/>
            </a:avLst>
          </a:prstGeom>
          <a:solidFill>
            <a:schemeClr val="bg2"/>
          </a:solidFill>
          <a:ln w="12700">
            <a:solidFill>
              <a:schemeClr val="bg2"/>
            </a:solidFill>
            <a:prstDash val="solid"/>
          </a:ln>
        </p:spPr>
      </p:sp>
      <p:sp>
        <p:nvSpPr>
          <p:cNvPr id="11" name="Text 8"/>
          <p:cNvSpPr txBox="1"/>
          <p:nvPr/>
        </p:nvSpPr>
        <p:spPr>
          <a:xfrm>
            <a:off x="8330184" y="1600200"/>
            <a:ext cx="3063240" cy="411480"/>
          </a:xfrm>
          <a:prstGeom prst="rect">
            <a:avLst/>
          </a:prstGeom>
          <a:noFill/>
          <a:ln/>
        </p:spPr>
        <p:txBody>
          <a:bodyPr wrap="square" lIns="0" tIns="0" rIns="0" bIns="0" rtlCol="0" anchor="t"/>
          <a:lstStyle/>
          <a:p>
            <a:pPr indent="0" marL="0">
              <a:buNone/>
            </a:pPr>
            <a:r>
              <a:rPr lang="en-US" sz="1800" b="1" dirty="0">
                <a:solidFill>
                  <a:schemeClr val="tx1"/>
                </a:solidFill>
              </a:rPr>
              <a:t>Synthetic cohort</a:t>
            </a:r>
            <a:endParaRPr lang="en-US" sz="1800" dirty="0"/>
          </a:p>
        </p:txBody>
      </p:sp>
      <p:sp>
        <p:nvSpPr>
          <p:cNvPr id="12" name="Text 9"/>
          <p:cNvSpPr txBox="1"/>
          <p:nvPr/>
        </p:nvSpPr>
        <p:spPr>
          <a:xfrm>
            <a:off x="8330184" y="2075688"/>
            <a:ext cx="3063240" cy="219456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60 virtual patients, Indian meals</a:t>
            </a:r>
            <a:endParaRPr lang="en-US" sz="1400" dirty="0"/>
          </a:p>
          <a:p>
            <a:pPr indent="0" marL="0">
              <a:spcAft>
                <a:spcPts val="400"/>
              </a:spcAft>
              <a:buNone/>
            </a:pPr>
            <a:r>
              <a:rPr lang="en-US" sz="1400" dirty="0">
                <a:solidFill>
                  <a:schemeClr val="tx2"/>
                </a:solidFill>
              </a:rPr>
              <a:t>EHR tables + CGM, heart rate, steps, sleep from one hidden physiology</a:t>
            </a:r>
            <a:endParaRPr lang="en-US" sz="1400" dirty="0"/>
          </a:p>
          <a:p>
            <a:pPr indent="0" marL="0">
              <a:spcAft>
                <a:spcPts val="400"/>
              </a:spcAft>
              <a:buNone/>
            </a:pPr>
            <a:endParaRPr lang="en-US" sz="1400" dirty="0"/>
          </a:p>
          <a:p>
            <a:pPr indent="0" marL="0">
              <a:spcAft>
                <a:spcPts val="400"/>
              </a:spcAft>
              <a:buNone/>
            </a:pPr>
            <a:r>
              <a:rPr lang="en-US" sz="1400" dirty="0">
                <a:solidFill>
                  <a:schemeClr val="tx2"/>
                </a:solidFill>
              </a:rPr>
              <a:t>Role: verification and demo only</a:t>
            </a:r>
            <a:endParaRPr lang="en-US" sz="1400" dirty="0"/>
          </a:p>
          <a:p>
            <a:pPr indent="0" marL="0">
              <a:spcAft>
                <a:spcPts val="400"/>
              </a:spcAft>
              <a:buNone/>
            </a:pPr>
            <a:r>
              <a:rPr lang="en-US" sz="1400" dirty="0">
                <a:solidFill>
                  <a:schemeClr val="tx2"/>
                </a:solidFill>
              </a:rPr>
              <a:t>Generated here</a:t>
            </a:r>
            <a:endParaRPr lang="en-US" sz="1400" dirty="0"/>
          </a:p>
        </p:txBody>
      </p:sp>
      <p:sp>
        <p:nvSpPr>
          <p:cNvPr id="13" name="Text 10"/>
          <p:cNvSpPr txBox="1"/>
          <p:nvPr/>
        </p:nvSpPr>
        <p:spPr>
          <a:xfrm>
            <a:off x="548640" y="4800600"/>
            <a:ext cx="11064240" cy="365760"/>
          </a:xfrm>
          <a:prstGeom prst="rect">
            <a:avLst/>
          </a:prstGeom>
          <a:noFill/>
          <a:ln/>
        </p:spPr>
        <p:txBody>
          <a:bodyPr wrap="square" lIns="0" tIns="0" rIns="0" bIns="0" rtlCol="0" anchor="t"/>
          <a:lstStyle/>
          <a:p>
            <a:pPr indent="0" marL="0">
              <a:buNone/>
            </a:pPr>
            <a:r>
              <a:rPr lang="en-US" sz="1600" b="1" dirty="0">
                <a:solidFill>
                  <a:schemeClr val="tx1"/>
                </a:solidFill>
              </a:rPr>
              <a:t>Static record: age, sex, weight, BMI, HbA1c, fasting glucose, fasting insulin.   Dynamic: CGM, meals, activity.</a:t>
            </a:r>
            <a:endParaRPr lang="en-US" sz="1600" dirty="0"/>
          </a:p>
        </p:txBody>
      </p:sp>
      <p:sp>
        <p:nvSpPr>
          <p:cNvPr id="14" name="Text 11"/>
          <p:cNvSpPr txBox="1"/>
          <p:nvPr/>
        </p:nvSpPr>
        <p:spPr>
          <a:xfrm>
            <a:off x="548640" y="5303520"/>
            <a:ext cx="11064240" cy="365760"/>
          </a:xfrm>
          <a:prstGeom prst="rect">
            <a:avLst/>
          </a:prstGeom>
          <a:noFill/>
          <a:ln/>
        </p:spPr>
        <p:txBody>
          <a:bodyPr wrap="square" lIns="0" tIns="0" rIns="0" bIns="0" rtlCol="0" anchor="t"/>
          <a:lstStyle/>
          <a:p>
            <a:pPr indent="0" marL="0">
              <a:buNone/>
            </a:pPr>
            <a:r>
              <a:rPr lang="en-US" sz="1500" dirty="0">
                <a:solidFill>
                  <a:schemeClr val="tx2"/>
                </a:solidFill>
              </a:rPr>
              <a:t>No Indian CGM dataset with linked labs is openly available. We say so, and do not claim Indian accuracy.</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Architecture: labs set the prior, every reading updates the twin</a:t>
            </a:r>
            <a:endParaRPr lang="en-US" sz="3200" dirty="0"/>
          </a:p>
        </p:txBody>
      </p:sp>
      <p:pic>
        <p:nvPicPr>
          <p:cNvPr id="4" name="Image 0" descr="Architecture diagram">    </p:cNvPr>
          <p:cNvPicPr>
            <a:picLocks noChangeAspect="1"/>
          </p:cNvPicPr>
          <p:nvPr/>
        </p:nvPicPr>
        <p:blipFill>
          <a:blip r:embed="rId1"/>
          <a:stretch>
            <a:fillRect/>
          </a:stretch>
        </p:blipFill>
        <p:spPr>
          <a:xfrm>
            <a:off x="1709928" y="1280160"/>
            <a:ext cx="8778240" cy="4965047"/>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A small physiology model, kept in step with the patient</a:t>
            </a:r>
            <a:endParaRPr lang="en-US" sz="3200" dirty="0"/>
          </a:p>
        </p:txBody>
      </p:sp>
      <p:sp>
        <p:nvSpPr>
          <p:cNvPr id="4" name="card The virtual patient"/>
          <p:cNvSpPr/>
          <p:nvPr/>
        </p:nvSpPr>
        <p:spPr>
          <a:xfrm>
            <a:off x="548640" y="1417320"/>
            <a:ext cx="5120640" cy="4434840"/>
          </a:xfrm>
          <a:prstGeom prst="roundRect">
            <a:avLst>
              <a:gd name="adj" fmla="val 1649"/>
            </a:avLst>
          </a:prstGeom>
          <a:solidFill>
            <a:schemeClr val="bg2"/>
          </a:solidFill>
          <a:ln w="12700">
            <a:solidFill>
              <a:schemeClr val="bg2"/>
            </a:solidFill>
            <a:prstDash val="solid"/>
          </a:ln>
        </p:spPr>
      </p:sp>
      <p:sp>
        <p:nvSpPr>
          <p:cNvPr id="5" name="Text 2"/>
          <p:cNvSpPr txBox="1"/>
          <p:nvPr/>
        </p:nvSpPr>
        <p:spPr>
          <a:xfrm>
            <a:off x="777240" y="1600200"/>
            <a:ext cx="4663440" cy="411480"/>
          </a:xfrm>
          <a:prstGeom prst="rect">
            <a:avLst/>
          </a:prstGeom>
          <a:noFill/>
          <a:ln/>
        </p:spPr>
        <p:txBody>
          <a:bodyPr wrap="square" lIns="0" tIns="0" rIns="0" bIns="0" rtlCol="0" anchor="t"/>
          <a:lstStyle/>
          <a:p>
            <a:pPr indent="0" marL="0">
              <a:buNone/>
            </a:pPr>
            <a:r>
              <a:rPr lang="en-US" sz="1800" b="1" dirty="0">
                <a:solidFill>
                  <a:schemeClr val="tx1"/>
                </a:solidFill>
              </a:rPr>
              <a:t>The virtual patient</a:t>
            </a:r>
            <a:endParaRPr lang="en-US" sz="1800" dirty="0"/>
          </a:p>
        </p:txBody>
      </p:sp>
      <p:sp>
        <p:nvSpPr>
          <p:cNvPr id="6" name="Text 3"/>
          <p:cNvSpPr txBox="1"/>
          <p:nvPr/>
        </p:nvSpPr>
        <p:spPr>
          <a:xfrm>
            <a:off x="777240" y="2075688"/>
            <a:ext cx="4663440" cy="3611880"/>
          </a:xfrm>
          <a:prstGeom prst="rect">
            <a:avLst/>
          </a:prstGeom>
          <a:noFill/>
          <a:ln/>
        </p:spPr>
        <p:txBody>
          <a:bodyPr wrap="square" lIns="0" tIns="0" rIns="0" bIns="0" rtlCol="0" anchor="t"/>
          <a:lstStyle/>
          <a:p>
            <a:pPr indent="0" marL="0">
              <a:spcAft>
                <a:spcPts val="400"/>
              </a:spcAft>
              <a:buNone/>
            </a:pPr>
            <a:r>
              <a:rPr lang="en-US" sz="1500" dirty="0">
                <a:solidFill>
                  <a:schemeClr val="tx2"/>
                </a:solidFill>
              </a:rPr>
              <a:t>States, now: glucose, insulin action, insulin drive, unexplained drift</a:t>
            </a:r>
            <a:endParaRPr lang="en-US" sz="1500" dirty="0"/>
          </a:p>
          <a:p>
            <a:pPr indent="0" marL="0">
              <a:spcAft>
                <a:spcPts val="400"/>
              </a:spcAft>
              <a:buNone/>
            </a:pPr>
            <a:endParaRPr lang="en-US" sz="1500" dirty="0"/>
          </a:p>
          <a:p>
            <a:pPr indent="0" marL="0">
              <a:spcAft>
                <a:spcPts val="400"/>
              </a:spcAft>
              <a:buNone/>
            </a:pPr>
            <a:r>
              <a:rPr lang="en-US" sz="1500" dirty="0">
                <a:solidFill>
                  <a:schemeClr val="tx2"/>
                </a:solidFill>
              </a:rPr>
              <a:t>Parameters, this person: basal glucose, insulin-mediated disposal, gut absorption rate, carbohydrate sensitivity, activity uptake</a:t>
            </a:r>
            <a:endParaRPr lang="en-US" sz="1500" dirty="0"/>
          </a:p>
          <a:p>
            <a:pPr indent="0" marL="0">
              <a:spcAft>
                <a:spcPts val="400"/>
              </a:spcAft>
              <a:buNone/>
            </a:pPr>
            <a:endParaRPr lang="en-US" sz="1500" dirty="0"/>
          </a:p>
          <a:p>
            <a:pPr indent="0" marL="0">
              <a:spcAft>
                <a:spcPts val="400"/>
              </a:spcAft>
              <a:buNone/>
            </a:pPr>
            <a:r>
              <a:rPr lang="en-US" sz="1500" dirty="0">
                <a:solidFill>
                  <a:schemeClr val="tx2"/>
                </a:solidFill>
              </a:rPr>
              <a:t>Shared by everyone: meal-composition and time-of-day effects</a:t>
            </a:r>
            <a:endParaRPr lang="en-US" sz="1500" dirty="0"/>
          </a:p>
        </p:txBody>
      </p:sp>
      <p:sp>
        <p:nvSpPr>
          <p:cNvPr id="7" name="step 1"/>
          <p:cNvSpPr/>
          <p:nvPr/>
        </p:nvSpPr>
        <p:spPr>
          <a:xfrm>
            <a:off x="6126480" y="1508760"/>
            <a:ext cx="457200" cy="457200"/>
          </a:xfrm>
          <a:prstGeom prst="ellipse">
            <a:avLst/>
          </a:prstGeom>
          <a:solidFill>
            <a:schemeClr val="accent1"/>
          </a:solidFill>
          <a:ln w="12700">
            <a:solidFill>
              <a:schemeClr val="accent1"/>
            </a:solidFill>
            <a:prstDash val="solid"/>
          </a:ln>
        </p:spPr>
      </p:sp>
      <p:sp>
        <p:nvSpPr>
          <p:cNvPr id="8" name="Text 5"/>
          <p:cNvSpPr txBox="1"/>
          <p:nvPr/>
        </p:nvSpPr>
        <p:spPr>
          <a:xfrm>
            <a:off x="6126480"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9" name="Text 6"/>
          <p:cNvSpPr txBox="1"/>
          <p:nvPr/>
        </p:nvSpPr>
        <p:spPr>
          <a:xfrm>
            <a:off x="6812280" y="1444752"/>
            <a:ext cx="4800600" cy="365760"/>
          </a:xfrm>
          <a:prstGeom prst="rect">
            <a:avLst/>
          </a:prstGeom>
          <a:noFill/>
          <a:ln/>
        </p:spPr>
        <p:txBody>
          <a:bodyPr wrap="square" lIns="0" tIns="0" rIns="0" bIns="0" rtlCol="0" anchor="t"/>
          <a:lstStyle/>
          <a:p>
            <a:pPr indent="0" marL="0">
              <a:buNone/>
            </a:pPr>
            <a:r>
              <a:rPr lang="en-US" sz="1900" b="1" dirty="0">
                <a:solidFill>
                  <a:schemeClr val="tx1"/>
                </a:solidFill>
              </a:rPr>
              <a:t>Labs set the prior</a:t>
            </a:r>
            <a:endParaRPr lang="en-US" sz="1900" dirty="0"/>
          </a:p>
        </p:txBody>
      </p:sp>
      <p:sp>
        <p:nvSpPr>
          <p:cNvPr id="10" name="Text 7"/>
          <p:cNvSpPr txBox="1"/>
          <p:nvPr/>
        </p:nvSpPr>
        <p:spPr>
          <a:xfrm>
            <a:off x="6812280" y="1847088"/>
            <a:ext cx="4800600" cy="685800"/>
          </a:xfrm>
          <a:prstGeom prst="rect">
            <a:avLst/>
          </a:prstGeom>
          <a:noFill/>
          <a:ln/>
        </p:spPr>
        <p:txBody>
          <a:bodyPr wrap="square" lIns="0" tIns="0" rIns="0" bIns="0" rtlCol="0" anchor="t"/>
          <a:lstStyle/>
          <a:p>
            <a:pPr indent="0" marL="0">
              <a:buNone/>
            </a:pPr>
            <a:r>
              <a:rPr lang="en-US" sz="1400" dirty="0">
                <a:solidFill>
                  <a:schemeClr val="tx2"/>
                </a:solidFill>
              </a:rPr>
              <a:t>HbA1c, fasting glucose, fasting insulin and BMI map to a starting estimate of each parameter</a:t>
            </a:r>
            <a:endParaRPr lang="en-US" sz="1400" dirty="0"/>
          </a:p>
        </p:txBody>
      </p:sp>
      <p:sp>
        <p:nvSpPr>
          <p:cNvPr id="11" name="step 2"/>
          <p:cNvSpPr/>
          <p:nvPr/>
        </p:nvSpPr>
        <p:spPr>
          <a:xfrm>
            <a:off x="6126480" y="2697480"/>
            <a:ext cx="457200" cy="457200"/>
          </a:xfrm>
          <a:prstGeom prst="ellipse">
            <a:avLst/>
          </a:prstGeom>
          <a:solidFill>
            <a:schemeClr val="accent1"/>
          </a:solidFill>
          <a:ln w="12700">
            <a:solidFill>
              <a:schemeClr val="accent1"/>
            </a:solidFill>
            <a:prstDash val="solid"/>
          </a:ln>
        </p:spPr>
      </p:sp>
      <p:sp>
        <p:nvSpPr>
          <p:cNvPr id="12" name="Text 9"/>
          <p:cNvSpPr txBox="1"/>
          <p:nvPr/>
        </p:nvSpPr>
        <p:spPr>
          <a:xfrm>
            <a:off x="6126480" y="2697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0"/>
          <p:cNvSpPr txBox="1"/>
          <p:nvPr/>
        </p:nvSpPr>
        <p:spPr>
          <a:xfrm>
            <a:off x="6812280" y="2633472"/>
            <a:ext cx="4800600" cy="365760"/>
          </a:xfrm>
          <a:prstGeom prst="rect">
            <a:avLst/>
          </a:prstGeom>
          <a:noFill/>
          <a:ln/>
        </p:spPr>
        <p:txBody>
          <a:bodyPr wrap="square" lIns="0" tIns="0" rIns="0" bIns="0" rtlCol="0" anchor="t"/>
          <a:lstStyle/>
          <a:p>
            <a:pPr indent="0" marL="0">
              <a:buNone/>
            </a:pPr>
            <a:r>
              <a:rPr lang="en-US" sz="1900" b="1" dirty="0">
                <a:solidFill>
                  <a:schemeClr val="tx1"/>
                </a:solidFill>
              </a:rPr>
              <a:t>Every reading corrects it</a:t>
            </a:r>
            <a:endParaRPr lang="en-US" sz="1900" dirty="0"/>
          </a:p>
        </p:txBody>
      </p:sp>
      <p:sp>
        <p:nvSpPr>
          <p:cNvPr id="14" name="Text 11"/>
          <p:cNvSpPr txBox="1"/>
          <p:nvPr/>
        </p:nvSpPr>
        <p:spPr>
          <a:xfrm>
            <a:off x="6812280" y="3035808"/>
            <a:ext cx="4800600" cy="685800"/>
          </a:xfrm>
          <a:prstGeom prst="rect">
            <a:avLst/>
          </a:prstGeom>
          <a:noFill/>
          <a:ln/>
        </p:spPr>
        <p:txBody>
          <a:bodyPr wrap="square" lIns="0" tIns="0" rIns="0" bIns="0" rtlCol="0" anchor="t"/>
          <a:lstStyle/>
          <a:p>
            <a:pPr indent="0" marL="0">
              <a:buNone/>
            </a:pPr>
            <a:r>
              <a:rPr lang="en-US" sz="1400" dirty="0">
                <a:solidFill>
                  <a:schemeClr val="tx2"/>
                </a:solidFill>
              </a:rPr>
              <a:t>A 128-member ensemble Kalman filter updates states and parameters together; it coasts through sensor gaps</a:t>
            </a:r>
            <a:endParaRPr lang="en-US" sz="1400" dirty="0"/>
          </a:p>
        </p:txBody>
      </p:sp>
      <p:sp>
        <p:nvSpPr>
          <p:cNvPr id="15" name="step 3"/>
          <p:cNvSpPr/>
          <p:nvPr/>
        </p:nvSpPr>
        <p:spPr>
          <a:xfrm>
            <a:off x="6126480" y="3886200"/>
            <a:ext cx="457200" cy="457200"/>
          </a:xfrm>
          <a:prstGeom prst="ellipse">
            <a:avLst/>
          </a:prstGeom>
          <a:solidFill>
            <a:schemeClr val="accent1"/>
          </a:solidFill>
          <a:ln w="12700">
            <a:solidFill>
              <a:schemeClr val="accent1"/>
            </a:solidFill>
            <a:prstDash val="solid"/>
          </a:ln>
        </p:spPr>
      </p:sp>
      <p:sp>
        <p:nvSpPr>
          <p:cNvPr id="16" name="Text 13"/>
          <p:cNvSpPr txBox="1"/>
          <p:nvPr/>
        </p:nvSpPr>
        <p:spPr>
          <a:xfrm>
            <a:off x="6126480" y="38862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4"/>
          <p:cNvSpPr txBox="1"/>
          <p:nvPr/>
        </p:nvSpPr>
        <p:spPr>
          <a:xfrm>
            <a:off x="6812280" y="3822192"/>
            <a:ext cx="4800600" cy="365760"/>
          </a:xfrm>
          <a:prstGeom prst="rect">
            <a:avLst/>
          </a:prstGeom>
          <a:noFill/>
          <a:ln/>
        </p:spPr>
        <p:txBody>
          <a:bodyPr wrap="square" lIns="0" tIns="0" rIns="0" bIns="0" rtlCol="0" anchor="t"/>
          <a:lstStyle/>
          <a:p>
            <a:pPr indent="0" marL="0">
              <a:buNone/>
            </a:pPr>
            <a:r>
              <a:rPr lang="en-US" sz="1900" b="1" dirty="0">
                <a:solidFill>
                  <a:schemeClr val="tx1"/>
                </a:solidFill>
              </a:rPr>
              <a:t>Roll forward three hours</a:t>
            </a:r>
            <a:endParaRPr lang="en-US" sz="1900" dirty="0"/>
          </a:p>
        </p:txBody>
      </p:sp>
      <p:sp>
        <p:nvSpPr>
          <p:cNvPr id="18" name="Text 15"/>
          <p:cNvSpPr txBox="1"/>
          <p:nvPr/>
        </p:nvSpPr>
        <p:spPr>
          <a:xfrm>
            <a:off x="6812280" y="4224528"/>
            <a:ext cx="4800600" cy="685800"/>
          </a:xfrm>
          <a:prstGeom prst="rect">
            <a:avLst/>
          </a:prstGeom>
          <a:noFill/>
          <a:ln/>
        </p:spPr>
        <p:txBody>
          <a:bodyPr wrap="square" lIns="0" tIns="0" rIns="0" bIns="0" rtlCol="0" anchor="t"/>
          <a:lstStyle/>
          <a:p>
            <a:pPr indent="0" marL="0">
              <a:buNone/>
            </a:pPr>
            <a:r>
              <a:rPr lang="en-US" sz="1400" dirty="0">
                <a:solidFill>
                  <a:schemeClr val="tx2"/>
                </a:solidFill>
              </a:rPr>
              <a:t>Physics forecast, a capped LightGBM correction, and a conformal band re-calibrated per patient</a:t>
            </a:r>
            <a:endParaRPr lang="en-US" sz="1400" dirty="0"/>
          </a:p>
        </p:txBody>
      </p:sp>
      <p:sp>
        <p:nvSpPr>
          <p:cNvPr id="19" name="card Never fitted to its own patient: prior, then online updates only"/>
          <p:cNvSpPr/>
          <p:nvPr/>
        </p:nvSpPr>
        <p:spPr>
          <a:xfrm>
            <a:off x="6126480" y="5029200"/>
            <a:ext cx="5486400" cy="822960"/>
          </a:xfrm>
          <a:prstGeom prst="roundRect">
            <a:avLst>
              <a:gd name="adj" fmla="val 8889"/>
            </a:avLst>
          </a:prstGeom>
          <a:solidFill>
            <a:schemeClr val="accent1"/>
          </a:solidFill>
          <a:ln w="12700">
            <a:solidFill>
              <a:schemeClr val="accent1"/>
            </a:solidFill>
            <a:prstDash val="solid"/>
          </a:ln>
        </p:spPr>
      </p:sp>
      <p:sp>
        <p:nvSpPr>
          <p:cNvPr id="20" name="Text 17"/>
          <p:cNvSpPr txBox="1"/>
          <p:nvPr/>
        </p:nvSpPr>
        <p:spPr>
          <a:xfrm>
            <a:off x="6355080" y="5212080"/>
            <a:ext cx="5029200" cy="411480"/>
          </a:xfrm>
          <a:prstGeom prst="rect">
            <a:avLst/>
          </a:prstGeom>
          <a:noFill/>
          <a:ln/>
        </p:spPr>
        <p:txBody>
          <a:bodyPr wrap="square" lIns="0" tIns="0" rIns="0" bIns="0" rtlCol="0" anchor="t"/>
          <a:lstStyle/>
          <a:p>
            <a:pPr indent="0" marL="0">
              <a:buNone/>
            </a:pPr>
            <a:r>
              <a:rPr lang="en-US" sz="1600" b="1" dirty="0">
                <a:solidFill>
                  <a:schemeClr val="bg1"/>
                </a:solidFill>
              </a:rPr>
              <a:t>Never fitted to its own patient: prior, then online updates only</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What the clinician sees</a:t>
            </a:r>
            <a:endParaRPr lang="en-US" sz="3200" dirty="0"/>
          </a:p>
        </p:txBody>
      </p:sp>
      <p:pic>
        <p:nvPicPr>
          <p:cNvPr id="4" name="Image 0" descr="Dashboard screenshot">    </p:cNvPr>
          <p:cNvPicPr>
            <a:picLocks noChangeAspect="1"/>
          </p:cNvPicPr>
          <p:nvPr/>
        </p:nvPicPr>
        <p:blipFill>
          <a:blip r:embed="rId1"/>
          <a:stretch>
            <a:fillRect/>
          </a:stretch>
        </p:blipFill>
        <p:spPr>
          <a:xfrm>
            <a:off x="5760720" y="1280160"/>
            <a:ext cx="5852160" cy="5012267"/>
          </a:xfrm>
          <a:prstGeom prst="rect">
            <a:avLst/>
          </a:prstGeom>
        </p:spPr>
      </p:pic>
      <p:sp>
        <p:nvSpPr>
          <p:cNvPr id="5" name="step 1"/>
          <p:cNvSpPr/>
          <p:nvPr/>
        </p:nvSpPr>
        <p:spPr>
          <a:xfrm>
            <a:off x="548640" y="1463040"/>
            <a:ext cx="457200" cy="457200"/>
          </a:xfrm>
          <a:prstGeom prst="ellipse">
            <a:avLst/>
          </a:prstGeom>
          <a:solidFill>
            <a:schemeClr val="accent1"/>
          </a:solidFill>
          <a:ln w="12700">
            <a:solidFill>
              <a:schemeClr val="accent1"/>
            </a:solidFill>
            <a:prstDash val="solid"/>
          </a:ln>
        </p:spPr>
      </p:sp>
      <p:sp>
        <p:nvSpPr>
          <p:cNvPr id="6" name="Text 2"/>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3"/>
          <p:cNvSpPr txBox="1"/>
          <p:nvPr/>
        </p:nvSpPr>
        <p:spPr>
          <a:xfrm>
            <a:off x="1188720" y="1417320"/>
            <a:ext cx="4297680" cy="365760"/>
          </a:xfrm>
          <a:prstGeom prst="rect">
            <a:avLst/>
          </a:prstGeom>
          <a:noFill/>
          <a:ln/>
        </p:spPr>
        <p:txBody>
          <a:bodyPr wrap="square" lIns="0" tIns="0" rIns="0" bIns="0" rtlCol="0" anchor="t"/>
          <a:lstStyle/>
          <a:p>
            <a:pPr indent="0" marL="0">
              <a:buNone/>
            </a:pPr>
            <a:r>
              <a:rPr lang="en-US" sz="1800" b="1" dirty="0">
                <a:solidFill>
                  <a:schemeClr val="tx1"/>
                </a:solidFill>
              </a:rPr>
              <a:t>Record and twin state</a:t>
            </a:r>
            <a:endParaRPr lang="en-US" sz="1800" dirty="0"/>
          </a:p>
        </p:txBody>
      </p:sp>
      <p:sp>
        <p:nvSpPr>
          <p:cNvPr id="8" name="Text 4"/>
          <p:cNvSpPr txBox="1"/>
          <p:nvPr/>
        </p:nvSpPr>
        <p:spPr>
          <a:xfrm>
            <a:off x="1188720" y="1801368"/>
            <a:ext cx="4297680" cy="640080"/>
          </a:xfrm>
          <a:prstGeom prst="rect">
            <a:avLst/>
          </a:prstGeom>
          <a:noFill/>
          <a:ln/>
        </p:spPr>
        <p:txBody>
          <a:bodyPr wrap="square" lIns="0" tIns="0" rIns="0" bIns="0" rtlCol="0" anchor="t"/>
          <a:lstStyle/>
          <a:p>
            <a:pPr indent="0" marL="0">
              <a:buNone/>
            </a:pPr>
            <a:r>
              <a:rPr lang="en-US" sz="1500" dirty="0">
                <a:solidFill>
                  <a:schemeClr val="tx2"/>
                </a:solidFill>
              </a:rPr>
              <a:t>Labs, basal glucose, standard-meal peak, today vs own baseline</a:t>
            </a:r>
            <a:endParaRPr lang="en-US" sz="1500" dirty="0"/>
          </a:p>
        </p:txBody>
      </p:sp>
      <p:sp>
        <p:nvSpPr>
          <p:cNvPr id="9" name="step 2"/>
          <p:cNvSpPr/>
          <p:nvPr/>
        </p:nvSpPr>
        <p:spPr>
          <a:xfrm>
            <a:off x="548640" y="2606040"/>
            <a:ext cx="457200" cy="457200"/>
          </a:xfrm>
          <a:prstGeom prst="ellipse">
            <a:avLst/>
          </a:prstGeom>
          <a:solidFill>
            <a:schemeClr val="accent1"/>
          </a:solidFill>
          <a:ln w="12700">
            <a:solidFill>
              <a:schemeClr val="accent1"/>
            </a:solidFill>
            <a:prstDash val="solid"/>
          </a:ln>
        </p:spPr>
      </p:sp>
      <p:sp>
        <p:nvSpPr>
          <p:cNvPr id="10" name="Text 6"/>
          <p:cNvSpPr txBox="1"/>
          <p:nvPr/>
        </p:nvSpPr>
        <p:spPr>
          <a:xfrm>
            <a:off x="548640" y="2606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7"/>
          <p:cNvSpPr txBox="1"/>
          <p:nvPr/>
        </p:nvSpPr>
        <p:spPr>
          <a:xfrm>
            <a:off x="1188720" y="2560320"/>
            <a:ext cx="4297680" cy="365760"/>
          </a:xfrm>
          <a:prstGeom prst="rect">
            <a:avLst/>
          </a:prstGeom>
          <a:noFill/>
          <a:ln/>
        </p:spPr>
        <p:txBody>
          <a:bodyPr wrap="square" lIns="0" tIns="0" rIns="0" bIns="0" rtlCol="0" anchor="t"/>
          <a:lstStyle/>
          <a:p>
            <a:pPr indent="0" marL="0">
              <a:buNone/>
            </a:pPr>
            <a:r>
              <a:rPr lang="en-US" sz="1800" b="1" dirty="0">
                <a:solidFill>
                  <a:schemeClr val="tx1"/>
                </a:solidFill>
              </a:rPr>
              <a:t>Forecast and alert</a:t>
            </a:r>
            <a:endParaRPr lang="en-US" sz="1800" dirty="0"/>
          </a:p>
        </p:txBody>
      </p:sp>
      <p:sp>
        <p:nvSpPr>
          <p:cNvPr id="12" name="Text 8"/>
          <p:cNvSpPr txBox="1"/>
          <p:nvPr/>
        </p:nvSpPr>
        <p:spPr>
          <a:xfrm>
            <a:off x="1188720" y="2944368"/>
            <a:ext cx="4297680" cy="640080"/>
          </a:xfrm>
          <a:prstGeom prst="rect">
            <a:avLst/>
          </a:prstGeom>
          <a:noFill/>
          <a:ln/>
        </p:spPr>
        <p:txBody>
          <a:bodyPr wrap="square" lIns="0" tIns="0" rIns="0" bIns="0" rtlCol="0" anchor="t"/>
          <a:lstStyle/>
          <a:p>
            <a:pPr indent="0" marL="0">
              <a:buNone/>
            </a:pPr>
            <a:r>
              <a:rPr lang="en-US" sz="1500" dirty="0">
                <a:solidFill>
                  <a:schemeClr val="tx2"/>
                </a:solidFill>
              </a:rPr>
              <a:t>Trajectories, 90% band, probability of the event, alert threshold</a:t>
            </a:r>
            <a:endParaRPr lang="en-US" sz="1500" dirty="0"/>
          </a:p>
        </p:txBody>
      </p:sp>
      <p:sp>
        <p:nvSpPr>
          <p:cNvPr id="13" name="step 3"/>
          <p:cNvSpPr/>
          <p:nvPr/>
        </p:nvSpPr>
        <p:spPr>
          <a:xfrm>
            <a:off x="548640" y="3749040"/>
            <a:ext cx="457200" cy="457200"/>
          </a:xfrm>
          <a:prstGeom prst="ellipse">
            <a:avLst/>
          </a:prstGeom>
          <a:solidFill>
            <a:schemeClr val="accent1"/>
          </a:solidFill>
          <a:ln w="12700">
            <a:solidFill>
              <a:schemeClr val="accent1"/>
            </a:solidFill>
            <a:prstDash val="solid"/>
          </a:ln>
        </p:spPr>
      </p:sp>
      <p:sp>
        <p:nvSpPr>
          <p:cNvPr id="14" name="Text 10"/>
          <p:cNvSpPr txBox="1"/>
          <p:nvPr/>
        </p:nvSpPr>
        <p:spPr>
          <a:xfrm>
            <a:off x="548640" y="3749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1"/>
          <p:cNvSpPr txBox="1"/>
          <p:nvPr/>
        </p:nvSpPr>
        <p:spPr>
          <a:xfrm>
            <a:off x="1188720" y="3703320"/>
            <a:ext cx="4297680" cy="365760"/>
          </a:xfrm>
          <a:prstGeom prst="rect">
            <a:avLst/>
          </a:prstGeom>
          <a:noFill/>
          <a:ln/>
        </p:spPr>
        <p:txBody>
          <a:bodyPr wrap="square" lIns="0" tIns="0" rIns="0" bIns="0" rtlCol="0" anchor="t"/>
          <a:lstStyle/>
          <a:p>
            <a:pPr indent="0" marL="0">
              <a:buNone/>
            </a:pPr>
            <a:r>
              <a:rPr lang="en-US" sz="1800" b="1" dirty="0">
                <a:solidFill>
                  <a:schemeClr val="tx1"/>
                </a:solidFill>
              </a:rPr>
              <a:t>Why</a:t>
            </a:r>
            <a:endParaRPr lang="en-US" sz="1800" dirty="0"/>
          </a:p>
        </p:txBody>
      </p:sp>
      <p:sp>
        <p:nvSpPr>
          <p:cNvPr id="16" name="Text 12"/>
          <p:cNvSpPr txBox="1"/>
          <p:nvPr/>
        </p:nvSpPr>
        <p:spPr>
          <a:xfrm>
            <a:off x="1188720" y="4087368"/>
            <a:ext cx="4297680" cy="640080"/>
          </a:xfrm>
          <a:prstGeom prst="rect">
            <a:avLst/>
          </a:prstGeom>
          <a:noFill/>
          <a:ln/>
        </p:spPr>
        <p:txBody>
          <a:bodyPr wrap="square" lIns="0" tIns="0" rIns="0" bIns="0" rtlCol="0" anchor="t"/>
          <a:lstStyle/>
          <a:p>
            <a:pPr indent="0" marL="0">
              <a:buNone/>
            </a:pPr>
            <a:r>
              <a:rPr lang="en-US" sz="1500" dirty="0">
                <a:solidFill>
                  <a:schemeClr val="tx2"/>
                </a:solidFill>
              </a:rPr>
              <a:t>Carbohydrate on board, drift, activity</a:t>
            </a:r>
            <a:endParaRPr lang="en-US" sz="1500" dirty="0"/>
          </a:p>
        </p:txBody>
      </p:sp>
      <p:sp>
        <p:nvSpPr>
          <p:cNvPr id="17" name="step 4"/>
          <p:cNvSpPr/>
          <p:nvPr/>
        </p:nvSpPr>
        <p:spPr>
          <a:xfrm>
            <a:off x="548640" y="4892040"/>
            <a:ext cx="457200" cy="457200"/>
          </a:xfrm>
          <a:prstGeom prst="ellipse">
            <a:avLst/>
          </a:prstGeom>
          <a:solidFill>
            <a:schemeClr val="accent1"/>
          </a:solidFill>
          <a:ln w="12700">
            <a:solidFill>
              <a:schemeClr val="accent1"/>
            </a:solidFill>
            <a:prstDash val="solid"/>
          </a:ln>
        </p:spPr>
      </p:sp>
      <p:sp>
        <p:nvSpPr>
          <p:cNvPr id="18" name="Text 14"/>
          <p:cNvSpPr txBox="1"/>
          <p:nvPr/>
        </p:nvSpPr>
        <p:spPr>
          <a:xfrm>
            <a:off x="548640" y="4892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9" name="Text 15"/>
          <p:cNvSpPr txBox="1"/>
          <p:nvPr/>
        </p:nvSpPr>
        <p:spPr>
          <a:xfrm>
            <a:off x="1188720" y="4846320"/>
            <a:ext cx="4297680" cy="365760"/>
          </a:xfrm>
          <a:prstGeom prst="rect">
            <a:avLst/>
          </a:prstGeom>
          <a:noFill/>
          <a:ln/>
        </p:spPr>
        <p:txBody>
          <a:bodyPr wrap="square" lIns="0" tIns="0" rIns="0" bIns="0" rtlCol="0" anchor="t"/>
          <a:lstStyle/>
          <a:p>
            <a:pPr indent="0" marL="0">
              <a:buNone/>
            </a:pPr>
            <a:r>
              <a:rPr lang="en-US" sz="1800" b="1" dirty="0">
                <a:solidFill>
                  <a:schemeClr val="tx1"/>
                </a:solidFill>
              </a:rPr>
              <a:t>What if</a:t>
            </a:r>
            <a:endParaRPr lang="en-US" sz="1800" dirty="0"/>
          </a:p>
        </p:txBody>
      </p:sp>
      <p:sp>
        <p:nvSpPr>
          <p:cNvPr id="20" name="Text 16"/>
          <p:cNvSpPr txBox="1"/>
          <p:nvPr/>
        </p:nvSpPr>
        <p:spPr>
          <a:xfrm>
            <a:off x="1188720" y="5230368"/>
            <a:ext cx="4297680" cy="640080"/>
          </a:xfrm>
          <a:prstGeom prst="rect">
            <a:avLst/>
          </a:prstGeom>
          <a:noFill/>
          <a:ln/>
        </p:spPr>
        <p:txBody>
          <a:bodyPr wrap="square" lIns="0" tIns="0" rIns="0" bIns="0" rtlCol="0" anchor="t"/>
          <a:lstStyle/>
          <a:p>
            <a:pPr indent="0" marL="0">
              <a:buNone/>
            </a:pPr>
            <a:r>
              <a:rPr lang="en-US" sz="1500" dirty="0">
                <a:solidFill>
                  <a:schemeClr val="tx2"/>
                </a:solidFill>
              </a:rPr>
              <a:t>Portion, extra meal, walk, with the track record shown</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At home it ties LightGBM; away from home it beats it</a:t>
            </a:r>
            <a:endParaRPr lang="en-US" sz="3200" dirty="0"/>
          </a:p>
        </p:txBody>
      </p:sp>
      <p:graphicFrame>
        <p:nvGraphicFramePr>
          <p:cNvPr id="4" name="Chart 0" descr=""/>
          <p:cNvGraphicFramePr/>
          <p:nvPr/>
        </p:nvGraphicFramePr>
        <p:xfrm>
          <a:off x="548640" y="1325880"/>
          <a:ext cx="5486400" cy="41148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172200" y="1325880"/>
          <a:ext cx="5486400" cy="4114800"/>
        </p:xfrm>
        <a:graphic xmlns:a="http://schemas.openxmlformats.org/drawingml/2006/main">
          <a:graphicData uri="http://schemas.openxmlformats.org/drawingml/2006/chart">
            <c:chart xmlns:c="http://schemas.openxmlformats.org/drawingml/2006/chart" r:id="rId2"/>
          </a:graphicData>
        </a:graphic>
      </p:graphicFrame>
      <p:sp>
        <p:nvSpPr>
          <p:cNvPr id="6" name="Text 1"/>
          <p:cNvSpPr txBox="1"/>
          <p:nvPr/>
        </p:nvSpPr>
        <p:spPr>
          <a:xfrm>
            <a:off x="548640" y="5623560"/>
            <a:ext cx="11064240" cy="548640"/>
          </a:xfrm>
          <a:prstGeom prst="rect">
            <a:avLst/>
          </a:prstGeom>
          <a:noFill/>
          <a:ln/>
        </p:spPr>
        <p:txBody>
          <a:bodyPr wrap="square" lIns="0" tIns="0" rIns="0" bIns="0" rtlCol="0" anchor="t"/>
          <a:lstStyle/>
          <a:p>
            <a:pPr indent="0" marL="0">
              <a:buNone/>
            </a:pPr>
            <a:r>
              <a:rPr lang="en-US" sz="1400" dirty="0">
                <a:solidFill>
                  <a:schemeClr val="tx2"/>
                </a:solidFill>
              </a:rPr>
              <a:t>Hybrid minus LightGBM at 60 min: -0.02 (-0.71 to 0.57) mg/dL at home, -1.99 (-2.64 to -1.39) on the unseen cohort (95% interval, resampling patients).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We tested every model we had ruled out</a:t>
            </a:r>
            <a:endParaRPr lang="en-US" sz="3200" dirty="0"/>
          </a:p>
        </p:txBody>
      </p:sp>
      <p:pic>
        <p:nvPicPr>
          <p:cNvPr id="4" name="Image 0" descr="tournament">    </p:cNvPr>
          <p:cNvPicPr>
            <a:picLocks noChangeAspect="1"/>
          </p:cNvPicPr>
          <p:nvPr/>
        </p:nvPicPr>
        <p:blipFill>
          <a:blip r:embed="rId1"/>
          <a:stretch>
            <a:fillRect/>
          </a:stretch>
        </p:blipFill>
        <p:spPr>
          <a:xfrm>
            <a:off x="1206305" y="1325880"/>
            <a:ext cx="9748910" cy="4224528"/>
          </a:xfrm>
          <a:prstGeom prst="rect">
            <a:avLst/>
          </a:prstGeom>
        </p:spPr>
      </p:pic>
      <p:sp>
        <p:nvSpPr>
          <p:cNvPr id="5" name="Text 1"/>
          <p:cNvSpPr txBox="1"/>
          <p:nvPr/>
        </p:nvSpPr>
        <p:spPr>
          <a:xfrm>
            <a:off x="548640" y="5687568"/>
            <a:ext cx="11064240" cy="640080"/>
          </a:xfrm>
          <a:prstGeom prst="rect">
            <a:avLst/>
          </a:prstGeom>
          <a:noFill/>
          <a:ln/>
        </p:spPr>
        <p:txBody>
          <a:bodyPr wrap="square" lIns="0" tIns="0" rIns="0" bIns="0" rtlCol="0" anchor="t"/>
          <a:lstStyle/>
          <a:p>
            <a:pPr indent="0" marL="0">
              <a:buNone/>
            </a:pPr>
            <a:r>
              <a:rPr lang="en-US" sz="1400" dirty="0">
                <a:solidFill>
                  <a:schemeClr val="tx1"/>
                </a:solidFill>
              </a:rPr>
              <a:t>60-minute RMSE, 95% intervals by resampling patients. Small networks tie at home and fail abroad. Fine-tuned Chronos-2 is the best single model in both cohorts. The twin averaged with Chronos-2 is the most accurate forecast: 23.6 at home, 24.0 abroad.</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Why the networks failed abroad, and Chronos-2 did not</a:t>
            </a:r>
            <a:endParaRPr lang="en-US" sz="3200" dirty="0"/>
          </a:p>
        </p:txBody>
      </p:sp>
      <p:sp>
        <p:nvSpPr>
          <p:cNvPr id="4" name="Text 1"/>
          <p:cNvSpPr txBox="1"/>
          <p:nvPr/>
        </p:nvSpPr>
        <p:spPr>
          <a:xfrm>
            <a:off x="548640" y="1463040"/>
            <a:ext cx="3474720" cy="1051560"/>
          </a:xfrm>
          <a:prstGeom prst="rect">
            <a:avLst/>
          </a:prstGeom>
          <a:noFill/>
          <a:ln/>
        </p:spPr>
        <p:txBody>
          <a:bodyPr wrap="square" lIns="0" tIns="0" rIns="0" bIns="0" rtlCol="0" anchor="b"/>
          <a:lstStyle/>
          <a:p>
            <a:pPr indent="0" marL="0">
              <a:buNone/>
            </a:pPr>
            <a:r>
              <a:rPr lang="en-US" sz="6000" b="1" dirty="0">
                <a:solidFill>
                  <a:schemeClr val="accent1"/>
                </a:solidFill>
              </a:rPr>
              <a:t>+19</a:t>
            </a:r>
            <a:endParaRPr lang="en-US" sz="6000" dirty="0"/>
          </a:p>
        </p:txBody>
      </p:sp>
      <p:sp>
        <p:nvSpPr>
          <p:cNvPr id="5" name="Text 2"/>
          <p:cNvSpPr txBox="1"/>
          <p:nvPr/>
        </p:nvSpPr>
        <p:spPr>
          <a:xfrm>
            <a:off x="548640" y="2606040"/>
            <a:ext cx="3474720" cy="1097280"/>
          </a:xfrm>
          <a:prstGeom prst="rect">
            <a:avLst/>
          </a:prstGeom>
          <a:noFill/>
          <a:ln/>
        </p:spPr>
        <p:txBody>
          <a:bodyPr wrap="square" lIns="0" tIns="0" rIns="0" bIns="0" rtlCol="0" anchor="t"/>
          <a:lstStyle/>
          <a:p>
            <a:pPr indent="0" marL="0">
              <a:buNone/>
            </a:pPr>
            <a:r>
              <a:rPr lang="en-US" sz="1600" dirty="0">
                <a:solidFill>
                  <a:schemeClr val="tx2"/>
                </a:solidFill>
              </a:rPr>
              <a:t>mg/dL mean error of the GRU abroad, too high at every hour of the day. The physics twin: +1</a:t>
            </a:r>
            <a:endParaRPr lang="en-US" sz="1600" dirty="0"/>
          </a:p>
        </p:txBody>
      </p:sp>
      <p:sp>
        <p:nvSpPr>
          <p:cNvPr id="6" name="Text 3"/>
          <p:cNvSpPr txBox="1"/>
          <p:nvPr/>
        </p:nvSpPr>
        <p:spPr>
          <a:xfrm>
            <a:off x="4343400" y="1463040"/>
            <a:ext cx="3474720" cy="1051560"/>
          </a:xfrm>
          <a:prstGeom prst="rect">
            <a:avLst/>
          </a:prstGeom>
          <a:noFill/>
          <a:ln/>
        </p:spPr>
        <p:txBody>
          <a:bodyPr wrap="square" lIns="0" tIns="0" rIns="0" bIns="0" rtlCol="0" anchor="b"/>
          <a:lstStyle/>
          <a:p>
            <a:pPr indent="0" marL="0">
              <a:buNone/>
            </a:pPr>
            <a:r>
              <a:rPr lang="en-US" sz="6000" b="1" dirty="0">
                <a:solidFill>
                  <a:schemeClr val="accent1"/>
                </a:solidFill>
              </a:rPr>
              <a:t>51%</a:t>
            </a:r>
            <a:endParaRPr lang="en-US" sz="6000" dirty="0"/>
          </a:p>
        </p:txBody>
      </p:sp>
      <p:sp>
        <p:nvSpPr>
          <p:cNvPr id="7" name="Text 4"/>
          <p:cNvSpPr txBox="1"/>
          <p:nvPr/>
        </p:nvSpPr>
        <p:spPr>
          <a:xfrm>
            <a:off x="4343400" y="2606040"/>
            <a:ext cx="3474720" cy="1097280"/>
          </a:xfrm>
          <a:prstGeom prst="rect">
            <a:avLst/>
          </a:prstGeom>
          <a:noFill/>
          <a:ln/>
        </p:spPr>
        <p:txBody>
          <a:bodyPr wrap="square" lIns="0" tIns="0" rIns="0" bIns="0" rtlCol="0" anchor="t"/>
          <a:lstStyle/>
          <a:p>
            <a:pPr indent="0" marL="0">
              <a:buNone/>
            </a:pPr>
            <a:r>
              <a:rPr lang="en-US" sz="1600" dirty="0">
                <a:solidFill>
                  <a:schemeClr val="tx2"/>
                </a:solidFill>
              </a:rPr>
              <a:t>of Shanghai recordings are on insulin, a drug the networks never saw; their errors are largest there</a:t>
            </a:r>
            <a:endParaRPr lang="en-US" sz="1600" dirty="0"/>
          </a:p>
        </p:txBody>
      </p:sp>
      <p:sp>
        <p:nvSpPr>
          <p:cNvPr id="8" name="Text 5"/>
          <p:cNvSpPr txBox="1"/>
          <p:nvPr/>
        </p:nvSpPr>
        <p:spPr>
          <a:xfrm>
            <a:off x="8138160" y="1463040"/>
            <a:ext cx="3474720" cy="1051560"/>
          </a:xfrm>
          <a:prstGeom prst="rect">
            <a:avLst/>
          </a:prstGeom>
          <a:noFill/>
          <a:ln/>
        </p:spPr>
        <p:txBody>
          <a:bodyPr wrap="square" lIns="0" tIns="0" rIns="0" bIns="0" rtlCol="0" anchor="b"/>
          <a:lstStyle/>
          <a:p>
            <a:pPr indent="0" marL="0">
              <a:buNone/>
            </a:pPr>
            <a:r>
              <a:rPr lang="en-US" sz="6000" b="1" dirty="0">
                <a:solidFill>
                  <a:schemeClr val="accent1"/>
                </a:solidFill>
              </a:rPr>
              <a:t>24.2</a:t>
            </a:r>
            <a:endParaRPr lang="en-US" sz="6000" dirty="0"/>
          </a:p>
        </p:txBody>
      </p:sp>
      <p:sp>
        <p:nvSpPr>
          <p:cNvPr id="9" name="Text 6"/>
          <p:cNvSpPr txBox="1"/>
          <p:nvPr/>
        </p:nvSpPr>
        <p:spPr>
          <a:xfrm>
            <a:off x="8138160" y="2606040"/>
            <a:ext cx="3474720" cy="1097280"/>
          </a:xfrm>
          <a:prstGeom prst="rect">
            <a:avLst/>
          </a:prstGeom>
          <a:noFill/>
          <a:ln/>
        </p:spPr>
        <p:txBody>
          <a:bodyPr wrap="square" lIns="0" tIns="0" rIns="0" bIns="0" rtlCol="0" anchor="t"/>
          <a:lstStyle/>
          <a:p>
            <a:pPr indent="0" marL="0">
              <a:buNone/>
            </a:pPr>
            <a:r>
              <a:rPr lang="en-US" sz="1600" dirty="0">
                <a:solidFill>
                  <a:schemeClr val="tx2"/>
                </a:solidFill>
              </a:rPr>
              <a:t>mg/dL for fine-tuned Chronos-2 abroad, against 26.4 for the hybrid twin. It reads a day of the patient's own data</a:t>
            </a:r>
            <a:endParaRPr lang="en-US" sz="1600" dirty="0"/>
          </a:p>
        </p:txBody>
      </p:sp>
      <p:sp>
        <p:nvSpPr>
          <p:cNvPr id="10" name="card Read it carefully"/>
          <p:cNvSpPr/>
          <p:nvPr/>
        </p:nvSpPr>
        <p:spPr>
          <a:xfrm>
            <a:off x="548640" y="4434840"/>
            <a:ext cx="11064240" cy="1371600"/>
          </a:xfrm>
          <a:prstGeom prst="roundRect">
            <a:avLst>
              <a:gd name="adj" fmla="val 5333"/>
            </a:avLst>
          </a:prstGeom>
          <a:solidFill>
            <a:schemeClr val="bg2"/>
          </a:solidFill>
          <a:ln w="12700">
            <a:solidFill>
              <a:schemeClr val="bg2"/>
            </a:solidFill>
            <a:prstDash val="solid"/>
          </a:ln>
        </p:spPr>
        <p:txBody>
          <a:bodyPr/>
          <a:p/>
        </p:txBody>
      </p:sp>
      <p:sp>
        <p:nvSpPr>
          <p:cNvPr id="11" name="Text 8"/>
          <p:cNvSpPr txBox="1"/>
          <p:nvPr/>
        </p:nvSpPr>
        <p:spPr>
          <a:xfrm>
            <a:off x="777240" y="4617720"/>
            <a:ext cx="10607040" cy="411480"/>
          </a:xfrm>
          <a:prstGeom prst="rect">
            <a:avLst/>
          </a:prstGeom>
          <a:noFill/>
          <a:ln/>
        </p:spPr>
        <p:txBody>
          <a:bodyPr wrap="square" lIns="0" tIns="0" rIns="0" bIns="0" rtlCol="0" anchor="t"/>
          <a:lstStyle/>
          <a:p>
            <a:pPr indent="0" marL="0">
              <a:buNone/>
            </a:pPr>
            <a:r>
              <a:rPr lang="en-US" sz="1800" b="1" dirty="0">
                <a:solidFill>
                  <a:schemeClr val="tx1"/>
                </a:solidFill>
              </a:rPr>
              <a:t>Read it carefully</a:t>
            </a:r>
            <a:endParaRPr lang="en-US" sz="1800" dirty="0"/>
          </a:p>
        </p:txBody>
      </p:sp>
      <p:sp>
        <p:nvSpPr>
          <p:cNvPr id="12" name="Text 9"/>
          <p:cNvSpPr txBox="1"/>
          <p:nvPr/>
        </p:nvSpPr>
        <p:spPr>
          <a:xfrm>
            <a:off x="777240" y="5093208"/>
            <a:ext cx="10607040" cy="548640"/>
          </a:xfrm>
          <a:prstGeom prst="rect">
            <a:avLst/>
          </a:prstGeom>
          <a:noFill/>
          <a:ln/>
        </p:spPr>
        <p:txBody>
          <a:bodyPr wrap="square" lIns="0" tIns="0" rIns="0" bIns="0" rtlCol="0" anchor="t"/>
          <a:lstStyle/>
          <a:p>
            <a:pPr indent="0" marL="0">
              <a:spcAft>
                <a:spcPts val="400"/>
              </a:spcAft>
              <a:buNone/>
            </a:pPr>
            <a:r>
              <a:rPr lang="en-US" sz="1500" dirty="0">
                <a:solidFill>
                  <a:schemeClr val="tx2"/>
                </a:solidFill>
              </a:rPr>
              <a:t>Small networks learn one population's glucose behaviour, and nothing in them adapts to a new person. The twin re-learns each patient from their readings; Chronos-2 conditions on the patient's last 24 hours. Averaged, they forecast best.</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It warns of more events at the same alert burden</a:t>
            </a:r>
            <a:endParaRPr lang="en-US" sz="3200" dirty="0"/>
          </a:p>
        </p:txBody>
      </p:sp>
      <p:sp>
        <p:nvSpPr>
          <p:cNvPr id="4" name="Text 1"/>
          <p:cNvSpPr txBox="1"/>
          <p:nvPr/>
        </p:nvSpPr>
        <p:spPr>
          <a:xfrm>
            <a:off x="548640" y="1463040"/>
            <a:ext cx="3474720" cy="1051560"/>
          </a:xfrm>
          <a:prstGeom prst="rect">
            <a:avLst/>
          </a:prstGeom>
          <a:noFill/>
          <a:ln/>
        </p:spPr>
        <p:txBody>
          <a:bodyPr wrap="square" lIns="0" tIns="0" rIns="0" bIns="0" rtlCol="0" anchor="b"/>
          <a:lstStyle/>
          <a:p>
            <a:pPr indent="0" marL="0">
              <a:buNone/>
            </a:pPr>
            <a:r>
              <a:rPr lang="en-US" sz="6000" b="1" dirty="0">
                <a:solidFill>
                  <a:schemeClr val="accent1"/>
                </a:solidFill>
              </a:rPr>
              <a:t>61%</a:t>
            </a:r>
            <a:endParaRPr lang="en-US" sz="6000" dirty="0"/>
          </a:p>
        </p:txBody>
      </p:sp>
      <p:sp>
        <p:nvSpPr>
          <p:cNvPr id="5" name="Text 2"/>
          <p:cNvSpPr txBox="1"/>
          <p:nvPr/>
        </p:nvSpPr>
        <p:spPr>
          <a:xfrm>
            <a:off x="548640" y="2606040"/>
            <a:ext cx="3474720" cy="1097280"/>
          </a:xfrm>
          <a:prstGeom prst="rect">
            <a:avLst/>
          </a:prstGeom>
          <a:noFill/>
          <a:ln/>
        </p:spPr>
        <p:txBody>
          <a:bodyPr wrap="square" lIns="0" tIns="0" rIns="0" bIns="0" rtlCol="0" anchor="t"/>
          <a:lstStyle/>
          <a:p>
            <a:pPr indent="0" marL="0">
              <a:buNone/>
            </a:pPr>
            <a:r>
              <a:rPr lang="en-US" sz="1600" dirty="0">
                <a:solidFill>
                  <a:schemeClr val="tx2"/>
                </a:solidFill>
              </a:rPr>
              <a:t>of 693 real events warned of before onset, at 0.94 false alerts per patient-day. Standard model: 52%</a:t>
            </a:r>
            <a:endParaRPr lang="en-US" sz="1600" dirty="0"/>
          </a:p>
        </p:txBody>
      </p:sp>
      <p:sp>
        <p:nvSpPr>
          <p:cNvPr id="6" name="Text 3"/>
          <p:cNvSpPr txBox="1"/>
          <p:nvPr/>
        </p:nvSpPr>
        <p:spPr>
          <a:xfrm>
            <a:off x="4343400" y="1463040"/>
            <a:ext cx="3474720" cy="1051560"/>
          </a:xfrm>
          <a:prstGeom prst="rect">
            <a:avLst/>
          </a:prstGeom>
          <a:noFill/>
          <a:ln/>
        </p:spPr>
        <p:txBody>
          <a:bodyPr wrap="square" lIns="0" tIns="0" rIns="0" bIns="0" rtlCol="0" anchor="b"/>
          <a:lstStyle/>
          <a:p>
            <a:pPr indent="0" marL="0">
              <a:buNone/>
            </a:pPr>
            <a:r>
              <a:rPr lang="en-US" sz="6000" b="1" dirty="0">
                <a:solidFill>
                  <a:schemeClr val="accent1"/>
                </a:solidFill>
              </a:rPr>
              <a:t>30 min</a:t>
            </a:r>
            <a:endParaRPr lang="en-US" sz="6000" dirty="0"/>
          </a:p>
        </p:txBody>
      </p:sp>
      <p:sp>
        <p:nvSpPr>
          <p:cNvPr id="7" name="Text 4"/>
          <p:cNvSpPr txBox="1"/>
          <p:nvPr/>
        </p:nvSpPr>
        <p:spPr>
          <a:xfrm>
            <a:off x="4343400" y="2606040"/>
            <a:ext cx="3474720" cy="1097280"/>
          </a:xfrm>
          <a:prstGeom prst="rect">
            <a:avLst/>
          </a:prstGeom>
          <a:noFill/>
          <a:ln/>
        </p:spPr>
        <p:txBody>
          <a:bodyPr wrap="square" lIns="0" tIns="0" rIns="0" bIns="0" rtlCol="0" anchor="t"/>
          <a:lstStyle/>
          <a:p>
            <a:pPr indent="0" marL="0">
              <a:buNone/>
            </a:pPr>
            <a:r>
              <a:rPr lang="en-US" sz="1600" dirty="0">
                <a:solidFill>
                  <a:schemeClr val="tx2"/>
                </a:solidFill>
              </a:rPr>
              <a:t>median warning before glucose stays above 180 mg/dL</a:t>
            </a:r>
            <a:endParaRPr lang="en-US" sz="1600" dirty="0"/>
          </a:p>
        </p:txBody>
      </p:sp>
      <p:sp>
        <p:nvSpPr>
          <p:cNvPr id="8" name="Text 5"/>
          <p:cNvSpPr txBox="1"/>
          <p:nvPr/>
        </p:nvSpPr>
        <p:spPr>
          <a:xfrm>
            <a:off x="8138160" y="1463040"/>
            <a:ext cx="3474720" cy="1051560"/>
          </a:xfrm>
          <a:prstGeom prst="rect">
            <a:avLst/>
          </a:prstGeom>
          <a:noFill/>
          <a:ln/>
        </p:spPr>
        <p:txBody>
          <a:bodyPr wrap="square" lIns="0" tIns="0" rIns="0" bIns="0" rtlCol="0" anchor="b"/>
          <a:lstStyle/>
          <a:p>
            <a:pPr indent="0" marL="0">
              <a:buNone/>
            </a:pPr>
            <a:r>
              <a:rPr lang="en-US" sz="6000" b="1" dirty="0">
                <a:solidFill>
                  <a:schemeClr val="accent1"/>
                </a:solidFill>
              </a:rPr>
              <a:t>0.45</a:t>
            </a:r>
            <a:endParaRPr lang="en-US" sz="6000" dirty="0"/>
          </a:p>
        </p:txBody>
      </p:sp>
      <p:sp>
        <p:nvSpPr>
          <p:cNvPr id="9" name="Text 6"/>
          <p:cNvSpPr txBox="1"/>
          <p:nvPr/>
        </p:nvSpPr>
        <p:spPr>
          <a:xfrm>
            <a:off x="8138160" y="2606040"/>
            <a:ext cx="3474720" cy="1097280"/>
          </a:xfrm>
          <a:prstGeom prst="rect">
            <a:avLst/>
          </a:prstGeom>
          <a:noFill/>
          <a:ln/>
        </p:spPr>
        <p:txBody>
          <a:bodyPr wrap="square" lIns="0" tIns="0" rIns="0" bIns="0" rtlCol="0" anchor="t"/>
          <a:lstStyle/>
          <a:p>
            <a:pPr indent="0" marL="0">
              <a:buNone/>
            </a:pPr>
            <a:r>
              <a:rPr lang="en-US" sz="1600" dirty="0">
                <a:solidFill>
                  <a:schemeClr val="tx2"/>
                </a:solidFill>
              </a:rPr>
              <a:t>alert precision-recall area on the unseen cohort. Standard model: 0.36; difference 0.09 (0.06 to 0.14)</a:t>
            </a:r>
            <a:endParaRPr lang="en-US" sz="1600" dirty="0"/>
          </a:p>
        </p:txBody>
      </p:sp>
      <p:sp>
        <p:nvSpPr>
          <p:cNvPr id="10" name="card Read it carefully"/>
          <p:cNvSpPr/>
          <p:nvPr/>
        </p:nvSpPr>
        <p:spPr>
          <a:xfrm>
            <a:off x="548640" y="4434840"/>
            <a:ext cx="11064240" cy="1371600"/>
          </a:xfrm>
          <a:prstGeom prst="roundRect">
            <a:avLst>
              <a:gd name="adj" fmla="val 5333"/>
            </a:avLst>
          </a:prstGeom>
          <a:solidFill>
            <a:schemeClr val="bg2"/>
          </a:solidFill>
          <a:ln w="12700">
            <a:solidFill>
              <a:schemeClr val="bg2"/>
            </a:solidFill>
            <a:prstDash val="solid"/>
          </a:ln>
        </p:spPr>
      </p:sp>
      <p:sp>
        <p:nvSpPr>
          <p:cNvPr id="11" name="Text 8"/>
          <p:cNvSpPr txBox="1"/>
          <p:nvPr/>
        </p:nvSpPr>
        <p:spPr>
          <a:xfrm>
            <a:off x="777240" y="4617720"/>
            <a:ext cx="10607040" cy="411480"/>
          </a:xfrm>
          <a:prstGeom prst="rect">
            <a:avLst/>
          </a:prstGeom>
          <a:noFill/>
          <a:ln/>
        </p:spPr>
        <p:txBody>
          <a:bodyPr wrap="square" lIns="0" tIns="0" rIns="0" bIns="0" rtlCol="0" anchor="t"/>
          <a:lstStyle/>
          <a:p>
            <a:pPr indent="0" marL="0">
              <a:buNone/>
            </a:pPr>
            <a:r>
              <a:rPr lang="en-US" sz="1800" b="1" dirty="0">
                <a:solidFill>
                  <a:schemeClr val="tx1"/>
                </a:solidFill>
              </a:rPr>
              <a:t>Read it carefully</a:t>
            </a:r>
            <a:endParaRPr lang="en-US" sz="1800" dirty="0"/>
          </a:p>
        </p:txBody>
      </p:sp>
      <p:sp>
        <p:nvSpPr>
          <p:cNvPr id="12" name="Text 9"/>
          <p:cNvSpPr txBox="1"/>
          <p:nvPr/>
        </p:nvSpPr>
        <p:spPr>
          <a:xfrm>
            <a:off x="777240" y="5093208"/>
            <a:ext cx="10607040" cy="548640"/>
          </a:xfrm>
          <a:prstGeom prst="rect">
            <a:avLst/>
          </a:prstGeom>
          <a:noFill/>
          <a:ln/>
        </p:spPr>
        <p:txBody>
          <a:bodyPr wrap="square" lIns="0" tIns="0" rIns="0" bIns="0" rtlCol="0" anchor="t"/>
          <a:lstStyle/>
          <a:p>
            <a:pPr indent="0" marL="0">
              <a:spcAft>
                <a:spcPts val="400"/>
              </a:spcAft>
              <a:buNone/>
            </a:pPr>
            <a:r>
              <a:rPr lang="en-US" sz="1500" dirty="0">
                <a:solidFill>
                  <a:schemeClr val="tx2"/>
                </a:solidFill>
              </a:rPr>
              <a:t>Home cohort: alert AUROC 0.82 vs 0.81, precision-recall area 0.43 vs 0.42: a tie. Only forecasts made while glucose is still at or below 180 mg/dL are counted, which is harder than detecting a spike already under way.</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Its uncertainty is honest for every patient</a:t>
            </a:r>
            <a:endParaRPr lang="en-US" sz="3200" dirty="0"/>
          </a:p>
        </p:txBody>
      </p:sp>
      <p:pic>
        <p:nvPicPr>
          <p:cNvPr id="4" name="Image 0" descr="Reliability of alert probabilities and per-patient coverage">    </p:cNvPr>
          <p:cNvPicPr>
            <a:picLocks noChangeAspect="1"/>
          </p:cNvPicPr>
          <p:nvPr/>
        </p:nvPicPr>
        <p:blipFill>
          <a:blip r:embed="rId1"/>
          <a:stretch>
            <a:fillRect/>
          </a:stretch>
        </p:blipFill>
        <p:spPr>
          <a:xfrm>
            <a:off x="548640" y="1325880"/>
            <a:ext cx="11064240" cy="4224528"/>
          </a:xfrm>
          <a:prstGeom prst="rect">
            <a:avLst/>
          </a:prstGeom>
        </p:spPr>
      </p:pic>
      <p:sp>
        <p:nvSpPr>
          <p:cNvPr id="5" name="Text 1"/>
          <p:cNvSpPr txBox="1"/>
          <p:nvPr/>
        </p:nvSpPr>
        <p:spPr>
          <a:xfrm>
            <a:off x="548640" y="5687568"/>
            <a:ext cx="11064240" cy="548640"/>
          </a:xfrm>
          <a:prstGeom prst="rect">
            <a:avLst/>
          </a:prstGeom>
          <a:noFill/>
          <a:ln/>
        </p:spPr>
        <p:txBody>
          <a:bodyPr wrap="square" lIns="0" tIns="0" rIns="0" bIns="0" rtlCol="0" anchor="t"/>
          <a:lstStyle/>
          <a:p>
            <a:pPr indent="0" marL="0">
              <a:buNone/>
            </a:pPr>
            <a:r>
              <a:rPr lang="en-US" sz="1500" b="1" dirty="0">
                <a:solidFill>
                  <a:schemeClr val="tx1"/>
                </a:solidFill>
              </a:rPr>
              <a:t>Worst patient, 60 min ahead: 89% with per-patient adaptation vs 78% without. On the unseen cohort: 88% vs 64%.</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What-ifs were checked against what really happened</a:t>
            </a:r>
            <a:endParaRPr lang="en-US" sz="3200" dirty="0"/>
          </a:p>
        </p:txBody>
      </p:sp>
      <p:pic>
        <p:nvPicPr>
          <p:cNvPr id="4" name="Image 0" descr="Predicted versus observed differences in matched meal pairs">    </p:cNvPr>
          <p:cNvPicPr>
            <a:picLocks noChangeAspect="1"/>
          </p:cNvPicPr>
          <p:nvPr/>
        </p:nvPicPr>
        <p:blipFill>
          <a:blip r:embed="rId1"/>
          <a:stretch>
            <a:fillRect/>
          </a:stretch>
        </p:blipFill>
        <p:spPr>
          <a:xfrm>
            <a:off x="548640" y="1325880"/>
            <a:ext cx="11064240" cy="4224528"/>
          </a:xfrm>
          <a:prstGeom prst="rect">
            <a:avLst/>
          </a:prstGeom>
        </p:spPr>
      </p:pic>
      <p:sp>
        <p:nvSpPr>
          <p:cNvPr id="5" name="Text 1"/>
          <p:cNvSpPr txBox="1"/>
          <p:nvPr/>
        </p:nvSpPr>
        <p:spPr>
          <a:xfrm>
            <a:off x="548640" y="5687568"/>
            <a:ext cx="11064240" cy="640080"/>
          </a:xfrm>
          <a:prstGeom prst="rect">
            <a:avLst/>
          </a:prstGeom>
          <a:noFill/>
          <a:ln/>
        </p:spPr>
        <p:txBody>
          <a:bodyPr wrap="square" lIns="0" tIns="0" rIns="0" bIns="0" rtlCol="0" anchor="t"/>
          <a:lstStyle/>
          <a:p>
            <a:pPr indent="0" marL="0">
              <a:buNone/>
            </a:pPr>
            <a:r>
              <a:rPr lang="en-US" sz="1400" dirty="0">
                <a:solidFill>
                  <a:schemeClr val="tx1"/>
                </a:solidFill>
              </a:rPr>
              <a:t>Direction right: 66% of 2,015 carbohydrate pairs, 61% of 324 activity pairs. Active hour after a meal: observed -10.7 mg/dL, twin -9.1. Not better than LightGBM on direction (68%, 63%).</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Twin-chosen changes nearly halve spikes in simulation</a:t>
            </a:r>
            <a:endParaRPr lang="en-US" sz="3200" dirty="0"/>
          </a:p>
        </p:txBody>
      </p:sp>
      <p:pic>
        <p:nvPicPr>
          <p:cNvPr id="4" name="Image 0" descr="recommendations">    </p:cNvPr>
          <p:cNvPicPr>
            <a:picLocks noChangeAspect="1"/>
          </p:cNvPicPr>
          <p:nvPr/>
        </p:nvPicPr>
        <p:blipFill>
          <a:blip r:embed="rId1"/>
          <a:stretch>
            <a:fillRect/>
          </a:stretch>
        </p:blipFill>
        <p:spPr>
          <a:xfrm>
            <a:off x="1078029" y="1325880"/>
            <a:ext cx="10005461" cy="4224528"/>
          </a:xfrm>
          <a:prstGeom prst="rect">
            <a:avLst/>
          </a:prstGeom>
        </p:spPr>
      </p:pic>
      <p:sp>
        <p:nvSpPr>
          <p:cNvPr id="5" name="Text 1"/>
          <p:cNvSpPr txBox="1"/>
          <p:nvPr/>
        </p:nvSpPr>
        <p:spPr>
          <a:xfrm>
            <a:off x="548640" y="5687568"/>
            <a:ext cx="11064240" cy="640080"/>
          </a:xfrm>
          <a:prstGeom prst="rect">
            <a:avLst/>
          </a:prstGeom>
          <a:noFill/>
          <a:ln/>
        </p:spPr>
        <p:txBody>
          <a:bodyPr wrap="square" lIns="0" tIns="0" rIns="0" bIns="0" rtlCol="0" anchor="t"/>
          <a:lstStyle/>
          <a:p>
            <a:pPr indent="0" marL="0">
              <a:buNone/>
            </a:pPr>
            <a:r>
              <a:rPr lang="en-US" sz="1400" dirty="0">
                <a:solidFill>
                  <a:schemeClr val="tx1"/>
                </a:solidFill>
              </a:rPr>
              <a:t>773 meals, 30 synthetic patients, true outcome of every action known. Twin minus doing nothing: -16.6 (-23.0 to -10.0) points; minus a carbohydrate rule: -10.3 (-17.5 to -3.5). An upper bound, not a trial.</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What did not hold up</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949440" cy="4480560"/>
        </p:xfrm>
        <a:graphic>
          <a:graphicData uri="http://schemas.openxmlformats.org/drawingml/2006/table">
            <a:tbl>
              <a:tblPr/>
              <a:tblGrid>
                <a:gridCol w="2743200"/>
                <a:gridCol w="4206240"/>
              </a:tblGrid>
              <a:tr h="640080">
                <a:tc>
                  <a:txBody>
                    <a:bodyPr/>
                    <a:lstStyle/>
                    <a:p>
                      <a:pPr indent="0" marL="0">
                        <a:buNone/>
                      </a:pPr>
                      <a:r>
                        <a:rPr lang="en-US" sz="1500" b="1" dirty="0">
                          <a:solidFill>
                            <a:srgbClr val="FFFFFF"/>
                          </a:solidFill>
                        </a:rPr>
                        <a:t>We hoped for</a:t>
                      </a:r>
                      <a:endParaRPr lang="en-US" sz="1500" dirty="0"/>
                    </a:p>
                  </a:txBody>
                  <a:tcPr marL="101600" marR="101600" marT="50800" marB="50800" anchor="ctr">
                    <a:lnL w="12700" cap="flat" cmpd="sng" algn="ctr">
                      <a:solidFill>
                        <a:srgbClr val="D9E1EA"/>
                      </a:solidFill>
                      <a:prstDash val="solid"/>
                      <a:round/>
                      <a:headEnd type="none" w="med" len="med"/>
                      <a:tailEnd type="none" w="med" len="med"/>
                    </a:lnL>
                    <a:lnR w="12700" cap="flat" cmpd="sng" algn="ctr">
                      <a:solidFill>
                        <a:srgbClr val="D9E1EA"/>
                      </a:solidFill>
                      <a:prstDash val="solid"/>
                      <a:round/>
                      <a:headEnd type="none" w="med" len="med"/>
                      <a:tailEnd type="none" w="med" len="med"/>
                    </a:lnR>
                    <a:lnT w="12700" cap="flat" cmpd="sng" algn="ctr">
                      <a:solidFill>
                        <a:srgbClr val="D9E1EA"/>
                      </a:solidFill>
                      <a:prstDash val="solid"/>
                      <a:round/>
                      <a:headEnd type="none" w="med" len="med"/>
                      <a:tailEnd type="none" w="med" len="med"/>
                    </a:lnT>
                    <a:lnB w="12700" cap="flat" cmpd="sng" algn="ctr">
                      <a:solidFill>
                        <a:srgbClr val="D9E1EA"/>
                      </a:solidFill>
                      <a:prstDash val="solid"/>
                      <a:round/>
                      <a:headEnd type="none" w="med" len="med"/>
                      <a:tailEnd type="none" w="med" len="med"/>
                    </a:lnB>
                    <a:solidFill>
                      <a:srgbClr val="0B1B2B"/>
                    </a:solidFill>
                  </a:tcPr>
                </a:tc>
                <a:tc>
                  <a:txBody>
                    <a:bodyPr/>
                    <a:lstStyle/>
                    <a:p>
                      <a:pPr indent="0" marL="0">
                        <a:buNone/>
                      </a:pPr>
                      <a:r>
                        <a:rPr lang="en-US" sz="1500" b="1" dirty="0">
                          <a:solidFill>
                            <a:srgbClr val="FFFFFF"/>
                          </a:solidFill>
                        </a:rPr>
                        <a:t>We found</a:t>
                      </a:r>
                      <a:endParaRPr lang="en-US" sz="1500" dirty="0"/>
                    </a:p>
                  </a:txBody>
                  <a:tcPr marL="101600" marR="101600" marT="50800" marB="50800" anchor="ctr">
                    <a:lnL w="12700" cap="flat" cmpd="sng" algn="ctr">
                      <a:solidFill>
                        <a:srgbClr val="D9E1EA"/>
                      </a:solidFill>
                      <a:prstDash val="solid"/>
                      <a:round/>
                      <a:headEnd type="none" w="med" len="med"/>
                      <a:tailEnd type="none" w="med" len="med"/>
                    </a:lnL>
                    <a:lnR w="12700" cap="flat" cmpd="sng" algn="ctr">
                      <a:solidFill>
                        <a:srgbClr val="D9E1EA"/>
                      </a:solidFill>
                      <a:prstDash val="solid"/>
                      <a:round/>
                      <a:headEnd type="none" w="med" len="med"/>
                      <a:tailEnd type="none" w="med" len="med"/>
                    </a:lnR>
                    <a:lnT w="12700" cap="flat" cmpd="sng" algn="ctr">
                      <a:solidFill>
                        <a:srgbClr val="D9E1EA"/>
                      </a:solidFill>
                      <a:prstDash val="solid"/>
                      <a:round/>
                      <a:headEnd type="none" w="med" len="med"/>
                      <a:tailEnd type="none" w="med" len="med"/>
                    </a:lnT>
                    <a:lnB w="12700" cap="flat" cmpd="sng" algn="ctr">
                      <a:solidFill>
                        <a:srgbClr val="D9E1EA"/>
                      </a:solidFill>
                      <a:prstDash val="solid"/>
                      <a:round/>
                      <a:headEnd type="none" w="med" len="med"/>
                      <a:tailEnd type="none" w="med" len="med"/>
                    </a:lnB>
                    <a:solidFill>
                      <a:srgbClr val="0B1B2B"/>
                    </a:solidFill>
                  </a:tcPr>
                </a:tc>
              </a:tr>
              <a:tr h="768096">
                <a:tc>
                  <a:txBody>
                    <a:bodyPr/>
                    <a:lstStyle/>
                    <a:p>
                      <a:pPr indent="0" marL="0">
                        <a:buNone/>
                      </a:pPr>
                      <a:r>
                        <a:rPr lang="en-US" sz="1400" b="1" dirty="0">
                          <a:solidFill>
                            <a:srgbClr val="0B1B2B"/>
                          </a:solidFill>
                        </a:rPr>
                        <a:t>Beat LightGBM on the home cohort</a:t>
                      </a:r>
                      <a:endParaRPr lang="en-US" sz="1400" dirty="0"/>
                    </a:p>
                  </a:txBody>
                  <a:tcPr marL="101600" marR="101600" marT="50800" marB="50800" anchor="ctr">
                    <a:lnL w="12700" cap="flat" cmpd="sng" algn="ctr">
                      <a:solidFill>
                        <a:srgbClr val="D9E1EA"/>
                      </a:solidFill>
                      <a:prstDash val="solid"/>
                      <a:round/>
                      <a:headEnd type="none" w="med" len="med"/>
                      <a:tailEnd type="none" w="med" len="med"/>
                    </a:lnL>
                    <a:lnR w="12700" cap="flat" cmpd="sng" algn="ctr">
                      <a:solidFill>
                        <a:srgbClr val="D9E1EA"/>
                      </a:solidFill>
                      <a:prstDash val="solid"/>
                      <a:round/>
                      <a:headEnd type="none" w="med" len="med"/>
                      <a:tailEnd type="none" w="med" len="med"/>
                    </a:lnR>
                    <a:lnT w="12700" cap="flat" cmpd="sng" algn="ctr">
                      <a:solidFill>
                        <a:srgbClr val="D9E1EA"/>
                      </a:solidFill>
                      <a:prstDash val="solid"/>
                      <a:round/>
                      <a:headEnd type="none" w="med" len="med"/>
                      <a:tailEnd type="none" w="med" len="med"/>
                    </a:lnT>
                    <a:lnB w="12700" cap="flat" cmpd="sng" algn="ctr">
                      <a:solidFill>
                        <a:srgbClr val="D9E1EA"/>
                      </a:solidFill>
                      <a:prstDash val="solid"/>
                      <a:round/>
                      <a:headEnd type="none" w="med" len="med"/>
                      <a:tailEnd type="none" w="med" len="med"/>
                    </a:lnB>
                  </a:tcPr>
                </a:tc>
                <a:tc>
                  <a:txBody>
                    <a:bodyPr/>
                    <a:lstStyle/>
                    <a:p>
                      <a:pPr indent="0" marL="0">
                        <a:buNone/>
                      </a:pPr>
                      <a:r>
                        <a:rPr lang="en-US" sz="1400" dirty="0">
                          <a:solidFill>
                            <a:srgbClr val="44525F"/>
                          </a:solidFill>
                        </a:rPr>
                        <a:t>A tie: 24.9 vs 25.0 mg/dL at 60 min</a:t>
                      </a:r>
                      <a:endParaRPr lang="en-US" sz="1400" dirty="0"/>
                    </a:p>
                  </a:txBody>
                  <a:tcPr marL="101600" marR="101600" marT="50800" marB="50800" anchor="ctr">
                    <a:lnL w="12700" cap="flat" cmpd="sng" algn="ctr">
                      <a:solidFill>
                        <a:srgbClr val="D9E1EA"/>
                      </a:solidFill>
                      <a:prstDash val="solid"/>
                      <a:round/>
                      <a:headEnd type="none" w="med" len="med"/>
                      <a:tailEnd type="none" w="med" len="med"/>
                    </a:lnL>
                    <a:lnR w="12700" cap="flat" cmpd="sng" algn="ctr">
                      <a:solidFill>
                        <a:srgbClr val="D9E1EA"/>
                      </a:solidFill>
                      <a:prstDash val="solid"/>
                      <a:round/>
                      <a:headEnd type="none" w="med" len="med"/>
                      <a:tailEnd type="none" w="med" len="med"/>
                    </a:lnR>
                    <a:lnT w="12700" cap="flat" cmpd="sng" algn="ctr">
                      <a:solidFill>
                        <a:srgbClr val="D9E1EA"/>
                      </a:solidFill>
                      <a:prstDash val="solid"/>
                      <a:round/>
                      <a:headEnd type="none" w="med" len="med"/>
                      <a:tailEnd type="none" w="med" len="med"/>
                    </a:lnT>
                    <a:lnB w="12700" cap="flat" cmpd="sng" algn="ctr">
                      <a:solidFill>
                        <a:srgbClr val="D9E1EA"/>
                      </a:solidFill>
                      <a:prstDash val="solid"/>
                      <a:round/>
                      <a:headEnd type="none" w="med" len="med"/>
                      <a:tailEnd type="none" w="med" len="med"/>
                    </a:lnB>
                  </a:tcPr>
                </a:tc>
              </a:tr>
              <a:tr h="768096">
                <a:tc>
                  <a:txBody>
                    <a:bodyPr/>
                    <a:lstStyle/>
                    <a:p>
                      <a:pPr indent="0" marL="0">
                        <a:buNone/>
                      </a:pPr>
                      <a:r>
                        <a:rPr lang="en-US" sz="1400" b="1" dirty="0">
                          <a:solidFill>
                            <a:srgbClr val="0B1B2B"/>
                          </a:solidFill>
                        </a:rPr>
                        <a:t>Labs give a clear head start</a:t>
                      </a:r>
                      <a:endParaRPr lang="en-US" sz="1400" dirty="0"/>
                    </a:p>
                  </a:txBody>
                  <a:tcPr marL="101600" marR="101600" marT="50800" marB="50800" anchor="ctr">
                    <a:lnL w="12700" cap="flat" cmpd="sng" algn="ctr">
                      <a:solidFill>
                        <a:srgbClr val="D9E1EA"/>
                      </a:solidFill>
                      <a:prstDash val="solid"/>
                      <a:round/>
                      <a:headEnd type="none" w="med" len="med"/>
                      <a:tailEnd type="none" w="med" len="med"/>
                    </a:lnL>
                    <a:lnR w="12700" cap="flat" cmpd="sng" algn="ctr">
                      <a:solidFill>
                        <a:srgbClr val="D9E1EA"/>
                      </a:solidFill>
                      <a:prstDash val="solid"/>
                      <a:round/>
                      <a:headEnd type="none" w="med" len="med"/>
                      <a:tailEnd type="none" w="med" len="med"/>
                    </a:lnR>
                    <a:lnT w="12700" cap="flat" cmpd="sng" algn="ctr">
                      <a:solidFill>
                        <a:srgbClr val="D9E1EA"/>
                      </a:solidFill>
                      <a:prstDash val="solid"/>
                      <a:round/>
                      <a:headEnd type="none" w="med" len="med"/>
                      <a:tailEnd type="none" w="med" len="med"/>
                    </a:lnT>
                    <a:lnB w="12700" cap="flat" cmpd="sng" algn="ctr">
                      <a:solidFill>
                        <a:srgbClr val="D9E1EA"/>
                      </a:solidFill>
                      <a:prstDash val="solid"/>
                      <a:round/>
                      <a:headEnd type="none" w="med" len="med"/>
                      <a:tailEnd type="none" w="med" len="med"/>
                    </a:lnB>
                  </a:tcPr>
                </a:tc>
                <a:tc>
                  <a:txBody>
                    <a:bodyPr/>
                    <a:lstStyle/>
                    <a:p>
                      <a:pPr indent="0" marL="0">
                        <a:buNone/>
                      </a:pPr>
                      <a:r>
                        <a:rPr lang="en-US" sz="1400" dirty="0">
                          <a:solidFill>
                            <a:srgbClr val="44525F"/>
                          </a:solidFill>
                        </a:rPr>
                        <a:t>First 24 h: -0.46 (-1.01 to 0.10) mg/dL. Not significant</a:t>
                      </a:r>
                      <a:endParaRPr lang="en-US" sz="1400" dirty="0"/>
                    </a:p>
                  </a:txBody>
                  <a:tcPr marL="101600" marR="101600" marT="50800" marB="50800" anchor="ctr">
                    <a:lnL w="12700" cap="flat" cmpd="sng" algn="ctr">
                      <a:solidFill>
                        <a:srgbClr val="D9E1EA"/>
                      </a:solidFill>
                      <a:prstDash val="solid"/>
                      <a:round/>
                      <a:headEnd type="none" w="med" len="med"/>
                      <a:tailEnd type="none" w="med" len="med"/>
                    </a:lnL>
                    <a:lnR w="12700" cap="flat" cmpd="sng" algn="ctr">
                      <a:solidFill>
                        <a:srgbClr val="D9E1EA"/>
                      </a:solidFill>
                      <a:prstDash val="solid"/>
                      <a:round/>
                      <a:headEnd type="none" w="med" len="med"/>
                      <a:tailEnd type="none" w="med" len="med"/>
                    </a:lnR>
                    <a:lnT w="12700" cap="flat" cmpd="sng" algn="ctr">
                      <a:solidFill>
                        <a:srgbClr val="D9E1EA"/>
                      </a:solidFill>
                      <a:prstDash val="solid"/>
                      <a:round/>
                      <a:headEnd type="none" w="med" len="med"/>
                      <a:tailEnd type="none" w="med" len="med"/>
                    </a:lnT>
                    <a:lnB w="12700" cap="flat" cmpd="sng" algn="ctr">
                      <a:solidFill>
                        <a:srgbClr val="D9E1EA"/>
                      </a:solidFill>
                      <a:prstDash val="solid"/>
                      <a:round/>
                      <a:headEnd type="none" w="med" len="med"/>
                      <a:tailEnd type="none" w="med" len="med"/>
                    </a:lnB>
                  </a:tcPr>
                </a:tc>
              </a:tr>
              <a:tr h="768096">
                <a:tc>
                  <a:txBody>
                    <a:bodyPr/>
                    <a:lstStyle/>
                    <a:p>
                      <a:pPr indent="0" marL="0">
                        <a:buNone/>
                      </a:pPr>
                      <a:r>
                        <a:rPr lang="en-US" sz="1400" b="1" dirty="0">
                          <a:solidFill>
                            <a:srgbClr val="0B1B2B"/>
                          </a:solidFill>
                        </a:rPr>
                        <a:t>The twin keeps improving with data</a:t>
                      </a:r>
                      <a:endParaRPr lang="en-US" sz="1400" dirty="0"/>
                    </a:p>
                  </a:txBody>
                  <a:tcPr marL="101600" marR="101600" marT="50800" marB="50800" anchor="ctr">
                    <a:lnL w="12700" cap="flat" cmpd="sng" algn="ctr">
                      <a:solidFill>
                        <a:srgbClr val="D9E1EA"/>
                      </a:solidFill>
                      <a:prstDash val="solid"/>
                      <a:round/>
                      <a:headEnd type="none" w="med" len="med"/>
                      <a:tailEnd type="none" w="med" len="med"/>
                    </a:lnL>
                    <a:lnR w="12700" cap="flat" cmpd="sng" algn="ctr">
                      <a:solidFill>
                        <a:srgbClr val="D9E1EA"/>
                      </a:solidFill>
                      <a:prstDash val="solid"/>
                      <a:round/>
                      <a:headEnd type="none" w="med" len="med"/>
                      <a:tailEnd type="none" w="med" len="med"/>
                    </a:lnR>
                    <a:lnT w="12700" cap="flat" cmpd="sng" algn="ctr">
                      <a:solidFill>
                        <a:srgbClr val="D9E1EA"/>
                      </a:solidFill>
                      <a:prstDash val="solid"/>
                      <a:round/>
                      <a:headEnd type="none" w="med" len="med"/>
                      <a:tailEnd type="none" w="med" len="med"/>
                    </a:lnT>
                    <a:lnB w="12700" cap="flat" cmpd="sng" algn="ctr">
                      <a:solidFill>
                        <a:srgbClr val="D9E1EA"/>
                      </a:solidFill>
                      <a:prstDash val="solid"/>
                      <a:round/>
                      <a:headEnd type="none" w="med" len="med"/>
                      <a:tailEnd type="none" w="med" len="med"/>
                    </a:lnB>
                  </a:tcPr>
                </a:tc>
                <a:tc>
                  <a:txBody>
                    <a:bodyPr/>
                    <a:lstStyle/>
                    <a:p>
                      <a:pPr indent="0" marL="0">
                        <a:buNone/>
                      </a:pPr>
                      <a:r>
                        <a:rPr lang="en-US" sz="1400" dirty="0">
                          <a:solidFill>
                            <a:srgbClr val="44525F"/>
                          </a:solidFill>
                        </a:rPr>
                        <a:t>Updating vs frozen from day 4: -0.87 (-2.14 to 0.26). Not significant; worse in the first 3 days</a:t>
                      </a:r>
                      <a:endParaRPr lang="en-US" sz="1400" dirty="0"/>
                    </a:p>
                  </a:txBody>
                  <a:tcPr marL="101600" marR="101600" marT="50800" marB="50800" anchor="ctr">
                    <a:lnL w="12700" cap="flat" cmpd="sng" algn="ctr">
                      <a:solidFill>
                        <a:srgbClr val="D9E1EA"/>
                      </a:solidFill>
                      <a:prstDash val="solid"/>
                      <a:round/>
                      <a:headEnd type="none" w="med" len="med"/>
                      <a:tailEnd type="none" w="med" len="med"/>
                    </a:lnL>
                    <a:lnR w="12700" cap="flat" cmpd="sng" algn="ctr">
                      <a:solidFill>
                        <a:srgbClr val="D9E1EA"/>
                      </a:solidFill>
                      <a:prstDash val="solid"/>
                      <a:round/>
                      <a:headEnd type="none" w="med" len="med"/>
                      <a:tailEnd type="none" w="med" len="med"/>
                    </a:lnR>
                    <a:lnT w="12700" cap="flat" cmpd="sng" algn="ctr">
                      <a:solidFill>
                        <a:srgbClr val="D9E1EA"/>
                      </a:solidFill>
                      <a:prstDash val="solid"/>
                      <a:round/>
                      <a:headEnd type="none" w="med" len="med"/>
                      <a:tailEnd type="none" w="med" len="med"/>
                    </a:lnT>
                    <a:lnB w="12700" cap="flat" cmpd="sng" algn="ctr">
                      <a:solidFill>
                        <a:srgbClr val="D9E1EA"/>
                      </a:solidFill>
                      <a:prstDash val="solid"/>
                      <a:round/>
                      <a:headEnd type="none" w="med" len="med"/>
                      <a:tailEnd type="none" w="med" len="med"/>
                    </a:lnB>
                  </a:tcPr>
                </a:tc>
              </a:tr>
              <a:tr h="768096">
                <a:tc>
                  <a:txBody>
                    <a:bodyPr/>
                    <a:lstStyle/>
                    <a:p>
                      <a:pPr indent="0" marL="0">
                        <a:buNone/>
                      </a:pPr>
                      <a:r>
                        <a:rPr lang="en-US" sz="1400" b="1" dirty="0">
                          <a:solidFill>
                            <a:srgbClr val="0B1B2B"/>
                          </a:solidFill>
                        </a:rPr>
                        <a:t>Twin what-ifs beat an associative model</a:t>
                      </a:r>
                      <a:endParaRPr lang="en-US" sz="1400" dirty="0"/>
                    </a:p>
                  </a:txBody>
                  <a:tcPr marL="101600" marR="101600" marT="50800" marB="50800" anchor="ctr">
                    <a:lnL w="12700" cap="flat" cmpd="sng" algn="ctr">
                      <a:solidFill>
                        <a:srgbClr val="D9E1EA"/>
                      </a:solidFill>
                      <a:prstDash val="solid"/>
                      <a:round/>
                      <a:headEnd type="none" w="med" len="med"/>
                      <a:tailEnd type="none" w="med" len="med"/>
                    </a:lnL>
                    <a:lnR w="12700" cap="flat" cmpd="sng" algn="ctr">
                      <a:solidFill>
                        <a:srgbClr val="D9E1EA"/>
                      </a:solidFill>
                      <a:prstDash val="solid"/>
                      <a:round/>
                      <a:headEnd type="none" w="med" len="med"/>
                      <a:tailEnd type="none" w="med" len="med"/>
                    </a:lnR>
                    <a:lnT w="12700" cap="flat" cmpd="sng" algn="ctr">
                      <a:solidFill>
                        <a:srgbClr val="D9E1EA"/>
                      </a:solidFill>
                      <a:prstDash val="solid"/>
                      <a:round/>
                      <a:headEnd type="none" w="med" len="med"/>
                      <a:tailEnd type="none" w="med" len="med"/>
                    </a:lnT>
                    <a:lnB w="12700" cap="flat" cmpd="sng" algn="ctr">
                      <a:solidFill>
                        <a:srgbClr val="D9E1EA"/>
                      </a:solidFill>
                      <a:prstDash val="solid"/>
                      <a:round/>
                      <a:headEnd type="none" w="med" len="med"/>
                      <a:tailEnd type="none" w="med" len="med"/>
                    </a:lnB>
                  </a:tcPr>
                </a:tc>
                <a:tc>
                  <a:txBody>
                    <a:bodyPr/>
                    <a:lstStyle/>
                    <a:p>
                      <a:pPr indent="0" marL="0">
                        <a:buNone/>
                      </a:pPr>
                      <a:r>
                        <a:rPr lang="en-US" sz="1400" dirty="0">
                          <a:solidFill>
                            <a:srgbClr val="44525F"/>
                          </a:solidFill>
                        </a:rPr>
                        <a:t>No: 66% vs 68% direction right on carbohydrate pairs</a:t>
                      </a:r>
                      <a:endParaRPr lang="en-US" sz="1400" dirty="0"/>
                    </a:p>
                  </a:txBody>
                  <a:tcPr marL="101600" marR="101600" marT="50800" marB="50800" anchor="ctr">
                    <a:lnL w="12700" cap="flat" cmpd="sng" algn="ctr">
                      <a:solidFill>
                        <a:srgbClr val="D9E1EA"/>
                      </a:solidFill>
                      <a:prstDash val="solid"/>
                      <a:round/>
                      <a:headEnd type="none" w="med" len="med"/>
                      <a:tailEnd type="none" w="med" len="med"/>
                    </a:lnL>
                    <a:lnR w="12700" cap="flat" cmpd="sng" algn="ctr">
                      <a:solidFill>
                        <a:srgbClr val="D9E1EA"/>
                      </a:solidFill>
                      <a:prstDash val="solid"/>
                      <a:round/>
                      <a:headEnd type="none" w="med" len="med"/>
                      <a:tailEnd type="none" w="med" len="med"/>
                    </a:lnR>
                    <a:lnT w="12700" cap="flat" cmpd="sng" algn="ctr">
                      <a:solidFill>
                        <a:srgbClr val="D9E1EA"/>
                      </a:solidFill>
                      <a:prstDash val="solid"/>
                      <a:round/>
                      <a:headEnd type="none" w="med" len="med"/>
                      <a:tailEnd type="none" w="med" len="med"/>
                    </a:lnT>
                    <a:lnB w="12700" cap="flat" cmpd="sng" algn="ctr">
                      <a:solidFill>
                        <a:srgbClr val="D9E1EA"/>
                      </a:solidFill>
                      <a:prstDash val="solid"/>
                      <a:round/>
                      <a:headEnd type="none" w="med" len="med"/>
                      <a:tailEnd type="none" w="med" len="med"/>
                    </a:lnB>
                  </a:tcPr>
                </a:tc>
              </a:tr>
              <a:tr h="768096">
                <a:tc>
                  <a:txBody>
                    <a:bodyPr/>
                    <a:lstStyle/>
                    <a:p>
                      <a:pPr indent="0" marL="0">
                        <a:buNone/>
                      </a:pPr>
                      <a:r>
                        <a:rPr lang="en-US" sz="1400" b="1" dirty="0">
                          <a:solidFill>
                            <a:srgbClr val="0B1B2B"/>
                          </a:solidFill>
                        </a:rPr>
                        <a:t>The twin transfers better than any model</a:t>
                      </a:r>
                      <a:endParaRPr lang="en-US" sz="1400" dirty="0"/>
                    </a:p>
                  </a:txBody>
                  <a:tcPr marL="101600" marR="101600" marT="50800" marB="50800" anchor="ctr">
                    <a:lnL w="12700" cap="flat" cmpd="sng" algn="ctr">
                      <a:solidFill>
                        <a:srgbClr val="D9E1EA"/>
                      </a:solidFill>
                      <a:prstDash val="solid"/>
                      <a:round/>
                      <a:headEnd type="none" w="med" len="med"/>
                      <a:tailEnd type="none" w="med" len="med"/>
                    </a:lnL>
                    <a:lnR w="12700" cap="flat" cmpd="sng" algn="ctr">
                      <a:solidFill>
                        <a:srgbClr val="D9E1EA"/>
                      </a:solidFill>
                      <a:prstDash val="solid"/>
                      <a:round/>
                      <a:headEnd type="none" w="med" len="med"/>
                      <a:tailEnd type="none" w="med" len="med"/>
                    </a:lnR>
                    <a:lnT w="12700" cap="flat" cmpd="sng" algn="ctr">
                      <a:solidFill>
                        <a:srgbClr val="D9E1EA"/>
                      </a:solidFill>
                      <a:prstDash val="solid"/>
                      <a:round/>
                      <a:headEnd type="none" w="med" len="med"/>
                      <a:tailEnd type="none" w="med" len="med"/>
                    </a:lnT>
                    <a:lnB w="12700" cap="flat" cmpd="sng" algn="ctr">
                      <a:solidFill>
                        <a:srgbClr val="D9E1EA"/>
                      </a:solidFill>
                      <a:prstDash val="solid"/>
                      <a:round/>
                      <a:headEnd type="none" w="med" len="med"/>
                      <a:tailEnd type="none" w="med" len="med"/>
                    </a:lnB>
                  </a:tcPr>
                </a:tc>
                <a:tc>
                  <a:txBody>
                    <a:bodyPr/>
                    <a:lstStyle/>
                    <a:p>
                      <a:pPr indent="0" marL="0">
                        <a:buNone/>
                      </a:pPr>
                      <a:r>
                        <a:rPr lang="en-US" sz="1400" dirty="0">
                          <a:solidFill>
                            <a:srgbClr val="44525F"/>
                          </a:solidFill>
                        </a:rPr>
                        <a:t>No: fine-tuned Chronos-2 24.2 vs hybrid 26.4 mg/dL abroad. Now averaged in</a:t>
                      </a:r>
                      <a:endParaRPr lang="en-US" sz="1400" dirty="0"/>
                    </a:p>
                  </a:txBody>
                  <a:tcPr marL="101600" marR="101600" marT="50800" marB="50800" anchor="ctr">
                    <a:lnL w="12700" cap="flat" cmpd="sng" algn="ctr">
                      <a:solidFill>
                        <a:srgbClr val="D9E1EA"/>
                      </a:solidFill>
                      <a:prstDash val="solid"/>
                      <a:round/>
                      <a:headEnd type="none" w="med" len="med"/>
                      <a:tailEnd type="none" w="med" len="med"/>
                    </a:lnL>
                    <a:lnR w="12700" cap="flat" cmpd="sng" algn="ctr">
                      <a:solidFill>
                        <a:srgbClr val="D9E1EA"/>
                      </a:solidFill>
                      <a:prstDash val="solid"/>
                      <a:round/>
                      <a:headEnd type="none" w="med" len="med"/>
                      <a:tailEnd type="none" w="med" len="med"/>
                    </a:lnR>
                    <a:lnT w="12700" cap="flat" cmpd="sng" algn="ctr">
                      <a:solidFill>
                        <a:srgbClr val="D9E1EA"/>
                      </a:solidFill>
                      <a:prstDash val="solid"/>
                      <a:round/>
                      <a:headEnd type="none" w="med" len="med"/>
                      <a:tailEnd type="none" w="med" len="med"/>
                    </a:lnT>
                    <a:lnB w="12700" cap="flat" cmpd="sng" algn="ctr">
                      <a:solidFill>
                        <a:srgbClr val="D9E1EA"/>
                      </a:solidFill>
                      <a:prstDash val="solid"/>
                      <a:round/>
                      <a:headEnd type="none" w="med" len="med"/>
                      <a:tailEnd type="none" w="med" len="med"/>
                    </a:lnB>
                  </a:tcPr>
                </a:tc>
              </a:tr>
            </a:tbl>
          </a:graphicData>
        </a:graphic>
      </p:graphicFrame>
      <p:sp>
        <p:nvSpPr>
          <p:cNvPr id="5" name="card What did hold"/>
          <p:cNvSpPr/>
          <p:nvPr/>
        </p:nvSpPr>
        <p:spPr>
          <a:xfrm>
            <a:off x="7772400" y="1417320"/>
            <a:ext cx="3840480" cy="4343400"/>
          </a:xfrm>
          <a:prstGeom prst="roundRect">
            <a:avLst>
              <a:gd name="adj" fmla="val 1905"/>
            </a:avLst>
          </a:prstGeom>
          <a:solidFill>
            <a:schemeClr val="bg2"/>
          </a:solidFill>
          <a:ln w="12700">
            <a:solidFill>
              <a:schemeClr val="bg2"/>
            </a:solidFill>
            <a:prstDash val="solid"/>
          </a:ln>
        </p:spPr>
      </p:sp>
      <p:sp>
        <p:nvSpPr>
          <p:cNvPr id="6" name="Text 2"/>
          <p:cNvSpPr txBox="1"/>
          <p:nvPr/>
        </p:nvSpPr>
        <p:spPr>
          <a:xfrm>
            <a:off x="8001000" y="1600200"/>
            <a:ext cx="3383280" cy="411480"/>
          </a:xfrm>
          <a:prstGeom prst="rect">
            <a:avLst/>
          </a:prstGeom>
          <a:noFill/>
          <a:ln/>
        </p:spPr>
        <p:txBody>
          <a:bodyPr wrap="square" lIns="0" tIns="0" rIns="0" bIns="0" rtlCol="0" anchor="t"/>
          <a:lstStyle/>
          <a:p>
            <a:pPr indent="0" marL="0">
              <a:buNone/>
            </a:pPr>
            <a:r>
              <a:rPr lang="en-US" sz="1800" b="1" dirty="0">
                <a:solidFill>
                  <a:schemeClr val="tx1"/>
                </a:solidFill>
              </a:rPr>
              <a:t>What did hold</a:t>
            </a:r>
            <a:endParaRPr lang="en-US" sz="1800" dirty="0"/>
          </a:p>
        </p:txBody>
      </p:sp>
      <p:sp>
        <p:nvSpPr>
          <p:cNvPr id="7" name="Text 3"/>
          <p:cNvSpPr txBox="1"/>
          <p:nvPr/>
        </p:nvSpPr>
        <p:spPr>
          <a:xfrm>
            <a:off x="8001000" y="2075688"/>
            <a:ext cx="3383280" cy="3520440"/>
          </a:xfrm>
          <a:prstGeom prst="rect">
            <a:avLst/>
          </a:prstGeom>
          <a:noFill/>
          <a:ln/>
        </p:spPr>
        <p:txBody>
          <a:bodyPr wrap="square" lIns="0" tIns="0" rIns="0" bIns="0" rtlCol="0" anchor="t"/>
          <a:lstStyle/>
          <a:p>
            <a:pPr indent="0" marL="0">
              <a:spcAft>
                <a:spcPts val="400"/>
              </a:spcAft>
              <a:buNone/>
            </a:pPr>
            <a:r>
              <a:rPr lang="en-US" sz="1500" dirty="0">
                <a:solidFill>
                  <a:schemeClr val="tx2"/>
                </a:solidFill>
              </a:rPr>
              <a:t>Personalised vs generic physiology from day 4: -5.6 (-9.4 to -2.1) mg/dL. Twin basal glucose vs lab fasting glucose: rho 0.62. Standard-meal peak vs HbA1c: rho 0.60, with the labs withheld from the twin.</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On synthetic patients, the twin recovers the truth</a:t>
            </a:r>
            <a:endParaRPr lang="en-US" sz="3200" dirty="0"/>
          </a:p>
        </p:txBody>
      </p:sp>
      <p:pic>
        <p:nvPicPr>
          <p:cNvPr id="4" name="Image 0" descr="Recovery of hidden physiology and counterfactual what-ifs on synthetic patients">    </p:cNvPr>
          <p:cNvPicPr>
            <a:picLocks noChangeAspect="1"/>
          </p:cNvPicPr>
          <p:nvPr/>
        </p:nvPicPr>
        <p:blipFill>
          <a:blip r:embed="rId1"/>
          <a:stretch>
            <a:fillRect/>
          </a:stretch>
        </p:blipFill>
        <p:spPr>
          <a:xfrm>
            <a:off x="548640" y="1325880"/>
            <a:ext cx="11064240" cy="4224528"/>
          </a:xfrm>
          <a:prstGeom prst="rect">
            <a:avLst/>
          </a:prstGeom>
        </p:spPr>
      </p:pic>
      <p:sp>
        <p:nvSpPr>
          <p:cNvPr id="5" name="Text 1"/>
          <p:cNvSpPr txBox="1"/>
          <p:nvPr/>
        </p:nvSpPr>
        <p:spPr>
          <a:xfrm>
            <a:off x="548640" y="5687568"/>
            <a:ext cx="11064240" cy="640080"/>
          </a:xfrm>
          <a:prstGeom prst="rect">
            <a:avLst/>
          </a:prstGeom>
          <a:noFill/>
          <a:ln/>
        </p:spPr>
        <p:txBody>
          <a:bodyPr wrap="square" lIns="0" tIns="0" rIns="0" bIns="0" rtlCol="0" anchor="t"/>
          <a:lstStyle/>
          <a:p>
            <a:pPr indent="0" marL="0">
              <a:buNone/>
            </a:pPr>
            <a:r>
              <a:rPr lang="en-US" sz="1400" dirty="0">
                <a:solidFill>
                  <a:schemeClr val="tx1"/>
                </a:solidFill>
              </a:rPr>
              <a:t>Basal glucose: rho 0.959, error 4.7 mg/dL. "40% less carbohydrate": r = 0.875, direction right 100%, true -22.9 vs twin -17.2 mg/dL. No accuracy claim rests on synthetic data.</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Limits and responsible use</a:t>
            </a:r>
            <a:endParaRPr lang="en-US" sz="3200" dirty="0"/>
          </a:p>
        </p:txBody>
      </p:sp>
      <p:sp>
        <p:nvSpPr>
          <p:cNvPr id="4" name="card Not Indian data"/>
          <p:cNvSpPr/>
          <p:nvPr/>
        </p:nvSpPr>
        <p:spPr>
          <a:xfrm>
            <a:off x="548640" y="1417320"/>
            <a:ext cx="3520440" cy="2103120"/>
          </a:xfrm>
          <a:prstGeom prst="roundRect">
            <a:avLst>
              <a:gd name="adj" fmla="val 3478"/>
            </a:avLst>
          </a:prstGeom>
          <a:solidFill>
            <a:schemeClr val="bg2"/>
          </a:solidFill>
          <a:ln w="12700">
            <a:solidFill>
              <a:schemeClr val="bg2"/>
            </a:solidFill>
            <a:prstDash val="solid"/>
          </a:ln>
        </p:spPr>
      </p:sp>
      <p:sp>
        <p:nvSpPr>
          <p:cNvPr id="5" name="Text 2"/>
          <p:cNvSpPr txBox="1"/>
          <p:nvPr/>
        </p:nvSpPr>
        <p:spPr>
          <a:xfrm>
            <a:off x="777240" y="1600200"/>
            <a:ext cx="3063240" cy="411480"/>
          </a:xfrm>
          <a:prstGeom prst="rect">
            <a:avLst/>
          </a:prstGeom>
          <a:noFill/>
          <a:ln/>
        </p:spPr>
        <p:txBody>
          <a:bodyPr wrap="square" lIns="0" tIns="0" rIns="0" bIns="0" rtlCol="0" anchor="t"/>
          <a:lstStyle/>
          <a:p>
            <a:pPr indent="0" marL="0">
              <a:buNone/>
            </a:pPr>
            <a:r>
              <a:rPr lang="en-US" sz="1800" b="1" dirty="0">
                <a:solidFill>
                  <a:schemeClr val="tx1"/>
                </a:solidFill>
              </a:rPr>
              <a:t>Not Indian data</a:t>
            </a:r>
            <a:endParaRPr lang="en-US" sz="1800" dirty="0"/>
          </a:p>
        </p:txBody>
      </p:sp>
      <p:sp>
        <p:nvSpPr>
          <p:cNvPr id="6" name="Text 3"/>
          <p:cNvSpPr txBox="1"/>
          <p:nvPr/>
        </p:nvSpPr>
        <p:spPr>
          <a:xfrm>
            <a:off x="777240" y="2075688"/>
            <a:ext cx="3063240" cy="128016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45 people from the USA, 100 from China. The India case is problem fit, not measured accuracy</a:t>
            </a:r>
            <a:endParaRPr lang="en-US" sz="1400" dirty="0"/>
          </a:p>
        </p:txBody>
      </p:sp>
      <p:sp>
        <p:nvSpPr>
          <p:cNvPr id="7" name="card Retrospective"/>
          <p:cNvSpPr/>
          <p:nvPr/>
        </p:nvSpPr>
        <p:spPr>
          <a:xfrm>
            <a:off x="4325112" y="1417320"/>
            <a:ext cx="3520440" cy="2103120"/>
          </a:xfrm>
          <a:prstGeom prst="roundRect">
            <a:avLst>
              <a:gd name="adj" fmla="val 3478"/>
            </a:avLst>
          </a:prstGeom>
          <a:solidFill>
            <a:schemeClr val="bg2"/>
          </a:solidFill>
          <a:ln w="12700">
            <a:solidFill>
              <a:schemeClr val="bg2"/>
            </a:solidFill>
            <a:prstDash val="solid"/>
          </a:ln>
        </p:spPr>
      </p:sp>
      <p:sp>
        <p:nvSpPr>
          <p:cNvPr id="8" name="Text 5"/>
          <p:cNvSpPr txBox="1"/>
          <p:nvPr/>
        </p:nvSpPr>
        <p:spPr>
          <a:xfrm>
            <a:off x="4553712" y="1600200"/>
            <a:ext cx="3063240" cy="411480"/>
          </a:xfrm>
          <a:prstGeom prst="rect">
            <a:avLst/>
          </a:prstGeom>
          <a:noFill/>
          <a:ln/>
        </p:spPr>
        <p:txBody>
          <a:bodyPr wrap="square" lIns="0" tIns="0" rIns="0" bIns="0" rtlCol="0" anchor="t"/>
          <a:lstStyle/>
          <a:p>
            <a:pPr indent="0" marL="0">
              <a:buNone/>
            </a:pPr>
            <a:r>
              <a:rPr lang="en-US" sz="1800" b="1" dirty="0">
                <a:solidFill>
                  <a:schemeClr val="tx1"/>
                </a:solidFill>
              </a:rPr>
              <a:t>Retrospective</a:t>
            </a:r>
            <a:endParaRPr lang="en-US" sz="1800" dirty="0"/>
          </a:p>
        </p:txBody>
      </p:sp>
      <p:sp>
        <p:nvSpPr>
          <p:cNvPr id="9" name="Text 6"/>
          <p:cNvSpPr txBox="1"/>
          <p:nvPr/>
        </p:nvSpPr>
        <p:spPr>
          <a:xfrm>
            <a:off x="4553712" y="2075688"/>
            <a:ext cx="3063240" cy="128016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Replayed recordings. No prospective use, no clinical outcomes</a:t>
            </a:r>
            <a:endParaRPr lang="en-US" sz="1400" dirty="0"/>
          </a:p>
        </p:txBody>
      </p:sp>
      <p:sp>
        <p:nvSpPr>
          <p:cNvPr id="10" name="card No drug or insulin model"/>
          <p:cNvSpPr/>
          <p:nvPr/>
        </p:nvSpPr>
        <p:spPr>
          <a:xfrm>
            <a:off x="8101584" y="1417320"/>
            <a:ext cx="3520440" cy="2103120"/>
          </a:xfrm>
          <a:prstGeom prst="roundRect">
            <a:avLst>
              <a:gd name="adj" fmla="val 3478"/>
            </a:avLst>
          </a:prstGeom>
          <a:solidFill>
            <a:schemeClr val="bg2"/>
          </a:solidFill>
          <a:ln w="12700">
            <a:solidFill>
              <a:schemeClr val="bg2"/>
            </a:solidFill>
            <a:prstDash val="solid"/>
          </a:ln>
        </p:spPr>
      </p:sp>
      <p:sp>
        <p:nvSpPr>
          <p:cNvPr id="11" name="Text 8"/>
          <p:cNvSpPr txBox="1"/>
          <p:nvPr/>
        </p:nvSpPr>
        <p:spPr>
          <a:xfrm>
            <a:off x="8330184" y="1600200"/>
            <a:ext cx="3063240" cy="411480"/>
          </a:xfrm>
          <a:prstGeom prst="rect">
            <a:avLst/>
          </a:prstGeom>
          <a:noFill/>
          <a:ln/>
        </p:spPr>
        <p:txBody>
          <a:bodyPr wrap="square" lIns="0" tIns="0" rIns="0" bIns="0" rtlCol="0" anchor="t"/>
          <a:lstStyle/>
          <a:p>
            <a:pPr indent="0" marL="0">
              <a:buNone/>
            </a:pPr>
            <a:r>
              <a:rPr lang="en-US" sz="1800" b="1" dirty="0">
                <a:solidFill>
                  <a:schemeClr val="tx1"/>
                </a:solidFill>
              </a:rPr>
              <a:t>No drug or insulin model</a:t>
            </a:r>
            <a:endParaRPr lang="en-US" sz="1800" dirty="0"/>
          </a:p>
        </p:txBody>
      </p:sp>
      <p:sp>
        <p:nvSpPr>
          <p:cNvPr id="12" name="Text 9"/>
          <p:cNvSpPr txBox="1"/>
          <p:nvPr/>
        </p:nvSpPr>
        <p:spPr>
          <a:xfrm>
            <a:off x="8330184" y="2075688"/>
            <a:ext cx="3063240" cy="128016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Their effect lands in the drift term. Half the external cohort is on insulin</a:t>
            </a:r>
            <a:endParaRPr lang="en-US" sz="1400" dirty="0"/>
          </a:p>
        </p:txBody>
      </p:sp>
      <p:sp>
        <p:nvSpPr>
          <p:cNvPr id="13" name="card Meals must be logged"/>
          <p:cNvSpPr/>
          <p:nvPr/>
        </p:nvSpPr>
        <p:spPr>
          <a:xfrm>
            <a:off x="548640" y="3749040"/>
            <a:ext cx="3520440" cy="2103120"/>
          </a:xfrm>
          <a:prstGeom prst="roundRect">
            <a:avLst>
              <a:gd name="adj" fmla="val 3478"/>
            </a:avLst>
          </a:prstGeom>
          <a:solidFill>
            <a:schemeClr val="bg2"/>
          </a:solidFill>
          <a:ln w="12700">
            <a:solidFill>
              <a:schemeClr val="bg2"/>
            </a:solidFill>
            <a:prstDash val="solid"/>
          </a:ln>
        </p:spPr>
      </p:sp>
      <p:sp>
        <p:nvSpPr>
          <p:cNvPr id="14" name="Text 11"/>
          <p:cNvSpPr txBox="1"/>
          <p:nvPr/>
        </p:nvSpPr>
        <p:spPr>
          <a:xfrm>
            <a:off x="777240" y="3931920"/>
            <a:ext cx="3063240" cy="411480"/>
          </a:xfrm>
          <a:prstGeom prst="rect">
            <a:avLst/>
          </a:prstGeom>
          <a:noFill/>
          <a:ln/>
        </p:spPr>
        <p:txBody>
          <a:bodyPr wrap="square" lIns="0" tIns="0" rIns="0" bIns="0" rtlCol="0" anchor="t"/>
          <a:lstStyle/>
          <a:p>
            <a:pPr indent="0" marL="0">
              <a:buNone/>
            </a:pPr>
            <a:r>
              <a:rPr lang="en-US" sz="1800" b="1" dirty="0">
                <a:solidFill>
                  <a:schemeClr val="tx1"/>
                </a:solidFill>
              </a:rPr>
              <a:t>Meals must be logged</a:t>
            </a:r>
            <a:endParaRPr lang="en-US" sz="1800" dirty="0"/>
          </a:p>
        </p:txBody>
      </p:sp>
      <p:sp>
        <p:nvSpPr>
          <p:cNvPr id="15" name="Text 12"/>
          <p:cNvSpPr txBox="1"/>
          <p:nvPr/>
        </p:nvSpPr>
        <p:spPr>
          <a:xfrm>
            <a:off x="777240" y="4407408"/>
            <a:ext cx="3063240" cy="128016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With no meal log the 60-minute error rises by 8%</a:t>
            </a:r>
            <a:endParaRPr lang="en-US" sz="1400" dirty="0"/>
          </a:p>
        </p:txBody>
      </p:sp>
      <p:sp>
        <p:nvSpPr>
          <p:cNvPr id="16" name="card Decision support only"/>
          <p:cNvSpPr/>
          <p:nvPr/>
        </p:nvSpPr>
        <p:spPr>
          <a:xfrm>
            <a:off x="4325112" y="3749040"/>
            <a:ext cx="3520440" cy="2103120"/>
          </a:xfrm>
          <a:prstGeom prst="roundRect">
            <a:avLst>
              <a:gd name="adj" fmla="val 3478"/>
            </a:avLst>
          </a:prstGeom>
          <a:solidFill>
            <a:schemeClr val="bg2"/>
          </a:solidFill>
          <a:ln w="12700">
            <a:solidFill>
              <a:schemeClr val="bg2"/>
            </a:solidFill>
            <a:prstDash val="solid"/>
          </a:ln>
        </p:spPr>
      </p:sp>
      <p:sp>
        <p:nvSpPr>
          <p:cNvPr id="17" name="Text 14"/>
          <p:cNvSpPr txBox="1"/>
          <p:nvPr/>
        </p:nvSpPr>
        <p:spPr>
          <a:xfrm>
            <a:off x="4553712" y="3931920"/>
            <a:ext cx="3063240" cy="411480"/>
          </a:xfrm>
          <a:prstGeom prst="rect">
            <a:avLst/>
          </a:prstGeom>
          <a:noFill/>
          <a:ln/>
        </p:spPr>
        <p:txBody>
          <a:bodyPr wrap="square" lIns="0" tIns="0" rIns="0" bIns="0" rtlCol="0" anchor="t"/>
          <a:lstStyle/>
          <a:p>
            <a:pPr indent="0" marL="0">
              <a:buNone/>
            </a:pPr>
            <a:r>
              <a:rPr lang="en-US" sz="1800" b="1" dirty="0">
                <a:solidFill>
                  <a:schemeClr val="tx1"/>
                </a:solidFill>
              </a:rPr>
              <a:t>Decision support only</a:t>
            </a:r>
            <a:endParaRPr lang="en-US" sz="1800" dirty="0"/>
          </a:p>
        </p:txBody>
      </p:sp>
      <p:sp>
        <p:nvSpPr>
          <p:cNvPr id="18" name="Text 15"/>
          <p:cNvSpPr txBox="1"/>
          <p:nvPr/>
        </p:nvSpPr>
        <p:spPr>
          <a:xfrm>
            <a:off x="4553712" y="4407408"/>
            <a:ext cx="3063240" cy="128016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For a clinician. Lifestyle scenarios; no medication or dosing advice</a:t>
            </a:r>
            <a:endParaRPr lang="en-US" sz="1400" dirty="0"/>
          </a:p>
        </p:txBody>
      </p:sp>
      <p:sp>
        <p:nvSpPr>
          <p:cNvPr id="19" name="card Data terms"/>
          <p:cNvSpPr/>
          <p:nvPr/>
        </p:nvSpPr>
        <p:spPr>
          <a:xfrm>
            <a:off x="8101584" y="3749040"/>
            <a:ext cx="3520440" cy="2103120"/>
          </a:xfrm>
          <a:prstGeom prst="roundRect">
            <a:avLst>
              <a:gd name="adj" fmla="val 3478"/>
            </a:avLst>
          </a:prstGeom>
          <a:solidFill>
            <a:schemeClr val="bg2"/>
          </a:solidFill>
          <a:ln w="12700">
            <a:solidFill>
              <a:schemeClr val="bg2"/>
            </a:solidFill>
            <a:prstDash val="solid"/>
          </a:ln>
        </p:spPr>
      </p:sp>
      <p:sp>
        <p:nvSpPr>
          <p:cNvPr id="20" name="Text 17"/>
          <p:cNvSpPr txBox="1"/>
          <p:nvPr/>
        </p:nvSpPr>
        <p:spPr>
          <a:xfrm>
            <a:off x="8330184" y="3931920"/>
            <a:ext cx="3063240" cy="411480"/>
          </a:xfrm>
          <a:prstGeom prst="rect">
            <a:avLst/>
          </a:prstGeom>
          <a:noFill/>
          <a:ln/>
        </p:spPr>
        <p:txBody>
          <a:bodyPr wrap="square" lIns="0" tIns="0" rIns="0" bIns="0" rtlCol="0" anchor="t"/>
          <a:lstStyle/>
          <a:p>
            <a:pPr indent="0" marL="0">
              <a:buNone/>
            </a:pPr>
            <a:r>
              <a:rPr lang="en-US" sz="1800" b="1" dirty="0">
                <a:solidFill>
                  <a:schemeClr val="tx1"/>
                </a:solidFill>
              </a:rPr>
              <a:t>Data terms</a:t>
            </a:r>
            <a:endParaRPr lang="en-US" sz="1800" dirty="0"/>
          </a:p>
        </p:txBody>
      </p:sp>
      <p:sp>
        <p:nvSpPr>
          <p:cNvPr id="21" name="Text 18"/>
          <p:cNvSpPr txBox="1"/>
          <p:nvPr/>
        </p:nvSpPr>
        <p:spPr>
          <a:xfrm>
            <a:off x="8330184" y="4407408"/>
            <a:ext cx="3063240" cy="128016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CGMacros is non-commercial (CC BY-NC-SA). No raw data in the repository</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What comes next for India</a:t>
            </a:r>
            <a:endParaRPr lang="en-US" sz="3200" dirty="0"/>
          </a:p>
        </p:txBody>
      </p:sp>
      <p:sp>
        <p:nvSpPr>
          <p:cNvPr id="4" name="step 1"/>
          <p:cNvSpPr/>
          <p:nvPr/>
        </p:nvSpPr>
        <p:spPr>
          <a:xfrm>
            <a:off x="548640" y="1508760"/>
            <a:ext cx="457200" cy="457200"/>
          </a:xfrm>
          <a:prstGeom prst="ellipse">
            <a:avLst/>
          </a:prstGeom>
          <a:solidFill>
            <a:schemeClr val="accent1"/>
          </a:solidFill>
          <a:ln w="12700">
            <a:solidFill>
              <a:schemeClr val="accent1"/>
            </a:solidFill>
            <a:prstDash val="solid"/>
          </a:ln>
        </p:spPr>
      </p:sp>
      <p:sp>
        <p:nvSpPr>
          <p:cNvPr id="5" name="Text 2"/>
          <p:cNvSpPr txBox="1"/>
          <p:nvPr/>
        </p:nvSpPr>
        <p:spPr>
          <a:xfrm>
            <a:off x="548640"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3"/>
          <p:cNvSpPr txBox="1"/>
          <p:nvPr/>
        </p:nvSpPr>
        <p:spPr>
          <a:xfrm>
            <a:off x="1234440" y="1536192"/>
            <a:ext cx="3108960" cy="411480"/>
          </a:xfrm>
          <a:prstGeom prst="rect">
            <a:avLst/>
          </a:prstGeom>
          <a:noFill/>
          <a:ln/>
        </p:spPr>
        <p:txBody>
          <a:bodyPr wrap="square" lIns="0" tIns="0" rIns="0" bIns="0" rtlCol="0" anchor="t"/>
          <a:lstStyle/>
          <a:p>
            <a:pPr indent="0" marL="0">
              <a:buNone/>
            </a:pPr>
            <a:r>
              <a:rPr lang="en-US" sz="1800" b="1" dirty="0">
                <a:solidFill>
                  <a:schemeClr val="tx1"/>
                </a:solidFill>
              </a:rPr>
              <a:t>Indian validation</a:t>
            </a:r>
            <a:endParaRPr lang="en-US" sz="1800" dirty="0"/>
          </a:p>
        </p:txBody>
      </p:sp>
      <p:sp>
        <p:nvSpPr>
          <p:cNvPr id="7" name="Text 4"/>
          <p:cNvSpPr txBox="1"/>
          <p:nvPr/>
        </p:nvSpPr>
        <p:spPr>
          <a:xfrm>
            <a:off x="4480560" y="1554480"/>
            <a:ext cx="7132320" cy="640080"/>
          </a:xfrm>
          <a:prstGeom prst="rect">
            <a:avLst/>
          </a:prstGeom>
          <a:noFill/>
          <a:ln/>
        </p:spPr>
        <p:txBody>
          <a:bodyPr wrap="square" lIns="0" tIns="0" rIns="0" bIns="0" rtlCol="0" anchor="t"/>
          <a:lstStyle/>
          <a:p>
            <a:pPr indent="0" marL="0">
              <a:buNone/>
            </a:pPr>
            <a:r>
              <a:rPr lang="en-US" sz="1500" dirty="0">
                <a:solidFill>
                  <a:schemeClr val="tx2"/>
                </a:solidFill>
              </a:rPr>
              <a:t>Same protocol on an Indian CGM cohort with linked labs, with a hospital partner</a:t>
            </a:r>
            <a:endParaRPr lang="en-US" sz="1500" dirty="0"/>
          </a:p>
        </p:txBody>
      </p:sp>
      <p:sp>
        <p:nvSpPr>
          <p:cNvPr id="8" name="step 2"/>
          <p:cNvSpPr/>
          <p:nvPr/>
        </p:nvSpPr>
        <p:spPr>
          <a:xfrm>
            <a:off x="548640" y="2423160"/>
            <a:ext cx="457200" cy="457200"/>
          </a:xfrm>
          <a:prstGeom prst="ellipse">
            <a:avLst/>
          </a:prstGeom>
          <a:solidFill>
            <a:schemeClr val="accent1"/>
          </a:solidFill>
          <a:ln w="12700">
            <a:solidFill>
              <a:schemeClr val="accent1"/>
            </a:solidFill>
            <a:prstDash val="solid"/>
          </a:ln>
        </p:spPr>
      </p:sp>
      <p:sp>
        <p:nvSpPr>
          <p:cNvPr id="9" name="Text 6"/>
          <p:cNvSpPr txBox="1"/>
          <p:nvPr/>
        </p:nvSpPr>
        <p:spPr>
          <a:xfrm>
            <a:off x="548640" y="24231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7"/>
          <p:cNvSpPr txBox="1"/>
          <p:nvPr/>
        </p:nvSpPr>
        <p:spPr>
          <a:xfrm>
            <a:off x="1234440" y="2450592"/>
            <a:ext cx="3108960" cy="411480"/>
          </a:xfrm>
          <a:prstGeom prst="rect">
            <a:avLst/>
          </a:prstGeom>
          <a:noFill/>
          <a:ln/>
        </p:spPr>
        <p:txBody>
          <a:bodyPr wrap="square" lIns="0" tIns="0" rIns="0" bIns="0" rtlCol="0" anchor="t"/>
          <a:lstStyle/>
          <a:p>
            <a:pPr indent="0" marL="0">
              <a:buNone/>
            </a:pPr>
            <a:r>
              <a:rPr lang="en-US" sz="1800" b="1" dirty="0">
                <a:solidFill>
                  <a:schemeClr val="tx1"/>
                </a:solidFill>
              </a:rPr>
              <a:t>Therapy in the model</a:t>
            </a:r>
            <a:endParaRPr lang="en-US" sz="1800" dirty="0"/>
          </a:p>
        </p:txBody>
      </p:sp>
      <p:sp>
        <p:nvSpPr>
          <p:cNvPr id="11" name="Text 8"/>
          <p:cNvSpPr txBox="1"/>
          <p:nvPr/>
        </p:nvSpPr>
        <p:spPr>
          <a:xfrm>
            <a:off x="4480560" y="2468880"/>
            <a:ext cx="7132320" cy="640080"/>
          </a:xfrm>
          <a:prstGeom prst="rect">
            <a:avLst/>
          </a:prstGeom>
          <a:noFill/>
          <a:ln/>
        </p:spPr>
        <p:txBody>
          <a:bodyPr wrap="square" lIns="0" tIns="0" rIns="0" bIns="0" rtlCol="0" anchor="t"/>
          <a:lstStyle/>
          <a:p>
            <a:pPr indent="0" marL="0">
              <a:buNone/>
            </a:pPr>
            <a:r>
              <a:rPr lang="en-US" sz="1500" dirty="0">
                <a:solidFill>
                  <a:schemeClr val="tx2"/>
                </a:solidFill>
              </a:rPr>
              <a:t>Metformin, sulfonylurea and insulin effects; sleep and stress from the wearable</a:t>
            </a:r>
            <a:endParaRPr lang="en-US" sz="1500" dirty="0"/>
          </a:p>
        </p:txBody>
      </p:sp>
      <p:sp>
        <p:nvSpPr>
          <p:cNvPr id="12" name="step 3"/>
          <p:cNvSpPr/>
          <p:nvPr/>
        </p:nvSpPr>
        <p:spPr>
          <a:xfrm>
            <a:off x="548640" y="3337560"/>
            <a:ext cx="457200" cy="457200"/>
          </a:xfrm>
          <a:prstGeom prst="ellipse">
            <a:avLst/>
          </a:prstGeom>
          <a:solidFill>
            <a:schemeClr val="accent1"/>
          </a:solidFill>
          <a:ln w="12700">
            <a:solidFill>
              <a:schemeClr val="accent1"/>
            </a:solidFill>
            <a:prstDash val="solid"/>
          </a:ln>
        </p:spPr>
      </p:sp>
      <p:sp>
        <p:nvSpPr>
          <p:cNvPr id="13" name="Text 10"/>
          <p:cNvSpPr txBox="1"/>
          <p:nvPr/>
        </p:nvSpPr>
        <p:spPr>
          <a:xfrm>
            <a:off x="548640" y="33375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1"/>
          <p:cNvSpPr txBox="1"/>
          <p:nvPr/>
        </p:nvSpPr>
        <p:spPr>
          <a:xfrm>
            <a:off x="1234440" y="3364992"/>
            <a:ext cx="3108960" cy="411480"/>
          </a:xfrm>
          <a:prstGeom prst="rect">
            <a:avLst/>
          </a:prstGeom>
          <a:noFill/>
          <a:ln/>
        </p:spPr>
        <p:txBody>
          <a:bodyPr wrap="square" lIns="0" tIns="0" rIns="0" bIns="0" rtlCol="0" anchor="t"/>
          <a:lstStyle/>
          <a:p>
            <a:pPr indent="0" marL="0">
              <a:buNone/>
            </a:pPr>
            <a:r>
              <a:rPr lang="en-US" sz="1800" b="1" dirty="0">
                <a:solidFill>
                  <a:schemeClr val="tx1"/>
                </a:solidFill>
              </a:rPr>
              <a:t>Meals without typing</a:t>
            </a:r>
            <a:endParaRPr lang="en-US" sz="1800" dirty="0"/>
          </a:p>
        </p:txBody>
      </p:sp>
      <p:sp>
        <p:nvSpPr>
          <p:cNvPr id="15" name="Text 12"/>
          <p:cNvSpPr txBox="1"/>
          <p:nvPr/>
        </p:nvSpPr>
        <p:spPr>
          <a:xfrm>
            <a:off x="4480560" y="3383280"/>
            <a:ext cx="7132320" cy="640080"/>
          </a:xfrm>
          <a:prstGeom prst="rect">
            <a:avLst/>
          </a:prstGeom>
          <a:noFill/>
          <a:ln/>
        </p:spPr>
        <p:txBody>
          <a:bodyPr wrap="square" lIns="0" tIns="0" rIns="0" bIns="0" rtlCol="0" anchor="t"/>
          <a:lstStyle/>
          <a:p>
            <a:pPr indent="0" marL="0">
              <a:buNone/>
            </a:pPr>
            <a:r>
              <a:rPr lang="en-US" sz="1500" dirty="0">
                <a:solidFill>
                  <a:schemeClr val="tx2"/>
                </a:solidFill>
              </a:rPr>
              <a:t>Photo-based logging for Indian dishes; the twin already tolerates 30% carbohydrate error</a:t>
            </a:r>
            <a:endParaRPr lang="en-US" sz="1500" dirty="0"/>
          </a:p>
        </p:txBody>
      </p:sp>
      <p:sp>
        <p:nvSpPr>
          <p:cNvPr id="16" name="step 4"/>
          <p:cNvSpPr/>
          <p:nvPr/>
        </p:nvSpPr>
        <p:spPr>
          <a:xfrm>
            <a:off x="548640" y="4251960"/>
            <a:ext cx="457200" cy="457200"/>
          </a:xfrm>
          <a:prstGeom prst="ellipse">
            <a:avLst/>
          </a:prstGeom>
          <a:solidFill>
            <a:schemeClr val="accent1"/>
          </a:solidFill>
          <a:ln w="12700">
            <a:solidFill>
              <a:schemeClr val="accent1"/>
            </a:solidFill>
            <a:prstDash val="solid"/>
          </a:ln>
        </p:spPr>
      </p:sp>
      <p:sp>
        <p:nvSpPr>
          <p:cNvPr id="17" name="Text 14"/>
          <p:cNvSpPr txBox="1"/>
          <p:nvPr/>
        </p:nvSpPr>
        <p:spPr>
          <a:xfrm>
            <a:off x="548640" y="42519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8" name="Text 15"/>
          <p:cNvSpPr txBox="1"/>
          <p:nvPr/>
        </p:nvSpPr>
        <p:spPr>
          <a:xfrm>
            <a:off x="1234440" y="4279392"/>
            <a:ext cx="3108960" cy="411480"/>
          </a:xfrm>
          <a:prstGeom prst="rect">
            <a:avLst/>
          </a:prstGeom>
          <a:noFill/>
          <a:ln/>
        </p:spPr>
        <p:txBody>
          <a:bodyPr wrap="square" lIns="0" tIns="0" rIns="0" bIns="0" rtlCol="0" anchor="t"/>
          <a:lstStyle/>
          <a:p>
            <a:pPr indent="0" marL="0">
              <a:buNone/>
            </a:pPr>
            <a:r>
              <a:rPr lang="en-US" sz="1800" b="1" dirty="0">
                <a:solidFill>
                  <a:schemeClr val="tx1"/>
                </a:solidFill>
              </a:rPr>
              <a:t>Fit the health system</a:t>
            </a:r>
            <a:endParaRPr lang="en-US" sz="1800" dirty="0"/>
          </a:p>
        </p:txBody>
      </p:sp>
      <p:sp>
        <p:nvSpPr>
          <p:cNvPr id="19" name="Text 16"/>
          <p:cNvSpPr txBox="1"/>
          <p:nvPr/>
        </p:nvSpPr>
        <p:spPr>
          <a:xfrm>
            <a:off x="4480560" y="4297680"/>
            <a:ext cx="7132320" cy="640080"/>
          </a:xfrm>
          <a:prstGeom prst="rect">
            <a:avLst/>
          </a:prstGeom>
          <a:noFill/>
          <a:ln/>
        </p:spPr>
        <p:txBody>
          <a:bodyPr wrap="square" lIns="0" tIns="0" rIns="0" bIns="0" rtlCol="0" anchor="t"/>
          <a:lstStyle/>
          <a:p>
            <a:pPr indent="0" marL="0">
              <a:buNone/>
            </a:pPr>
            <a:r>
              <a:rPr lang="en-US" sz="1500" dirty="0">
                <a:solidFill>
                  <a:schemeClr val="tx2"/>
                </a:solidFill>
              </a:rPr>
              <a:t>FHIR and ABDM records in and out</a:t>
            </a:r>
            <a:endParaRPr lang="en-US" sz="1500" dirty="0"/>
          </a:p>
        </p:txBody>
      </p:sp>
      <p:sp>
        <p:nvSpPr>
          <p:cNvPr id="20" name="step 5"/>
          <p:cNvSpPr/>
          <p:nvPr/>
        </p:nvSpPr>
        <p:spPr>
          <a:xfrm>
            <a:off x="548640" y="5166360"/>
            <a:ext cx="457200" cy="457200"/>
          </a:xfrm>
          <a:prstGeom prst="ellipse">
            <a:avLst/>
          </a:prstGeom>
          <a:solidFill>
            <a:schemeClr val="accent1"/>
          </a:solidFill>
          <a:ln w="12700">
            <a:solidFill>
              <a:schemeClr val="accent1"/>
            </a:solidFill>
            <a:prstDash val="solid"/>
          </a:ln>
        </p:spPr>
      </p:sp>
      <p:sp>
        <p:nvSpPr>
          <p:cNvPr id="21" name="Text 18"/>
          <p:cNvSpPr txBox="1"/>
          <p:nvPr/>
        </p:nvSpPr>
        <p:spPr>
          <a:xfrm>
            <a:off x="548640" y="51663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2" name="Text 19"/>
          <p:cNvSpPr txBox="1"/>
          <p:nvPr/>
        </p:nvSpPr>
        <p:spPr>
          <a:xfrm>
            <a:off x="1234440" y="5193792"/>
            <a:ext cx="3108960" cy="411480"/>
          </a:xfrm>
          <a:prstGeom prst="rect">
            <a:avLst/>
          </a:prstGeom>
          <a:noFill/>
          <a:ln/>
        </p:spPr>
        <p:txBody>
          <a:bodyPr wrap="square" lIns="0" tIns="0" rIns="0" bIns="0" rtlCol="0" anchor="t"/>
          <a:lstStyle/>
          <a:p>
            <a:pPr indent="0" marL="0">
              <a:buNone/>
            </a:pPr>
            <a:r>
              <a:rPr lang="en-US" sz="1800" b="1" dirty="0">
                <a:solidFill>
                  <a:schemeClr val="tx1"/>
                </a:solidFill>
              </a:rPr>
              <a:t>Prospective pilot</a:t>
            </a:r>
            <a:endParaRPr lang="en-US" sz="1800" dirty="0"/>
          </a:p>
        </p:txBody>
      </p:sp>
      <p:sp>
        <p:nvSpPr>
          <p:cNvPr id="23" name="Text 20"/>
          <p:cNvSpPr txBox="1"/>
          <p:nvPr/>
        </p:nvSpPr>
        <p:spPr>
          <a:xfrm>
            <a:off x="4480560" y="5212080"/>
            <a:ext cx="7132320" cy="640080"/>
          </a:xfrm>
          <a:prstGeom prst="rect">
            <a:avLst/>
          </a:prstGeom>
          <a:noFill/>
          <a:ln/>
        </p:spPr>
        <p:txBody>
          <a:bodyPr wrap="square" lIns="0" tIns="0" rIns="0" bIns="0" rtlCol="0" anchor="t"/>
          <a:lstStyle/>
          <a:p>
            <a:pPr indent="0" marL="0">
              <a:buNone/>
            </a:pPr>
            <a:r>
              <a:rPr lang="en-US" sz="1500" dirty="0">
                <a:solidFill>
                  <a:schemeClr val="tx2"/>
                </a:solidFill>
              </a:rPr>
              <a:t>Alerts and what-ifs in clinic, measured against time in range</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188720"/>
          </a:xfrm>
          <a:prstGeom prst="rect">
            <a:avLst/>
          </a:prstGeom>
          <a:noFill/>
          <a:ln/>
        </p:spPr>
        <p:txBody>
          <a:bodyPr wrap="square" lIns="0" tIns="0" rIns="0" bIns="0" rtlCol="0" anchor="b"/>
          <a:lstStyle/>
          <a:p>
            <a:pPr algn="l" indent="0" marL="0">
              <a:buNone/>
            </a:pPr>
            <a:r>
              <a:rPr lang="en-US" sz="5400" b="1" dirty="0">
                <a:solidFill>
                  <a:schemeClr val="bg1"/>
                </a:solidFill>
              </a:rPr>
              <a:t>A twin you can inspect, reproduce and challenge</a:t>
            </a:r>
            <a:endParaRPr lang="en-US" sz="5400" dirty="0"/>
          </a:p>
        </p:txBody>
      </p:sp>
      <p:sp>
        <p:nvSpPr>
          <p:cNvPr id="4" name="Text 0"/>
          <p:cNvSpPr/>
          <p:nvPr>
            <p:ph idx="101" type="body" hasCustomPrompt="1"/>
          </p:nvPr>
        </p:nvSpPr>
        <p:spPr>
          <a:xfrm>
            <a:off x="731520" y="3383280"/>
            <a:ext cx="10698480" cy="1097280"/>
          </a:xfrm>
          <a:prstGeom prst="rect">
            <a:avLst/>
          </a:prstGeom>
          <a:noFill/>
          <a:ln/>
        </p:spPr>
        <p:txBody>
          <a:bodyPr wrap="square" lIns="0" tIns="0" rIns="0" bIns="0" rtlCol="0" anchor="t"/>
          <a:lstStyle/>
          <a:p>
            <a:pPr algn="l" indent="0" marL="0">
              <a:buNone/>
            </a:pPr>
            <a:r>
              <a:rPr lang="en-US" sz="2400" dirty="0">
                <a:solidFill>
                  <a:schemeClr val="bg2"/>
                </a:solidFill>
              </a:rPr>
              <a:t>It beats LightGBM abroad, pairs with Chronos-2 for the best forecast, keeps honest bands, and its what-ifs and advice were checked</a:t>
            </a:r>
            <a:endParaRPr lang="en-US" sz="2400" dirty="0"/>
          </a:p>
        </p:txBody>
      </p:sp>
      <p:sp>
        <p:nvSpPr>
          <p:cNvPr id="5" name="Text 2"/>
          <p:cNvSpPr txBox="1"/>
          <p:nvPr/>
        </p:nvSpPr>
        <p:spPr>
          <a:xfrm>
            <a:off x="731520" y="4937760"/>
            <a:ext cx="10698480" cy="822960"/>
          </a:xfrm>
          <a:prstGeom prst="rect">
            <a:avLst/>
          </a:prstGeom>
          <a:noFill/>
          <a:ln/>
        </p:spPr>
        <p:txBody>
          <a:bodyPr wrap="square" lIns="0" tIns="0" rIns="0" bIns="0" rtlCol="0" anchor="t"/>
          <a:lstStyle/>
          <a:p>
            <a:pPr indent="0" marL="0">
              <a:buNone/>
            </a:pPr>
            <a:r>
              <a:rPr lang="en-US" sz="1600" dirty="0">
                <a:solidFill>
                  <a:schemeClr val="bg2"/>
                </a:solidFill>
              </a:rPr>
              <a:t>One command reproduces every number:  python -m twin.evaluate</a:t>
            </a:r>
            <a:endParaRPr lang="en-US" sz="1600" dirty="0"/>
          </a:p>
          <a:p>
            <a:pPr indent="0" marL="0">
              <a:buNone/>
            </a:pPr>
            <a:r>
              <a:rPr lang="en-US" sz="1600" dirty="0">
                <a:solidFill>
                  <a:schemeClr val="bg2"/>
                </a:solidFill>
              </a:rPr>
              <a:t>Repository: TODO public GitHub link</a:t>
            </a:r>
            <a:endParaRPr lang="en-US" sz="1600" dirty="0"/>
          </a:p>
        </p:txBody>
      </p:sp>
    </p:spTree>
  </p:cSld>
  <p:clrMapOvr>
    <a:masterClrMapping/>
  </p:clrMapOvr>
</p:sld>
</file>

<file path=ppt/theme/theme1.xml><?xml version="1.0" encoding="utf-8"?>
<a:theme xmlns:a="http://schemas.openxmlformats.org/drawingml/2006/main" name="PrandialTwin">
  <a:themeElements>
    <a:clrScheme name="PrandialTwin">
      <a:dk1>
        <a:srgbClr val="0B1B2B"/>
      </a:dk1>
      <a:lt1>
        <a:srgbClr val="FFFFFF"/>
      </a:lt1>
      <a:dk2>
        <a:srgbClr val="44525F"/>
      </a:dk2>
      <a:lt2>
        <a:srgbClr val="EEF3F8"/>
      </a:lt2>
      <a:accent1>
        <a:srgbClr val="2A78D6"/>
      </a:accent1>
      <a:accent2>
        <a:srgbClr val="EB6834"/>
      </a:accent2>
      <a:accent3>
        <a:srgbClr val="1BAF7A"/>
      </a:accent3>
      <a:accent4>
        <a:srgbClr val="EDA100"/>
      </a:accent4>
      <a:accent5>
        <a:srgbClr val="898781"/>
      </a:accent5>
      <a:accent6>
        <a:srgbClr val="123456"/>
      </a:accent6>
      <a:hlink>
        <a:srgbClr val="2A78D6"/>
      </a:hlink>
      <a:folHlink>
        <a:srgbClr val="4A3AA7"/>
      </a:folHlink>
    </a:clrScheme>
    <a:fontScheme name="PrandialTwi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PrandialTwin</dc:title>
  <dc:subject>Happiest Health Digital Twin Challenge 2026</dc:subject>
  <dc:creator>PptxGenJS</dc:creator>
  <cp:lastModifiedBy>PptxGenJS</cp:lastModifiedBy>
  <cp:revision>1</cp:revision>
  <dcterms:created xsi:type="dcterms:W3CDTF">2026-10-10T19:23:40Z</dcterms:created>
  <dcterms:modified xsi:type="dcterms:W3CDTF">2026-10-10T19:23:40Z</dcterms:modified>
</cp:coreProperties>
</file>